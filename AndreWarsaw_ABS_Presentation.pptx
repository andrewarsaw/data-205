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8"/>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20F00"/>
    <a:srgbClr val="A30004"/>
    <a:srgbClr val="D00000"/>
    <a:srgbClr val="FE001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5D5128E-8CD1-B242-87B1-2A16467EDD8D}" v="1" dt="2025-12-27T05:37:28.23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80"/>
    <p:restoredTop sz="94692"/>
  </p:normalViewPr>
  <p:slideViewPr>
    <p:cSldViewPr snapToGrid="0">
      <p:cViewPr>
        <p:scale>
          <a:sx n="75" d="100"/>
          <a:sy n="75" d="100"/>
        </p:scale>
        <p:origin x="-72" y="15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5A9BE7E-21B2-394D-80EA-DD3C0CE12F78}" type="datetimeFigureOut">
              <a:rPr lang="en-US" smtClean="0"/>
              <a:t>12/27/25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A9E90D-8FD9-4946-B96D-09C040477199}" type="slidenum">
              <a:rPr lang="en-US" smtClean="0"/>
              <a:t>‹#›</a:t>
            </a:fld>
            <a:endParaRPr lang="en-US"/>
          </a:p>
        </p:txBody>
      </p:sp>
    </p:spTree>
    <p:extLst>
      <p:ext uri="{BB962C8B-B14F-4D97-AF65-F5344CB8AC3E}">
        <p14:creationId xmlns:p14="http://schemas.microsoft.com/office/powerpoint/2010/main" val="1397447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FA9E90D-8FD9-4946-B96D-09C040477199}" type="slidenum">
              <a:rPr lang="en-US" smtClean="0"/>
              <a:t>2</a:t>
            </a:fld>
            <a:endParaRPr lang="en-US"/>
          </a:p>
        </p:txBody>
      </p:sp>
    </p:spTree>
    <p:extLst>
      <p:ext uri="{BB962C8B-B14F-4D97-AF65-F5344CB8AC3E}">
        <p14:creationId xmlns:p14="http://schemas.microsoft.com/office/powerpoint/2010/main" val="12703399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A1F1D-FF5B-1296-DA79-D13D1B2E2E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21D1C6-80BA-595E-EAC3-920790FE67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28837A-8193-43C6-5988-B3F31BADB37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8B15DA3-E6D2-5FC8-1D31-87F2D9BBE7D3}"/>
              </a:ext>
            </a:extLst>
          </p:cNvPr>
          <p:cNvSpPr>
            <a:spLocks noGrp="1"/>
          </p:cNvSpPr>
          <p:nvPr>
            <p:ph type="sldNum" sz="quarter" idx="5"/>
          </p:nvPr>
        </p:nvSpPr>
        <p:spPr/>
        <p:txBody>
          <a:bodyPr/>
          <a:lstStyle/>
          <a:p>
            <a:fld id="{8FA9E90D-8FD9-4946-B96D-09C040477199}" type="slidenum">
              <a:rPr lang="en-US" smtClean="0"/>
              <a:t>3</a:t>
            </a:fld>
            <a:endParaRPr lang="en-US"/>
          </a:p>
        </p:txBody>
      </p:sp>
    </p:spTree>
    <p:extLst>
      <p:ext uri="{BB962C8B-B14F-4D97-AF65-F5344CB8AC3E}">
        <p14:creationId xmlns:p14="http://schemas.microsoft.com/office/powerpoint/2010/main" val="6896148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3565F-53AF-DF94-DB62-CEFCFB3D4F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C3127A-AA12-D7A6-2ED5-F7E928130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0F5AED-FC3E-EEE0-72C9-39C459DD4A5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E16E25-49D1-0B0C-5B17-3EE1C5B95364}"/>
              </a:ext>
            </a:extLst>
          </p:cNvPr>
          <p:cNvSpPr>
            <a:spLocks noGrp="1"/>
          </p:cNvSpPr>
          <p:nvPr>
            <p:ph type="sldNum" sz="quarter" idx="5"/>
          </p:nvPr>
        </p:nvSpPr>
        <p:spPr/>
        <p:txBody>
          <a:bodyPr/>
          <a:lstStyle/>
          <a:p>
            <a:fld id="{8FA9E90D-8FD9-4946-B96D-09C040477199}" type="slidenum">
              <a:rPr lang="en-US" smtClean="0"/>
              <a:t>4</a:t>
            </a:fld>
            <a:endParaRPr lang="en-US"/>
          </a:p>
        </p:txBody>
      </p:sp>
    </p:spTree>
    <p:extLst>
      <p:ext uri="{BB962C8B-B14F-4D97-AF65-F5344CB8AC3E}">
        <p14:creationId xmlns:p14="http://schemas.microsoft.com/office/powerpoint/2010/main" val="29458252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6D2B7-2A83-9CD9-D726-24DFF16B9A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D2942-4CC4-6283-3876-F9A7D54A1C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A43CD1-55DC-AC3A-7148-4EF47F719E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050A4E9-285F-3289-57FE-423E571B09F2}"/>
              </a:ext>
            </a:extLst>
          </p:cNvPr>
          <p:cNvSpPr>
            <a:spLocks noGrp="1"/>
          </p:cNvSpPr>
          <p:nvPr>
            <p:ph type="sldNum" sz="quarter" idx="5"/>
          </p:nvPr>
        </p:nvSpPr>
        <p:spPr/>
        <p:txBody>
          <a:bodyPr/>
          <a:lstStyle/>
          <a:p>
            <a:fld id="{8FA9E90D-8FD9-4946-B96D-09C040477199}" type="slidenum">
              <a:rPr lang="en-US" smtClean="0"/>
              <a:t>5</a:t>
            </a:fld>
            <a:endParaRPr lang="en-US"/>
          </a:p>
        </p:txBody>
      </p:sp>
    </p:spTree>
    <p:extLst>
      <p:ext uri="{BB962C8B-B14F-4D97-AF65-F5344CB8AC3E}">
        <p14:creationId xmlns:p14="http://schemas.microsoft.com/office/powerpoint/2010/main" val="38453277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A5A575-2855-5556-E590-36E52122B3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18C83F-6B58-5973-6A27-99E095839D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00E48F-786B-1900-DE4D-C2825EE1C40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9DA8E3E-ACCA-70DF-B110-311302471F9C}"/>
              </a:ext>
            </a:extLst>
          </p:cNvPr>
          <p:cNvSpPr>
            <a:spLocks noGrp="1"/>
          </p:cNvSpPr>
          <p:nvPr>
            <p:ph type="sldNum" sz="quarter" idx="5"/>
          </p:nvPr>
        </p:nvSpPr>
        <p:spPr/>
        <p:txBody>
          <a:bodyPr/>
          <a:lstStyle/>
          <a:p>
            <a:fld id="{8FA9E90D-8FD9-4946-B96D-09C040477199}" type="slidenum">
              <a:rPr lang="en-US" smtClean="0"/>
              <a:t>6</a:t>
            </a:fld>
            <a:endParaRPr lang="en-US"/>
          </a:p>
        </p:txBody>
      </p:sp>
    </p:spTree>
    <p:extLst>
      <p:ext uri="{BB962C8B-B14F-4D97-AF65-F5344CB8AC3E}">
        <p14:creationId xmlns:p14="http://schemas.microsoft.com/office/powerpoint/2010/main" val="36794356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21ED73-5429-EF90-5C68-BD99D88680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A5BE07-1C4E-3885-24D7-FE741691EF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047AFC-5DEF-DD7B-665D-3B3DC261402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4F7CC1-5141-A040-57E2-C63300E866D6}"/>
              </a:ext>
            </a:extLst>
          </p:cNvPr>
          <p:cNvSpPr>
            <a:spLocks noGrp="1"/>
          </p:cNvSpPr>
          <p:nvPr>
            <p:ph type="sldNum" sz="quarter" idx="5"/>
          </p:nvPr>
        </p:nvSpPr>
        <p:spPr/>
        <p:txBody>
          <a:bodyPr/>
          <a:lstStyle/>
          <a:p>
            <a:fld id="{8FA9E90D-8FD9-4946-B96D-09C040477199}" type="slidenum">
              <a:rPr lang="en-US" smtClean="0"/>
              <a:t>7</a:t>
            </a:fld>
            <a:endParaRPr lang="en-US"/>
          </a:p>
        </p:txBody>
      </p:sp>
    </p:spTree>
    <p:extLst>
      <p:ext uri="{BB962C8B-B14F-4D97-AF65-F5344CB8AC3E}">
        <p14:creationId xmlns:p14="http://schemas.microsoft.com/office/powerpoint/2010/main" val="21532260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3636F-2F3D-DD83-72D0-8FE2631AE0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D65947-984F-2DDF-B1F2-6A34FA1ADA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79F1BD-1CF2-3ACF-4853-40F42E5D6DE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56FA53-FC57-2D6B-9A67-426221F2F5BD}"/>
              </a:ext>
            </a:extLst>
          </p:cNvPr>
          <p:cNvSpPr>
            <a:spLocks noGrp="1"/>
          </p:cNvSpPr>
          <p:nvPr>
            <p:ph type="sldNum" sz="quarter" idx="5"/>
          </p:nvPr>
        </p:nvSpPr>
        <p:spPr/>
        <p:txBody>
          <a:bodyPr/>
          <a:lstStyle/>
          <a:p>
            <a:fld id="{8FA9E90D-8FD9-4946-B96D-09C040477199}" type="slidenum">
              <a:rPr lang="en-US" smtClean="0"/>
              <a:t>8</a:t>
            </a:fld>
            <a:endParaRPr lang="en-US"/>
          </a:p>
        </p:txBody>
      </p:sp>
    </p:spTree>
    <p:extLst>
      <p:ext uri="{BB962C8B-B14F-4D97-AF65-F5344CB8AC3E}">
        <p14:creationId xmlns:p14="http://schemas.microsoft.com/office/powerpoint/2010/main" val="10559692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8D105-40F1-E3A5-BF4A-75A9324569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541787-607A-FCBE-F2C6-4CD06DEA9E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39C964-AF2A-F247-8425-7613382142F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B32E002-EC2E-0B07-66A3-06ACAC757804}"/>
              </a:ext>
            </a:extLst>
          </p:cNvPr>
          <p:cNvSpPr>
            <a:spLocks noGrp="1"/>
          </p:cNvSpPr>
          <p:nvPr>
            <p:ph type="sldNum" sz="quarter" idx="5"/>
          </p:nvPr>
        </p:nvSpPr>
        <p:spPr/>
        <p:txBody>
          <a:bodyPr/>
          <a:lstStyle/>
          <a:p>
            <a:fld id="{8FA9E90D-8FD9-4946-B96D-09C040477199}" type="slidenum">
              <a:rPr lang="en-US" smtClean="0"/>
              <a:t>9</a:t>
            </a:fld>
            <a:endParaRPr lang="en-US"/>
          </a:p>
        </p:txBody>
      </p:sp>
    </p:spTree>
    <p:extLst>
      <p:ext uri="{BB962C8B-B14F-4D97-AF65-F5344CB8AC3E}">
        <p14:creationId xmlns:p14="http://schemas.microsoft.com/office/powerpoint/2010/main" val="24564243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A985E-0A81-CA1C-FE0F-E18462D84A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FB9EA9-1649-B91F-1081-6F6CAB00DA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CE91EA-5B2D-F723-9150-635992B183A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CD5D12F-81E7-609D-832A-8A1BFCBDC58D}"/>
              </a:ext>
            </a:extLst>
          </p:cNvPr>
          <p:cNvSpPr>
            <a:spLocks noGrp="1"/>
          </p:cNvSpPr>
          <p:nvPr>
            <p:ph type="sldNum" sz="quarter" idx="5"/>
          </p:nvPr>
        </p:nvSpPr>
        <p:spPr/>
        <p:txBody>
          <a:bodyPr/>
          <a:lstStyle/>
          <a:p>
            <a:fld id="{8FA9E90D-8FD9-4946-B96D-09C040477199}" type="slidenum">
              <a:rPr lang="en-US" smtClean="0"/>
              <a:t>10</a:t>
            </a:fld>
            <a:endParaRPr lang="en-US"/>
          </a:p>
        </p:txBody>
      </p:sp>
    </p:spTree>
    <p:extLst>
      <p:ext uri="{BB962C8B-B14F-4D97-AF65-F5344CB8AC3E}">
        <p14:creationId xmlns:p14="http://schemas.microsoft.com/office/powerpoint/2010/main" val="41855721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AE602-BB3F-A96A-33EA-82043A9732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52CE94-0232-D638-568C-6A0D050159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7F143D-339E-472E-3A0E-056E9235DB4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9A29EA4-CDE9-7261-CE0F-14674FCBA818}"/>
              </a:ext>
            </a:extLst>
          </p:cNvPr>
          <p:cNvSpPr>
            <a:spLocks noGrp="1"/>
          </p:cNvSpPr>
          <p:nvPr>
            <p:ph type="sldNum" sz="quarter" idx="5"/>
          </p:nvPr>
        </p:nvSpPr>
        <p:spPr/>
        <p:txBody>
          <a:bodyPr/>
          <a:lstStyle/>
          <a:p>
            <a:fld id="{8FA9E90D-8FD9-4946-B96D-09C040477199}" type="slidenum">
              <a:rPr lang="en-US" smtClean="0"/>
              <a:t>11</a:t>
            </a:fld>
            <a:endParaRPr lang="en-US"/>
          </a:p>
        </p:txBody>
      </p:sp>
    </p:spTree>
    <p:extLst>
      <p:ext uri="{BB962C8B-B14F-4D97-AF65-F5344CB8AC3E}">
        <p14:creationId xmlns:p14="http://schemas.microsoft.com/office/powerpoint/2010/main" val="27721832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FA93CE-3F7C-21C1-B80B-5B2CD1FF26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40FC4E-849B-A8F2-ABB0-CA60091462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63081F-4AA1-B5D8-314F-4A818BE66B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89BC46-FB73-ED95-B1B2-B3B1055ACEF3}"/>
              </a:ext>
            </a:extLst>
          </p:cNvPr>
          <p:cNvSpPr>
            <a:spLocks noGrp="1"/>
          </p:cNvSpPr>
          <p:nvPr>
            <p:ph type="sldNum" sz="quarter" idx="5"/>
          </p:nvPr>
        </p:nvSpPr>
        <p:spPr/>
        <p:txBody>
          <a:bodyPr/>
          <a:lstStyle/>
          <a:p>
            <a:fld id="{8FA9E90D-8FD9-4946-B96D-09C040477199}" type="slidenum">
              <a:rPr lang="en-US" smtClean="0"/>
              <a:t>12</a:t>
            </a:fld>
            <a:endParaRPr lang="en-US"/>
          </a:p>
        </p:txBody>
      </p:sp>
    </p:spTree>
    <p:extLst>
      <p:ext uri="{BB962C8B-B14F-4D97-AF65-F5344CB8AC3E}">
        <p14:creationId xmlns:p14="http://schemas.microsoft.com/office/powerpoint/2010/main" val="97015153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6DF96-955B-AC18-DE94-B1EBAF5EE9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380CE9-6A56-1AA8-363E-427B66231C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5E50CC-EE2B-25D5-C840-FECEDE37DF3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A894BA-B62E-DB55-0067-844AEA1339C6}"/>
              </a:ext>
            </a:extLst>
          </p:cNvPr>
          <p:cNvSpPr>
            <a:spLocks noGrp="1"/>
          </p:cNvSpPr>
          <p:nvPr>
            <p:ph type="sldNum" sz="quarter" idx="5"/>
          </p:nvPr>
        </p:nvSpPr>
        <p:spPr/>
        <p:txBody>
          <a:bodyPr/>
          <a:lstStyle/>
          <a:p>
            <a:fld id="{8FA9E90D-8FD9-4946-B96D-09C040477199}" type="slidenum">
              <a:rPr lang="en-US" smtClean="0"/>
              <a:t>13</a:t>
            </a:fld>
            <a:endParaRPr lang="en-US"/>
          </a:p>
        </p:txBody>
      </p:sp>
    </p:spTree>
    <p:extLst>
      <p:ext uri="{BB962C8B-B14F-4D97-AF65-F5344CB8AC3E}">
        <p14:creationId xmlns:p14="http://schemas.microsoft.com/office/powerpoint/2010/main" val="29603525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89E80-1977-6C99-C43D-5F686FF914C9}"/>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DF0FD7D3-71E0-244C-5A87-4CA3D6D8E4F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9FC0E76D-0DC5-5FD6-8B65-042596DB7E81}"/>
              </a:ext>
            </a:extLst>
          </p:cNvPr>
          <p:cNvSpPr>
            <a:spLocks noGrp="1"/>
          </p:cNvSpPr>
          <p:nvPr>
            <p:ph type="dt" sz="half" idx="10"/>
          </p:nvPr>
        </p:nvSpPr>
        <p:spPr/>
        <p:txBody>
          <a:bodyPr/>
          <a:lstStyle/>
          <a:p>
            <a:fld id="{9E554AB3-FD2C-484A-88CE-2EEEC0C7C8A1}" type="datetimeFigureOut">
              <a:rPr lang="en-US" smtClean="0"/>
              <a:t>12/27/25</a:t>
            </a:fld>
            <a:endParaRPr lang="en-US"/>
          </a:p>
        </p:txBody>
      </p:sp>
      <p:sp>
        <p:nvSpPr>
          <p:cNvPr id="5" name="Footer Placeholder 4">
            <a:extLst>
              <a:ext uri="{FF2B5EF4-FFF2-40B4-BE49-F238E27FC236}">
                <a16:creationId xmlns:a16="http://schemas.microsoft.com/office/drawing/2014/main" id="{AB325CCB-BC62-F998-F24E-675900514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64BF7B5-683F-B2E9-B465-10EFF62A36CB}"/>
              </a:ext>
            </a:extLst>
          </p:cNvPr>
          <p:cNvSpPr>
            <a:spLocks noGrp="1"/>
          </p:cNvSpPr>
          <p:nvPr>
            <p:ph type="sldNum" sz="quarter" idx="12"/>
          </p:nvPr>
        </p:nvSpPr>
        <p:spPr/>
        <p:txBody>
          <a:bodyPr/>
          <a:lstStyle/>
          <a:p>
            <a:fld id="{FA05F46D-7F92-0942-83CC-8C4F0EACEE1B}" type="slidenum">
              <a:rPr lang="en-US" smtClean="0"/>
              <a:t>‹#›</a:t>
            </a:fld>
            <a:endParaRPr lang="en-US"/>
          </a:p>
        </p:txBody>
      </p:sp>
    </p:spTree>
    <p:extLst>
      <p:ext uri="{BB962C8B-B14F-4D97-AF65-F5344CB8AC3E}">
        <p14:creationId xmlns:p14="http://schemas.microsoft.com/office/powerpoint/2010/main" val="3348336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ADA082-8F08-EB1D-5EB4-F5EAF11D7F15}"/>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902F18A3-BF56-E91F-807C-71C5103A3089}"/>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2B5ABFB-EC66-6E52-7D42-9EC03257BA6A}"/>
              </a:ext>
            </a:extLst>
          </p:cNvPr>
          <p:cNvSpPr>
            <a:spLocks noGrp="1"/>
          </p:cNvSpPr>
          <p:nvPr>
            <p:ph type="dt" sz="half" idx="10"/>
          </p:nvPr>
        </p:nvSpPr>
        <p:spPr/>
        <p:txBody>
          <a:bodyPr/>
          <a:lstStyle/>
          <a:p>
            <a:fld id="{9E554AB3-FD2C-484A-88CE-2EEEC0C7C8A1}" type="datetimeFigureOut">
              <a:rPr lang="en-US" smtClean="0"/>
              <a:t>12/27/25</a:t>
            </a:fld>
            <a:endParaRPr lang="en-US"/>
          </a:p>
        </p:txBody>
      </p:sp>
      <p:sp>
        <p:nvSpPr>
          <p:cNvPr id="5" name="Footer Placeholder 4">
            <a:extLst>
              <a:ext uri="{FF2B5EF4-FFF2-40B4-BE49-F238E27FC236}">
                <a16:creationId xmlns:a16="http://schemas.microsoft.com/office/drawing/2014/main" id="{74FFA7F5-7C8F-CF38-6EFD-B28D793B056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647396-E15C-FB49-75FE-C1F1C23094F3}"/>
              </a:ext>
            </a:extLst>
          </p:cNvPr>
          <p:cNvSpPr>
            <a:spLocks noGrp="1"/>
          </p:cNvSpPr>
          <p:nvPr>
            <p:ph type="sldNum" sz="quarter" idx="12"/>
          </p:nvPr>
        </p:nvSpPr>
        <p:spPr/>
        <p:txBody>
          <a:bodyPr/>
          <a:lstStyle/>
          <a:p>
            <a:fld id="{FA05F46D-7F92-0942-83CC-8C4F0EACEE1B}" type="slidenum">
              <a:rPr lang="en-US" smtClean="0"/>
              <a:t>‹#›</a:t>
            </a:fld>
            <a:endParaRPr lang="en-US"/>
          </a:p>
        </p:txBody>
      </p:sp>
    </p:spTree>
    <p:extLst>
      <p:ext uri="{BB962C8B-B14F-4D97-AF65-F5344CB8AC3E}">
        <p14:creationId xmlns:p14="http://schemas.microsoft.com/office/powerpoint/2010/main" val="1249627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E7FDD2-82D5-DA37-31CF-F1E250A9700D}"/>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5510ECFE-39CD-7CDD-2B83-0E095DB7CF7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5B67CD76-E0E4-2722-B85F-77F2B0C9B9C1}"/>
              </a:ext>
            </a:extLst>
          </p:cNvPr>
          <p:cNvSpPr>
            <a:spLocks noGrp="1"/>
          </p:cNvSpPr>
          <p:nvPr>
            <p:ph type="dt" sz="half" idx="10"/>
          </p:nvPr>
        </p:nvSpPr>
        <p:spPr/>
        <p:txBody>
          <a:bodyPr/>
          <a:lstStyle/>
          <a:p>
            <a:fld id="{9E554AB3-FD2C-484A-88CE-2EEEC0C7C8A1}" type="datetimeFigureOut">
              <a:rPr lang="en-US" smtClean="0"/>
              <a:t>12/27/25</a:t>
            </a:fld>
            <a:endParaRPr lang="en-US"/>
          </a:p>
        </p:txBody>
      </p:sp>
      <p:sp>
        <p:nvSpPr>
          <p:cNvPr id="5" name="Footer Placeholder 4">
            <a:extLst>
              <a:ext uri="{FF2B5EF4-FFF2-40B4-BE49-F238E27FC236}">
                <a16:creationId xmlns:a16="http://schemas.microsoft.com/office/drawing/2014/main" id="{0AFBB3D7-DFB7-B2FC-B079-4530EEEF30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C1F2105-0728-3C9E-D9F4-31F3BEF0F004}"/>
              </a:ext>
            </a:extLst>
          </p:cNvPr>
          <p:cNvSpPr>
            <a:spLocks noGrp="1"/>
          </p:cNvSpPr>
          <p:nvPr>
            <p:ph type="sldNum" sz="quarter" idx="12"/>
          </p:nvPr>
        </p:nvSpPr>
        <p:spPr/>
        <p:txBody>
          <a:bodyPr/>
          <a:lstStyle/>
          <a:p>
            <a:fld id="{FA05F46D-7F92-0942-83CC-8C4F0EACEE1B}" type="slidenum">
              <a:rPr lang="en-US" smtClean="0"/>
              <a:t>‹#›</a:t>
            </a:fld>
            <a:endParaRPr lang="en-US"/>
          </a:p>
        </p:txBody>
      </p:sp>
    </p:spTree>
    <p:extLst>
      <p:ext uri="{BB962C8B-B14F-4D97-AF65-F5344CB8AC3E}">
        <p14:creationId xmlns:p14="http://schemas.microsoft.com/office/powerpoint/2010/main" val="40458859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D61E3B-3AC6-1D95-A966-DDCC88F38562}"/>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03D4C4A1-09F7-406F-5E55-60DF1D931C99}"/>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E5718D4B-7895-C5A4-D27A-98F3C3B5CD0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D288189C-80BE-F39C-ACBC-B0DF3F79C96D}"/>
              </a:ext>
            </a:extLst>
          </p:cNvPr>
          <p:cNvSpPr>
            <a:spLocks noGrp="1"/>
          </p:cNvSpPr>
          <p:nvPr>
            <p:ph type="dt" sz="half" idx="10"/>
          </p:nvPr>
        </p:nvSpPr>
        <p:spPr/>
        <p:txBody>
          <a:bodyPr/>
          <a:lstStyle/>
          <a:p>
            <a:fld id="{9E554AB3-FD2C-484A-88CE-2EEEC0C7C8A1}" type="datetimeFigureOut">
              <a:rPr lang="en-US" smtClean="0"/>
              <a:t>12/27/25</a:t>
            </a:fld>
            <a:endParaRPr lang="en-US"/>
          </a:p>
        </p:txBody>
      </p:sp>
      <p:sp>
        <p:nvSpPr>
          <p:cNvPr id="6" name="Footer Placeholder 5">
            <a:extLst>
              <a:ext uri="{FF2B5EF4-FFF2-40B4-BE49-F238E27FC236}">
                <a16:creationId xmlns:a16="http://schemas.microsoft.com/office/drawing/2014/main" id="{E88CF972-9739-5D7F-41BA-DE98401E478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F205AFA-F5A1-BE33-41A3-245AF98F561D}"/>
              </a:ext>
            </a:extLst>
          </p:cNvPr>
          <p:cNvSpPr>
            <a:spLocks noGrp="1"/>
          </p:cNvSpPr>
          <p:nvPr>
            <p:ph type="sldNum" sz="quarter" idx="12"/>
          </p:nvPr>
        </p:nvSpPr>
        <p:spPr/>
        <p:txBody>
          <a:bodyPr/>
          <a:lstStyle/>
          <a:p>
            <a:fld id="{FA05F46D-7F92-0942-83CC-8C4F0EACEE1B}" type="slidenum">
              <a:rPr lang="en-US" smtClean="0"/>
              <a:t>‹#›</a:t>
            </a:fld>
            <a:endParaRPr lang="en-US"/>
          </a:p>
        </p:txBody>
      </p:sp>
    </p:spTree>
    <p:extLst>
      <p:ext uri="{BB962C8B-B14F-4D97-AF65-F5344CB8AC3E}">
        <p14:creationId xmlns:p14="http://schemas.microsoft.com/office/powerpoint/2010/main" val="5233814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B54EF-C273-4894-DEA5-5A9A51C40112}"/>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DF5A673A-0DB2-04AE-00C3-AD9006285F9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357DB821-42BB-0DD0-EE06-8AAC41B163DD}"/>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33E13A62-1461-7554-2570-706CA77D23F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132B9494-E770-2C44-15B4-FBB7DAB3C7E4}"/>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F6356FB8-F46B-A865-2F8D-CA10BB8963EA}"/>
              </a:ext>
            </a:extLst>
          </p:cNvPr>
          <p:cNvSpPr>
            <a:spLocks noGrp="1"/>
          </p:cNvSpPr>
          <p:nvPr>
            <p:ph type="dt" sz="half" idx="10"/>
          </p:nvPr>
        </p:nvSpPr>
        <p:spPr/>
        <p:txBody>
          <a:bodyPr/>
          <a:lstStyle/>
          <a:p>
            <a:fld id="{9E554AB3-FD2C-484A-88CE-2EEEC0C7C8A1}" type="datetimeFigureOut">
              <a:rPr lang="en-US" smtClean="0"/>
              <a:t>12/27/25</a:t>
            </a:fld>
            <a:endParaRPr lang="en-US"/>
          </a:p>
        </p:txBody>
      </p:sp>
      <p:sp>
        <p:nvSpPr>
          <p:cNvPr id="8" name="Footer Placeholder 7">
            <a:extLst>
              <a:ext uri="{FF2B5EF4-FFF2-40B4-BE49-F238E27FC236}">
                <a16:creationId xmlns:a16="http://schemas.microsoft.com/office/drawing/2014/main" id="{C940750C-8FC8-13E3-DD8D-A2A15BEC117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3C8D531-DB47-07A3-B518-202E67201E06}"/>
              </a:ext>
            </a:extLst>
          </p:cNvPr>
          <p:cNvSpPr>
            <a:spLocks noGrp="1"/>
          </p:cNvSpPr>
          <p:nvPr>
            <p:ph type="sldNum" sz="quarter" idx="12"/>
          </p:nvPr>
        </p:nvSpPr>
        <p:spPr/>
        <p:txBody>
          <a:bodyPr/>
          <a:lstStyle/>
          <a:p>
            <a:fld id="{FA05F46D-7F92-0942-83CC-8C4F0EACEE1B}" type="slidenum">
              <a:rPr lang="en-US" smtClean="0"/>
              <a:t>‹#›</a:t>
            </a:fld>
            <a:endParaRPr lang="en-US"/>
          </a:p>
        </p:txBody>
      </p:sp>
    </p:spTree>
    <p:extLst>
      <p:ext uri="{BB962C8B-B14F-4D97-AF65-F5344CB8AC3E}">
        <p14:creationId xmlns:p14="http://schemas.microsoft.com/office/powerpoint/2010/main" val="9842398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9522CF-6E43-6420-4D87-B123FDCB177C}"/>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76228B08-0D63-128E-B2EB-4E51C39C00B7}"/>
              </a:ext>
            </a:extLst>
          </p:cNvPr>
          <p:cNvSpPr>
            <a:spLocks noGrp="1"/>
          </p:cNvSpPr>
          <p:nvPr>
            <p:ph type="dt" sz="half" idx="10"/>
          </p:nvPr>
        </p:nvSpPr>
        <p:spPr/>
        <p:txBody>
          <a:bodyPr/>
          <a:lstStyle/>
          <a:p>
            <a:fld id="{9E554AB3-FD2C-484A-88CE-2EEEC0C7C8A1}" type="datetimeFigureOut">
              <a:rPr lang="en-US" smtClean="0"/>
              <a:t>12/27/25</a:t>
            </a:fld>
            <a:endParaRPr lang="en-US"/>
          </a:p>
        </p:txBody>
      </p:sp>
      <p:sp>
        <p:nvSpPr>
          <p:cNvPr id="4" name="Footer Placeholder 3">
            <a:extLst>
              <a:ext uri="{FF2B5EF4-FFF2-40B4-BE49-F238E27FC236}">
                <a16:creationId xmlns:a16="http://schemas.microsoft.com/office/drawing/2014/main" id="{D681D015-5ADA-5CA8-D045-4928FAE3392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1822889-E5FF-E5C1-E3E0-5AF25B8562EC}"/>
              </a:ext>
            </a:extLst>
          </p:cNvPr>
          <p:cNvSpPr>
            <a:spLocks noGrp="1"/>
          </p:cNvSpPr>
          <p:nvPr>
            <p:ph type="sldNum" sz="quarter" idx="12"/>
          </p:nvPr>
        </p:nvSpPr>
        <p:spPr/>
        <p:txBody>
          <a:bodyPr/>
          <a:lstStyle/>
          <a:p>
            <a:fld id="{FA05F46D-7F92-0942-83CC-8C4F0EACEE1B}" type="slidenum">
              <a:rPr lang="en-US" smtClean="0"/>
              <a:t>‹#›</a:t>
            </a:fld>
            <a:endParaRPr lang="en-US"/>
          </a:p>
        </p:txBody>
      </p:sp>
    </p:spTree>
    <p:extLst>
      <p:ext uri="{BB962C8B-B14F-4D97-AF65-F5344CB8AC3E}">
        <p14:creationId xmlns:p14="http://schemas.microsoft.com/office/powerpoint/2010/main" val="31705613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F9498EE-0458-C814-6A59-D0CEA45683FC}"/>
              </a:ext>
            </a:extLst>
          </p:cNvPr>
          <p:cNvSpPr>
            <a:spLocks noGrp="1"/>
          </p:cNvSpPr>
          <p:nvPr>
            <p:ph type="dt" sz="half" idx="10"/>
          </p:nvPr>
        </p:nvSpPr>
        <p:spPr/>
        <p:txBody>
          <a:bodyPr/>
          <a:lstStyle/>
          <a:p>
            <a:fld id="{9E554AB3-FD2C-484A-88CE-2EEEC0C7C8A1}" type="datetimeFigureOut">
              <a:rPr lang="en-US" smtClean="0"/>
              <a:t>12/27/25</a:t>
            </a:fld>
            <a:endParaRPr lang="en-US"/>
          </a:p>
        </p:txBody>
      </p:sp>
      <p:sp>
        <p:nvSpPr>
          <p:cNvPr id="3" name="Footer Placeholder 2">
            <a:extLst>
              <a:ext uri="{FF2B5EF4-FFF2-40B4-BE49-F238E27FC236}">
                <a16:creationId xmlns:a16="http://schemas.microsoft.com/office/drawing/2014/main" id="{B5699398-B14E-A031-AF4E-7616EDF372B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763B13E-23ED-C44E-18A9-C65B0C37348E}"/>
              </a:ext>
            </a:extLst>
          </p:cNvPr>
          <p:cNvSpPr>
            <a:spLocks noGrp="1"/>
          </p:cNvSpPr>
          <p:nvPr>
            <p:ph type="sldNum" sz="quarter" idx="12"/>
          </p:nvPr>
        </p:nvSpPr>
        <p:spPr/>
        <p:txBody>
          <a:bodyPr/>
          <a:lstStyle/>
          <a:p>
            <a:fld id="{FA05F46D-7F92-0942-83CC-8C4F0EACEE1B}" type="slidenum">
              <a:rPr lang="en-US" smtClean="0"/>
              <a:t>‹#›</a:t>
            </a:fld>
            <a:endParaRPr lang="en-US"/>
          </a:p>
        </p:txBody>
      </p:sp>
    </p:spTree>
    <p:extLst>
      <p:ext uri="{BB962C8B-B14F-4D97-AF65-F5344CB8AC3E}">
        <p14:creationId xmlns:p14="http://schemas.microsoft.com/office/powerpoint/2010/main" val="2896126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870F1F-CC0E-75A2-15B3-54572B3E5FC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0777C1FA-5BB3-4A86-F71B-3311F5BE176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29DDF7F5-DADD-287A-2A2E-81AFFD080AD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A67A101-913C-BE32-A905-85493F66E3E8}"/>
              </a:ext>
            </a:extLst>
          </p:cNvPr>
          <p:cNvSpPr>
            <a:spLocks noGrp="1"/>
          </p:cNvSpPr>
          <p:nvPr>
            <p:ph type="dt" sz="half" idx="10"/>
          </p:nvPr>
        </p:nvSpPr>
        <p:spPr/>
        <p:txBody>
          <a:bodyPr/>
          <a:lstStyle/>
          <a:p>
            <a:fld id="{9E554AB3-FD2C-484A-88CE-2EEEC0C7C8A1}" type="datetimeFigureOut">
              <a:rPr lang="en-US" smtClean="0"/>
              <a:t>12/27/25</a:t>
            </a:fld>
            <a:endParaRPr lang="en-US"/>
          </a:p>
        </p:txBody>
      </p:sp>
      <p:sp>
        <p:nvSpPr>
          <p:cNvPr id="6" name="Footer Placeholder 5">
            <a:extLst>
              <a:ext uri="{FF2B5EF4-FFF2-40B4-BE49-F238E27FC236}">
                <a16:creationId xmlns:a16="http://schemas.microsoft.com/office/drawing/2014/main" id="{661BBF5A-F04C-FC37-0A46-BBB8252353E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4680A3B-BC95-8D2C-B203-D1D55D089B32}"/>
              </a:ext>
            </a:extLst>
          </p:cNvPr>
          <p:cNvSpPr>
            <a:spLocks noGrp="1"/>
          </p:cNvSpPr>
          <p:nvPr>
            <p:ph type="sldNum" sz="quarter" idx="12"/>
          </p:nvPr>
        </p:nvSpPr>
        <p:spPr/>
        <p:txBody>
          <a:bodyPr/>
          <a:lstStyle/>
          <a:p>
            <a:fld id="{FA05F46D-7F92-0942-83CC-8C4F0EACEE1B}" type="slidenum">
              <a:rPr lang="en-US" smtClean="0"/>
              <a:t>‹#›</a:t>
            </a:fld>
            <a:endParaRPr lang="en-US"/>
          </a:p>
        </p:txBody>
      </p:sp>
    </p:spTree>
    <p:extLst>
      <p:ext uri="{BB962C8B-B14F-4D97-AF65-F5344CB8AC3E}">
        <p14:creationId xmlns:p14="http://schemas.microsoft.com/office/powerpoint/2010/main" val="20698435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E0D23-D64B-3852-C634-FB02DAFD07E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BDC1E509-F167-66AC-60B8-7D768BBF83E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F0AF27C-9CE8-61C7-BA7A-37C12E7802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C2F9F257-B08C-C4CA-8D2A-5BBAE93A5479}"/>
              </a:ext>
            </a:extLst>
          </p:cNvPr>
          <p:cNvSpPr>
            <a:spLocks noGrp="1"/>
          </p:cNvSpPr>
          <p:nvPr>
            <p:ph type="dt" sz="half" idx="10"/>
          </p:nvPr>
        </p:nvSpPr>
        <p:spPr/>
        <p:txBody>
          <a:bodyPr/>
          <a:lstStyle/>
          <a:p>
            <a:fld id="{9E554AB3-FD2C-484A-88CE-2EEEC0C7C8A1}" type="datetimeFigureOut">
              <a:rPr lang="en-US" smtClean="0"/>
              <a:t>12/27/25</a:t>
            </a:fld>
            <a:endParaRPr lang="en-US"/>
          </a:p>
        </p:txBody>
      </p:sp>
      <p:sp>
        <p:nvSpPr>
          <p:cNvPr id="6" name="Footer Placeholder 5">
            <a:extLst>
              <a:ext uri="{FF2B5EF4-FFF2-40B4-BE49-F238E27FC236}">
                <a16:creationId xmlns:a16="http://schemas.microsoft.com/office/drawing/2014/main" id="{2459D1EF-B0AB-A11B-9E58-3B5C21503B8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16F1243-87C3-1944-3822-A221D65AF901}"/>
              </a:ext>
            </a:extLst>
          </p:cNvPr>
          <p:cNvSpPr>
            <a:spLocks noGrp="1"/>
          </p:cNvSpPr>
          <p:nvPr>
            <p:ph type="sldNum" sz="quarter" idx="12"/>
          </p:nvPr>
        </p:nvSpPr>
        <p:spPr/>
        <p:txBody>
          <a:bodyPr/>
          <a:lstStyle/>
          <a:p>
            <a:fld id="{FA05F46D-7F92-0942-83CC-8C4F0EACEE1B}" type="slidenum">
              <a:rPr lang="en-US" smtClean="0"/>
              <a:t>‹#›</a:t>
            </a:fld>
            <a:endParaRPr lang="en-US"/>
          </a:p>
        </p:txBody>
      </p:sp>
    </p:spTree>
    <p:extLst>
      <p:ext uri="{BB962C8B-B14F-4D97-AF65-F5344CB8AC3E}">
        <p14:creationId xmlns:p14="http://schemas.microsoft.com/office/powerpoint/2010/main" val="21838261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0CF6D-913D-60B3-56CD-B92375F9D58B}"/>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C02E8E39-A48A-A543-9868-BD0160DE3DC3}"/>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7D5B3119-C5D3-6D0F-948A-5C39EE9F615B}"/>
              </a:ext>
            </a:extLst>
          </p:cNvPr>
          <p:cNvSpPr>
            <a:spLocks noGrp="1"/>
          </p:cNvSpPr>
          <p:nvPr>
            <p:ph type="dt" sz="half" idx="10"/>
          </p:nvPr>
        </p:nvSpPr>
        <p:spPr/>
        <p:txBody>
          <a:bodyPr/>
          <a:lstStyle/>
          <a:p>
            <a:fld id="{9E554AB3-FD2C-484A-88CE-2EEEC0C7C8A1}" type="datetimeFigureOut">
              <a:rPr lang="en-US" smtClean="0"/>
              <a:t>12/27/25</a:t>
            </a:fld>
            <a:endParaRPr lang="en-US"/>
          </a:p>
        </p:txBody>
      </p:sp>
      <p:sp>
        <p:nvSpPr>
          <p:cNvPr id="5" name="Footer Placeholder 4">
            <a:extLst>
              <a:ext uri="{FF2B5EF4-FFF2-40B4-BE49-F238E27FC236}">
                <a16:creationId xmlns:a16="http://schemas.microsoft.com/office/drawing/2014/main" id="{6776750C-0600-F45A-5A99-9F6C37ACD5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84C51A-EDB6-EA9E-3E33-ED95354F74E5}"/>
              </a:ext>
            </a:extLst>
          </p:cNvPr>
          <p:cNvSpPr>
            <a:spLocks noGrp="1"/>
          </p:cNvSpPr>
          <p:nvPr>
            <p:ph type="sldNum" sz="quarter" idx="12"/>
          </p:nvPr>
        </p:nvSpPr>
        <p:spPr/>
        <p:txBody>
          <a:bodyPr/>
          <a:lstStyle/>
          <a:p>
            <a:fld id="{FA05F46D-7F92-0942-83CC-8C4F0EACEE1B}" type="slidenum">
              <a:rPr lang="en-US" smtClean="0"/>
              <a:t>‹#›</a:t>
            </a:fld>
            <a:endParaRPr lang="en-US"/>
          </a:p>
        </p:txBody>
      </p:sp>
    </p:spTree>
    <p:extLst>
      <p:ext uri="{BB962C8B-B14F-4D97-AF65-F5344CB8AC3E}">
        <p14:creationId xmlns:p14="http://schemas.microsoft.com/office/powerpoint/2010/main" val="27891242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2D6E13-CE0A-A9CA-FB97-9C8C9801C367}"/>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661D511C-C2B2-6F23-1627-57BE49572C26}"/>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E6956AC-F6F5-41D3-8BBC-D51308AFD26D}"/>
              </a:ext>
            </a:extLst>
          </p:cNvPr>
          <p:cNvSpPr>
            <a:spLocks noGrp="1"/>
          </p:cNvSpPr>
          <p:nvPr>
            <p:ph type="dt" sz="half" idx="10"/>
          </p:nvPr>
        </p:nvSpPr>
        <p:spPr/>
        <p:txBody>
          <a:bodyPr/>
          <a:lstStyle/>
          <a:p>
            <a:fld id="{9E554AB3-FD2C-484A-88CE-2EEEC0C7C8A1}" type="datetimeFigureOut">
              <a:rPr lang="en-US" smtClean="0"/>
              <a:t>12/27/25</a:t>
            </a:fld>
            <a:endParaRPr lang="en-US"/>
          </a:p>
        </p:txBody>
      </p:sp>
      <p:sp>
        <p:nvSpPr>
          <p:cNvPr id="5" name="Footer Placeholder 4">
            <a:extLst>
              <a:ext uri="{FF2B5EF4-FFF2-40B4-BE49-F238E27FC236}">
                <a16:creationId xmlns:a16="http://schemas.microsoft.com/office/drawing/2014/main" id="{F7F84579-A842-479A-A15D-D23713A278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450E89E-A9B3-FFAC-5481-EDA6CF937CDB}"/>
              </a:ext>
            </a:extLst>
          </p:cNvPr>
          <p:cNvSpPr>
            <a:spLocks noGrp="1"/>
          </p:cNvSpPr>
          <p:nvPr>
            <p:ph type="sldNum" sz="quarter" idx="12"/>
          </p:nvPr>
        </p:nvSpPr>
        <p:spPr/>
        <p:txBody>
          <a:bodyPr/>
          <a:lstStyle/>
          <a:p>
            <a:fld id="{FA05F46D-7F92-0942-83CC-8C4F0EACEE1B}" type="slidenum">
              <a:rPr lang="en-US" smtClean="0"/>
              <a:t>‹#›</a:t>
            </a:fld>
            <a:endParaRPr lang="en-US"/>
          </a:p>
        </p:txBody>
      </p:sp>
    </p:spTree>
    <p:extLst>
      <p:ext uri="{BB962C8B-B14F-4D97-AF65-F5344CB8AC3E}">
        <p14:creationId xmlns:p14="http://schemas.microsoft.com/office/powerpoint/2010/main" val="41395695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A2D1734-A7F1-C3B9-AAC7-7AD0AA8F610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CBBD48E-3F3A-A1EF-5E2C-AE392D8F1EC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5E48B160-59B0-645C-F49B-C7989CAB88A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E554AB3-FD2C-484A-88CE-2EEEC0C7C8A1}" type="datetimeFigureOut">
              <a:rPr lang="en-US" smtClean="0"/>
              <a:t>12/27/25</a:t>
            </a:fld>
            <a:endParaRPr lang="en-US"/>
          </a:p>
        </p:txBody>
      </p:sp>
      <p:sp>
        <p:nvSpPr>
          <p:cNvPr id="5" name="Footer Placeholder 4">
            <a:extLst>
              <a:ext uri="{FF2B5EF4-FFF2-40B4-BE49-F238E27FC236}">
                <a16:creationId xmlns:a16="http://schemas.microsoft.com/office/drawing/2014/main" id="{640A4E3C-B3A9-9BC3-7531-C502EBF50B6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7CE6A9F-BE38-E982-7C41-E020DBE9F62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A05F46D-7F92-0942-83CC-8C4F0EACEE1B}" type="slidenum">
              <a:rPr lang="en-US" smtClean="0"/>
              <a:t>‹#›</a:t>
            </a:fld>
            <a:endParaRPr lang="en-US"/>
          </a:p>
        </p:txBody>
      </p:sp>
    </p:spTree>
    <p:extLst>
      <p:ext uri="{BB962C8B-B14F-4D97-AF65-F5344CB8AC3E}">
        <p14:creationId xmlns:p14="http://schemas.microsoft.com/office/powerpoint/2010/main" val="1896885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jpe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5.jpeg"/><Relationship Id="rId5" Type="http://schemas.openxmlformats.org/officeDocument/2006/relationships/image" Target="../media/image4.jpe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2B74A477-F98E-6B15-D1D7-4F4F4EE7B342}"/>
              </a:ext>
            </a:extLst>
          </p:cNvPr>
          <p:cNvPicPr>
            <a:picLocks noChangeAspect="1"/>
          </p:cNvPicPr>
          <p:nvPr/>
        </p:nvPicPr>
        <p:blipFill rotWithShape="1">
          <a:blip r:embed="rId2">
            <a:alphaModFix amt="94000"/>
            <a:extLst>
              <a:ext uri="{BEBA8EAE-BF5A-486C-A8C5-ECC9F3942E4B}">
                <a14:imgProps xmlns:a14="http://schemas.microsoft.com/office/drawing/2010/main">
                  <a14:imgLayer r:embed="rId3">
                    <a14:imgEffect>
                      <a14:sharpenSoften amount="-100000"/>
                    </a14:imgEffect>
                    <a14:imgEffect>
                      <a14:brightnessContrast bright="-15000" contrast="-31000"/>
                    </a14:imgEffect>
                  </a14:imgLayer>
                </a14:imgProps>
              </a:ext>
            </a:extLst>
          </a:blip>
          <a:srcRect t="7707" b="7707"/>
          <a:stretch>
            <a:fillRect/>
          </a:stretch>
        </p:blipFill>
        <p:spPr>
          <a:xfrm>
            <a:off x="-1" y="-1"/>
            <a:ext cx="12192000" cy="6858000"/>
          </a:xfrm>
          <a:prstGeom prst="rect">
            <a:avLst/>
          </a:prstGeom>
          <a:effectLst>
            <a:outerShdw blurRad="262008" sx="1000" sy="1000" algn="ctr" rotWithShape="0">
              <a:srgbClr val="000000"/>
            </a:outerShdw>
          </a:effectLst>
        </p:spPr>
      </p:pic>
      <p:sp>
        <p:nvSpPr>
          <p:cNvPr id="10" name="Freeform 9">
            <a:extLst>
              <a:ext uri="{FF2B5EF4-FFF2-40B4-BE49-F238E27FC236}">
                <a16:creationId xmlns:a16="http://schemas.microsoft.com/office/drawing/2014/main" id="{1BAF1F08-7E22-D87D-91D6-9A2EE4B5E080}"/>
              </a:ext>
            </a:extLst>
          </p:cNvPr>
          <p:cNvSpPr/>
          <p:nvPr/>
        </p:nvSpPr>
        <p:spPr>
          <a:xfrm>
            <a:off x="1146460" y="1"/>
            <a:ext cx="10656657" cy="6857999"/>
          </a:xfrm>
          <a:custGeom>
            <a:avLst/>
            <a:gdLst/>
            <a:ahLst/>
            <a:cxnLst/>
            <a:rect l="l" t="t" r="r" b="b"/>
            <a:pathLst>
              <a:path w="10656657" h="6857999">
                <a:moveTo>
                  <a:pt x="2123380" y="3487264"/>
                </a:moveTo>
                <a:lnTo>
                  <a:pt x="2123380" y="3605489"/>
                </a:lnTo>
                <a:lnTo>
                  <a:pt x="2147840" y="3605489"/>
                </a:lnTo>
                <a:cubicBezTo>
                  <a:pt x="2199479" y="3605489"/>
                  <a:pt x="2225298" y="3585785"/>
                  <a:pt x="2225298" y="3546377"/>
                </a:cubicBezTo>
                <a:cubicBezTo>
                  <a:pt x="2225298" y="3506968"/>
                  <a:pt x="2199479" y="3487264"/>
                  <a:pt x="2147840" y="3487264"/>
                </a:cubicBezTo>
                <a:close/>
                <a:moveTo>
                  <a:pt x="904180" y="3487264"/>
                </a:moveTo>
                <a:lnTo>
                  <a:pt x="904180" y="3605489"/>
                </a:lnTo>
                <a:lnTo>
                  <a:pt x="928640" y="3605489"/>
                </a:lnTo>
                <a:cubicBezTo>
                  <a:pt x="980278" y="3605489"/>
                  <a:pt x="1006098" y="3585785"/>
                  <a:pt x="1006098" y="3546377"/>
                </a:cubicBezTo>
                <a:cubicBezTo>
                  <a:pt x="1006098" y="3506968"/>
                  <a:pt x="980278" y="3487264"/>
                  <a:pt x="928640" y="3487264"/>
                </a:cubicBezTo>
                <a:close/>
                <a:moveTo>
                  <a:pt x="6435386" y="3435286"/>
                </a:moveTo>
                <a:lnTo>
                  <a:pt x="6481248" y="3554530"/>
                </a:lnTo>
                <a:lnTo>
                  <a:pt x="6389523" y="3554530"/>
                </a:lnTo>
                <a:close/>
                <a:moveTo>
                  <a:pt x="339386" y="3435286"/>
                </a:moveTo>
                <a:lnTo>
                  <a:pt x="293523" y="3554530"/>
                </a:lnTo>
                <a:lnTo>
                  <a:pt x="385249" y="3554530"/>
                </a:lnTo>
                <a:close/>
                <a:moveTo>
                  <a:pt x="8426539" y="3269161"/>
                </a:moveTo>
                <a:lnTo>
                  <a:pt x="8437750" y="3269161"/>
                </a:lnTo>
                <a:cubicBezTo>
                  <a:pt x="8463569" y="3269161"/>
                  <a:pt x="8485481" y="3274936"/>
                  <a:pt x="8503486" y="3286487"/>
                </a:cubicBezTo>
                <a:cubicBezTo>
                  <a:pt x="8521492" y="3298038"/>
                  <a:pt x="8530495" y="3317402"/>
                  <a:pt x="8530495" y="3344580"/>
                </a:cubicBezTo>
                <a:cubicBezTo>
                  <a:pt x="8530495" y="3371758"/>
                  <a:pt x="8521492" y="3391122"/>
                  <a:pt x="8503486" y="3402673"/>
                </a:cubicBezTo>
                <a:cubicBezTo>
                  <a:pt x="8485481" y="3414224"/>
                  <a:pt x="8463569" y="3419999"/>
                  <a:pt x="8437750" y="3419999"/>
                </a:cubicBezTo>
                <a:lnTo>
                  <a:pt x="8426539" y="3419999"/>
                </a:lnTo>
                <a:close/>
                <a:moveTo>
                  <a:pt x="5788114" y="3269161"/>
                </a:moveTo>
                <a:lnTo>
                  <a:pt x="5797287" y="3269161"/>
                </a:lnTo>
                <a:cubicBezTo>
                  <a:pt x="5825824" y="3269161"/>
                  <a:pt x="5846377" y="3275786"/>
                  <a:pt x="5858947" y="3289035"/>
                </a:cubicBezTo>
                <a:cubicBezTo>
                  <a:pt x="5871517" y="3302284"/>
                  <a:pt x="5877802" y="3320799"/>
                  <a:pt x="5877802" y="3344580"/>
                </a:cubicBezTo>
                <a:cubicBezTo>
                  <a:pt x="5877802" y="3368361"/>
                  <a:pt x="5871517" y="3386876"/>
                  <a:pt x="5858947" y="3400125"/>
                </a:cubicBezTo>
                <a:cubicBezTo>
                  <a:pt x="5846377" y="3413374"/>
                  <a:pt x="5825824" y="3419999"/>
                  <a:pt x="5797287" y="3419999"/>
                </a:cubicBezTo>
                <a:lnTo>
                  <a:pt x="5788114" y="3419999"/>
                </a:lnTo>
                <a:close/>
                <a:moveTo>
                  <a:pt x="2123380" y="3245720"/>
                </a:moveTo>
                <a:lnTo>
                  <a:pt x="2123380" y="3339484"/>
                </a:lnTo>
                <a:lnTo>
                  <a:pt x="2147840" y="3339484"/>
                </a:lnTo>
                <a:cubicBezTo>
                  <a:pt x="2181813" y="3339484"/>
                  <a:pt x="2198799" y="3323857"/>
                  <a:pt x="2198799" y="3292602"/>
                </a:cubicBezTo>
                <a:cubicBezTo>
                  <a:pt x="2198799" y="3261348"/>
                  <a:pt x="2181813" y="3245720"/>
                  <a:pt x="2147840" y="3245720"/>
                </a:cubicBezTo>
                <a:close/>
                <a:moveTo>
                  <a:pt x="904180" y="3245720"/>
                </a:moveTo>
                <a:lnTo>
                  <a:pt x="904180" y="3339484"/>
                </a:lnTo>
                <a:lnTo>
                  <a:pt x="928640" y="3339484"/>
                </a:lnTo>
                <a:cubicBezTo>
                  <a:pt x="962613" y="3339484"/>
                  <a:pt x="979599" y="3323857"/>
                  <a:pt x="979599" y="3292602"/>
                </a:cubicBezTo>
                <a:cubicBezTo>
                  <a:pt x="979599" y="3261348"/>
                  <a:pt x="962613" y="3245720"/>
                  <a:pt x="928640" y="3245720"/>
                </a:cubicBezTo>
                <a:close/>
                <a:moveTo>
                  <a:pt x="8800004" y="3085709"/>
                </a:moveTo>
                <a:lnTo>
                  <a:pt x="8800004" y="3765499"/>
                </a:lnTo>
                <a:lnTo>
                  <a:pt x="9013012" y="3765499"/>
                </a:lnTo>
                <a:lnTo>
                  <a:pt x="9013012" y="3504590"/>
                </a:lnTo>
                <a:lnTo>
                  <a:pt x="9199521" y="3765499"/>
                </a:lnTo>
                <a:lnTo>
                  <a:pt x="9378896" y="3765499"/>
                </a:lnTo>
                <a:lnTo>
                  <a:pt x="9378896" y="3085709"/>
                </a:lnTo>
                <a:lnTo>
                  <a:pt x="9165888" y="3085709"/>
                </a:lnTo>
                <a:lnTo>
                  <a:pt x="9165888" y="3347637"/>
                </a:lnTo>
                <a:lnTo>
                  <a:pt x="8978360" y="3085709"/>
                </a:lnTo>
                <a:close/>
                <a:moveTo>
                  <a:pt x="8209454" y="3085709"/>
                </a:moveTo>
                <a:lnTo>
                  <a:pt x="8209454" y="3765499"/>
                </a:lnTo>
                <a:lnTo>
                  <a:pt x="8426539" y="3765499"/>
                </a:lnTo>
                <a:lnTo>
                  <a:pt x="8426539" y="3593259"/>
                </a:lnTo>
                <a:lnTo>
                  <a:pt x="8528456" y="3765499"/>
                </a:lnTo>
                <a:lnTo>
                  <a:pt x="8783250" y="3765499"/>
                </a:lnTo>
                <a:lnTo>
                  <a:pt x="8655853" y="3541281"/>
                </a:lnTo>
                <a:cubicBezTo>
                  <a:pt x="8672839" y="3529051"/>
                  <a:pt x="8688127" y="3514103"/>
                  <a:pt x="8701716" y="3496437"/>
                </a:cubicBezTo>
                <a:cubicBezTo>
                  <a:pt x="8713266" y="3480810"/>
                  <a:pt x="8723798" y="3461106"/>
                  <a:pt x="8733310" y="3437325"/>
                </a:cubicBezTo>
                <a:cubicBezTo>
                  <a:pt x="8742822" y="3413544"/>
                  <a:pt x="8747579" y="3384667"/>
                  <a:pt x="8747579" y="3350695"/>
                </a:cubicBezTo>
                <a:cubicBezTo>
                  <a:pt x="8747579" y="3307890"/>
                  <a:pt x="8739935" y="3270010"/>
                  <a:pt x="8724647" y="3237057"/>
                </a:cubicBezTo>
                <a:cubicBezTo>
                  <a:pt x="8709360" y="3204104"/>
                  <a:pt x="8688127" y="3176416"/>
                  <a:pt x="8660949" y="3153994"/>
                </a:cubicBezTo>
                <a:cubicBezTo>
                  <a:pt x="8633771" y="3131572"/>
                  <a:pt x="8601667" y="3114586"/>
                  <a:pt x="8564637" y="3103036"/>
                </a:cubicBezTo>
                <a:cubicBezTo>
                  <a:pt x="8527607" y="3091485"/>
                  <a:pt x="8487350" y="3085709"/>
                  <a:pt x="8443864" y="3085709"/>
                </a:cubicBezTo>
                <a:close/>
                <a:moveTo>
                  <a:pt x="7742730" y="3085709"/>
                </a:moveTo>
                <a:lnTo>
                  <a:pt x="7742730" y="3765499"/>
                </a:lnTo>
                <a:lnTo>
                  <a:pt x="8150400" y="3765499"/>
                </a:lnTo>
                <a:lnTo>
                  <a:pt x="8150400" y="3587144"/>
                </a:lnTo>
                <a:lnTo>
                  <a:pt x="7959814" y="3587144"/>
                </a:lnTo>
                <a:lnTo>
                  <a:pt x="7959814" y="3508667"/>
                </a:lnTo>
                <a:lnTo>
                  <a:pt x="8140208" y="3508667"/>
                </a:lnTo>
                <a:lnTo>
                  <a:pt x="8140208" y="3339484"/>
                </a:lnTo>
                <a:lnTo>
                  <a:pt x="7959814" y="3339484"/>
                </a:lnTo>
                <a:lnTo>
                  <a:pt x="7959814" y="3264065"/>
                </a:lnTo>
                <a:lnTo>
                  <a:pt x="8143266" y="3264065"/>
                </a:lnTo>
                <a:lnTo>
                  <a:pt x="8143266" y="3085709"/>
                </a:lnTo>
                <a:close/>
                <a:moveTo>
                  <a:pt x="7230809" y="3085709"/>
                </a:moveTo>
                <a:lnTo>
                  <a:pt x="7230809" y="3264065"/>
                </a:lnTo>
                <a:lnTo>
                  <a:pt x="7356167" y="3264065"/>
                </a:lnTo>
                <a:lnTo>
                  <a:pt x="7356167" y="3765499"/>
                </a:lnTo>
                <a:lnTo>
                  <a:pt x="7580386" y="3765499"/>
                </a:lnTo>
                <a:lnTo>
                  <a:pt x="7580386" y="3264065"/>
                </a:lnTo>
                <a:lnTo>
                  <a:pt x="7705744" y="3264065"/>
                </a:lnTo>
                <a:lnTo>
                  <a:pt x="7705744" y="3085709"/>
                </a:lnTo>
                <a:close/>
                <a:moveTo>
                  <a:pt x="6754559" y="3085709"/>
                </a:moveTo>
                <a:lnTo>
                  <a:pt x="6754559" y="3264065"/>
                </a:lnTo>
                <a:lnTo>
                  <a:pt x="6879917" y="3264065"/>
                </a:lnTo>
                <a:lnTo>
                  <a:pt x="6879917" y="3765499"/>
                </a:lnTo>
                <a:lnTo>
                  <a:pt x="7104136" y="3765499"/>
                </a:lnTo>
                <a:lnTo>
                  <a:pt x="7104136" y="3264065"/>
                </a:lnTo>
                <a:lnTo>
                  <a:pt x="7229494" y="3264065"/>
                </a:lnTo>
                <a:lnTo>
                  <a:pt x="7229494" y="3085709"/>
                </a:lnTo>
                <a:close/>
                <a:moveTo>
                  <a:pt x="6353852" y="3085709"/>
                </a:moveTo>
                <a:lnTo>
                  <a:pt x="6096000" y="3765499"/>
                </a:lnTo>
                <a:lnTo>
                  <a:pt x="6310027" y="3765499"/>
                </a:lnTo>
                <a:lnTo>
                  <a:pt x="6332449" y="3704349"/>
                </a:lnTo>
                <a:lnTo>
                  <a:pt x="6538322" y="3704349"/>
                </a:lnTo>
                <a:lnTo>
                  <a:pt x="6560744" y="3765499"/>
                </a:lnTo>
                <a:lnTo>
                  <a:pt x="6774771" y="3765499"/>
                </a:lnTo>
                <a:lnTo>
                  <a:pt x="6516920" y="3085709"/>
                </a:lnTo>
                <a:close/>
                <a:moveTo>
                  <a:pt x="5571030" y="3085709"/>
                </a:moveTo>
                <a:lnTo>
                  <a:pt x="5571030" y="3765499"/>
                </a:lnTo>
                <a:lnTo>
                  <a:pt x="5788114" y="3765499"/>
                </a:lnTo>
                <a:lnTo>
                  <a:pt x="5788114" y="3603450"/>
                </a:lnTo>
                <a:cubicBezTo>
                  <a:pt x="5831599" y="3603450"/>
                  <a:pt x="5872196" y="3598694"/>
                  <a:pt x="5909905" y="3589182"/>
                </a:cubicBezTo>
                <a:cubicBezTo>
                  <a:pt x="5947615" y="3579670"/>
                  <a:pt x="5980569" y="3564722"/>
                  <a:pt x="6008766" y="3544338"/>
                </a:cubicBezTo>
                <a:cubicBezTo>
                  <a:pt x="6036963" y="3523955"/>
                  <a:pt x="6059215" y="3497286"/>
                  <a:pt x="6075522" y="3464333"/>
                </a:cubicBezTo>
                <a:cubicBezTo>
                  <a:pt x="6091828" y="3431380"/>
                  <a:pt x="6099982" y="3391462"/>
                  <a:pt x="6099982" y="3344580"/>
                </a:cubicBezTo>
                <a:cubicBezTo>
                  <a:pt x="6099982" y="3297698"/>
                  <a:pt x="6091828" y="3257780"/>
                  <a:pt x="6075522" y="3224827"/>
                </a:cubicBezTo>
                <a:cubicBezTo>
                  <a:pt x="6059215" y="3191874"/>
                  <a:pt x="6036963" y="3165205"/>
                  <a:pt x="6008766" y="3144822"/>
                </a:cubicBezTo>
                <a:cubicBezTo>
                  <a:pt x="5980569" y="3124438"/>
                  <a:pt x="5947615" y="3109490"/>
                  <a:pt x="5909905" y="3099978"/>
                </a:cubicBezTo>
                <a:cubicBezTo>
                  <a:pt x="5872196" y="3090466"/>
                  <a:pt x="5831599" y="3085709"/>
                  <a:pt x="5788114" y="3085709"/>
                </a:cubicBezTo>
                <a:close/>
                <a:moveTo>
                  <a:pt x="4018454" y="3085709"/>
                </a:moveTo>
                <a:lnTo>
                  <a:pt x="4196810" y="3085709"/>
                </a:lnTo>
                <a:lnTo>
                  <a:pt x="4384338" y="3347637"/>
                </a:lnTo>
                <a:lnTo>
                  <a:pt x="4384338" y="3085709"/>
                </a:lnTo>
                <a:lnTo>
                  <a:pt x="4597346" y="3085709"/>
                </a:lnTo>
                <a:lnTo>
                  <a:pt x="4597346" y="3765499"/>
                </a:lnTo>
                <a:lnTo>
                  <a:pt x="4417971" y="3765499"/>
                </a:lnTo>
                <a:lnTo>
                  <a:pt x="4231462" y="3504590"/>
                </a:lnTo>
                <a:lnTo>
                  <a:pt x="4231462" y="3765499"/>
                </a:lnTo>
                <a:lnTo>
                  <a:pt x="4018454" y="3765499"/>
                </a:lnTo>
                <a:close/>
                <a:moveTo>
                  <a:pt x="3713654" y="3085709"/>
                </a:moveTo>
                <a:lnTo>
                  <a:pt x="3943988" y="3085709"/>
                </a:lnTo>
                <a:lnTo>
                  <a:pt x="3943988" y="3765499"/>
                </a:lnTo>
                <a:lnTo>
                  <a:pt x="3713654" y="3765499"/>
                </a:lnTo>
                <a:close/>
                <a:moveTo>
                  <a:pt x="3057525" y="3085709"/>
                </a:moveTo>
                <a:lnTo>
                  <a:pt x="3299069" y="3085709"/>
                </a:lnTo>
                <a:lnTo>
                  <a:pt x="3377546" y="3229413"/>
                </a:lnTo>
                <a:lnTo>
                  <a:pt x="3455003" y="3085709"/>
                </a:lnTo>
                <a:lnTo>
                  <a:pt x="3696547" y="3085709"/>
                </a:lnTo>
                <a:lnTo>
                  <a:pt x="3485578" y="3472996"/>
                </a:lnTo>
                <a:lnTo>
                  <a:pt x="3485578" y="3765499"/>
                </a:lnTo>
                <a:lnTo>
                  <a:pt x="3268494" y="3765499"/>
                </a:lnTo>
                <a:lnTo>
                  <a:pt x="3268494" y="3472996"/>
                </a:lnTo>
                <a:close/>
                <a:moveTo>
                  <a:pt x="2481872" y="3085709"/>
                </a:moveTo>
                <a:lnTo>
                  <a:pt x="2698957" y="3085709"/>
                </a:lnTo>
                <a:lnTo>
                  <a:pt x="2698957" y="3508667"/>
                </a:lnTo>
                <a:cubicBezTo>
                  <a:pt x="2698957" y="3532448"/>
                  <a:pt x="2703883" y="3550623"/>
                  <a:pt x="2713734" y="3563193"/>
                </a:cubicBezTo>
                <a:cubicBezTo>
                  <a:pt x="2723587" y="3575763"/>
                  <a:pt x="2740064" y="3582048"/>
                  <a:pt x="2763164" y="3582048"/>
                </a:cubicBezTo>
                <a:cubicBezTo>
                  <a:pt x="2786266" y="3582048"/>
                  <a:pt x="2802742" y="3575763"/>
                  <a:pt x="2812595" y="3563193"/>
                </a:cubicBezTo>
                <a:cubicBezTo>
                  <a:pt x="2822447" y="3550623"/>
                  <a:pt x="2827373" y="3532448"/>
                  <a:pt x="2827373" y="3508667"/>
                </a:cubicBezTo>
                <a:lnTo>
                  <a:pt x="2827373" y="3085709"/>
                </a:lnTo>
                <a:lnTo>
                  <a:pt x="3045476" y="3085709"/>
                </a:lnTo>
                <a:lnTo>
                  <a:pt x="3045476" y="3517840"/>
                </a:lnTo>
                <a:cubicBezTo>
                  <a:pt x="3045476" y="3562683"/>
                  <a:pt x="3038851" y="3601752"/>
                  <a:pt x="3025602" y="3635045"/>
                </a:cubicBezTo>
                <a:cubicBezTo>
                  <a:pt x="3012353" y="3668338"/>
                  <a:pt x="2993328" y="3695856"/>
                  <a:pt x="2968528" y="3717598"/>
                </a:cubicBezTo>
                <a:cubicBezTo>
                  <a:pt x="2943728" y="3739340"/>
                  <a:pt x="2914002" y="3755647"/>
                  <a:pt x="2879351" y="3766518"/>
                </a:cubicBezTo>
                <a:cubicBezTo>
                  <a:pt x="2844699" y="3777390"/>
                  <a:pt x="2805970" y="3782825"/>
                  <a:pt x="2763164" y="3782825"/>
                </a:cubicBezTo>
                <a:cubicBezTo>
                  <a:pt x="2720360" y="3782825"/>
                  <a:pt x="2681631" y="3777390"/>
                  <a:pt x="2646979" y="3766518"/>
                </a:cubicBezTo>
                <a:cubicBezTo>
                  <a:pt x="2612327" y="3755647"/>
                  <a:pt x="2582771" y="3739340"/>
                  <a:pt x="2558310" y="3717598"/>
                </a:cubicBezTo>
                <a:cubicBezTo>
                  <a:pt x="2533850" y="3695856"/>
                  <a:pt x="2514995" y="3668338"/>
                  <a:pt x="2501746" y="3635045"/>
                </a:cubicBezTo>
                <a:cubicBezTo>
                  <a:pt x="2488497" y="3601752"/>
                  <a:pt x="2481872" y="3562683"/>
                  <a:pt x="2481872" y="3517840"/>
                </a:cubicBezTo>
                <a:close/>
                <a:moveTo>
                  <a:pt x="1913430" y="3085709"/>
                </a:moveTo>
                <a:lnTo>
                  <a:pt x="2179435" y="3085709"/>
                </a:lnTo>
                <a:cubicBezTo>
                  <a:pt x="2213407" y="3085709"/>
                  <a:pt x="2244492" y="3089616"/>
                  <a:pt x="2272689" y="3097430"/>
                </a:cubicBezTo>
                <a:cubicBezTo>
                  <a:pt x="2300886" y="3105244"/>
                  <a:pt x="2325007" y="3116794"/>
                  <a:pt x="2345051" y="3132082"/>
                </a:cubicBezTo>
                <a:cubicBezTo>
                  <a:pt x="2365094" y="3147370"/>
                  <a:pt x="2380722" y="3166394"/>
                  <a:pt x="2391933" y="3189156"/>
                </a:cubicBezTo>
                <a:cubicBezTo>
                  <a:pt x="2403143" y="3211917"/>
                  <a:pt x="2408749" y="3238586"/>
                  <a:pt x="2408749" y="3269161"/>
                </a:cubicBezTo>
                <a:cubicBezTo>
                  <a:pt x="2408749" y="3290904"/>
                  <a:pt x="2406032" y="3309418"/>
                  <a:pt x="2400596" y="3324706"/>
                </a:cubicBezTo>
                <a:cubicBezTo>
                  <a:pt x="2395160" y="3339994"/>
                  <a:pt x="2389385" y="3352733"/>
                  <a:pt x="2383270" y="3362925"/>
                </a:cubicBezTo>
                <a:cubicBezTo>
                  <a:pt x="2375796" y="3375155"/>
                  <a:pt x="2367303" y="3385347"/>
                  <a:pt x="2357791" y="3393500"/>
                </a:cubicBezTo>
                <a:cubicBezTo>
                  <a:pt x="2372738" y="3403013"/>
                  <a:pt x="2386328" y="3415243"/>
                  <a:pt x="2398557" y="3430191"/>
                </a:cubicBezTo>
                <a:cubicBezTo>
                  <a:pt x="2408749" y="3443100"/>
                  <a:pt x="2418091" y="3459407"/>
                  <a:pt x="2426585" y="3479111"/>
                </a:cubicBezTo>
                <a:cubicBezTo>
                  <a:pt x="2435078" y="3498815"/>
                  <a:pt x="2439324" y="3522936"/>
                  <a:pt x="2439324" y="3551472"/>
                </a:cubicBezTo>
                <a:cubicBezTo>
                  <a:pt x="2439324" y="3584086"/>
                  <a:pt x="2433549" y="3613642"/>
                  <a:pt x="2421998" y="3640141"/>
                </a:cubicBezTo>
                <a:cubicBezTo>
                  <a:pt x="2410448" y="3666639"/>
                  <a:pt x="2393971" y="3689231"/>
                  <a:pt x="2372568" y="3707916"/>
                </a:cubicBezTo>
                <a:cubicBezTo>
                  <a:pt x="2351166" y="3726601"/>
                  <a:pt x="2325007" y="3740869"/>
                  <a:pt x="2294092" y="3750721"/>
                </a:cubicBezTo>
                <a:cubicBezTo>
                  <a:pt x="2263177" y="3760573"/>
                  <a:pt x="2228695" y="3765499"/>
                  <a:pt x="2190646" y="3765499"/>
                </a:cubicBezTo>
                <a:lnTo>
                  <a:pt x="1913430" y="3765499"/>
                </a:lnTo>
                <a:close/>
                <a:moveTo>
                  <a:pt x="694230" y="3085709"/>
                </a:moveTo>
                <a:lnTo>
                  <a:pt x="960235" y="3085709"/>
                </a:lnTo>
                <a:cubicBezTo>
                  <a:pt x="994207" y="3085709"/>
                  <a:pt x="1025292" y="3089616"/>
                  <a:pt x="1053489" y="3097430"/>
                </a:cubicBezTo>
                <a:cubicBezTo>
                  <a:pt x="1081686" y="3105244"/>
                  <a:pt x="1105807" y="3116794"/>
                  <a:pt x="1125850" y="3132082"/>
                </a:cubicBezTo>
                <a:cubicBezTo>
                  <a:pt x="1145895" y="3147370"/>
                  <a:pt x="1161522" y="3166394"/>
                  <a:pt x="1172732" y="3189156"/>
                </a:cubicBezTo>
                <a:cubicBezTo>
                  <a:pt x="1183944" y="3211917"/>
                  <a:pt x="1189549" y="3238586"/>
                  <a:pt x="1189549" y="3269161"/>
                </a:cubicBezTo>
                <a:cubicBezTo>
                  <a:pt x="1189549" y="3290904"/>
                  <a:pt x="1186831" y="3309418"/>
                  <a:pt x="1181395" y="3324706"/>
                </a:cubicBezTo>
                <a:cubicBezTo>
                  <a:pt x="1175960" y="3339994"/>
                  <a:pt x="1170185" y="3352733"/>
                  <a:pt x="1164069" y="3362925"/>
                </a:cubicBezTo>
                <a:cubicBezTo>
                  <a:pt x="1156596" y="3375155"/>
                  <a:pt x="1148102" y="3385347"/>
                  <a:pt x="1138590" y="3393500"/>
                </a:cubicBezTo>
                <a:cubicBezTo>
                  <a:pt x="1153538" y="3403013"/>
                  <a:pt x="1167127" y="3415243"/>
                  <a:pt x="1179357" y="3430191"/>
                </a:cubicBezTo>
                <a:cubicBezTo>
                  <a:pt x="1189549" y="3443100"/>
                  <a:pt x="1198891" y="3459407"/>
                  <a:pt x="1207385" y="3479111"/>
                </a:cubicBezTo>
                <a:cubicBezTo>
                  <a:pt x="1215878" y="3498815"/>
                  <a:pt x="1220124" y="3522936"/>
                  <a:pt x="1220124" y="3551472"/>
                </a:cubicBezTo>
                <a:cubicBezTo>
                  <a:pt x="1220124" y="3584086"/>
                  <a:pt x="1214349" y="3613642"/>
                  <a:pt x="1202798" y="3640141"/>
                </a:cubicBezTo>
                <a:cubicBezTo>
                  <a:pt x="1191247" y="3666639"/>
                  <a:pt x="1174771" y="3689231"/>
                  <a:pt x="1153369" y="3707916"/>
                </a:cubicBezTo>
                <a:cubicBezTo>
                  <a:pt x="1131965" y="3726601"/>
                  <a:pt x="1105807" y="3740869"/>
                  <a:pt x="1074892" y="3750721"/>
                </a:cubicBezTo>
                <a:cubicBezTo>
                  <a:pt x="1043977" y="3760573"/>
                  <a:pt x="1009495" y="3765499"/>
                  <a:pt x="971445" y="3765499"/>
                </a:cubicBezTo>
                <a:lnTo>
                  <a:pt x="694230" y="3765499"/>
                </a:lnTo>
                <a:close/>
                <a:moveTo>
                  <a:pt x="257852" y="3085709"/>
                </a:moveTo>
                <a:lnTo>
                  <a:pt x="420920" y="3085709"/>
                </a:lnTo>
                <a:lnTo>
                  <a:pt x="678771" y="3765499"/>
                </a:lnTo>
                <a:lnTo>
                  <a:pt x="464744" y="3765499"/>
                </a:lnTo>
                <a:lnTo>
                  <a:pt x="442323" y="3704349"/>
                </a:lnTo>
                <a:lnTo>
                  <a:pt x="236449" y="3704349"/>
                </a:lnTo>
                <a:lnTo>
                  <a:pt x="214027" y="3765499"/>
                </a:lnTo>
                <a:lnTo>
                  <a:pt x="0" y="3765499"/>
                </a:lnTo>
                <a:close/>
                <a:moveTo>
                  <a:pt x="9652559" y="3069403"/>
                </a:moveTo>
                <a:cubicBezTo>
                  <a:pt x="9621304" y="3069403"/>
                  <a:pt x="9591918" y="3073649"/>
                  <a:pt x="9564400" y="3082142"/>
                </a:cubicBezTo>
                <a:cubicBezTo>
                  <a:pt x="9536882" y="3090636"/>
                  <a:pt x="9512932" y="3103036"/>
                  <a:pt x="9492548" y="3119342"/>
                </a:cubicBezTo>
                <a:cubicBezTo>
                  <a:pt x="9472165" y="3135649"/>
                  <a:pt x="9456197" y="3156033"/>
                  <a:pt x="9444647" y="3180493"/>
                </a:cubicBezTo>
                <a:cubicBezTo>
                  <a:pt x="9433097" y="3204953"/>
                  <a:pt x="9427321" y="3233150"/>
                  <a:pt x="9427321" y="3265084"/>
                </a:cubicBezTo>
                <a:cubicBezTo>
                  <a:pt x="9427321" y="3293621"/>
                  <a:pt x="9432077" y="3318931"/>
                  <a:pt x="9441590" y="3341013"/>
                </a:cubicBezTo>
                <a:cubicBezTo>
                  <a:pt x="9451102" y="3363095"/>
                  <a:pt x="9463162" y="3382969"/>
                  <a:pt x="9477771" y="3400635"/>
                </a:cubicBezTo>
                <a:cubicBezTo>
                  <a:pt x="9492378" y="3418300"/>
                  <a:pt x="9508006" y="3433928"/>
                  <a:pt x="9524653" y="3447517"/>
                </a:cubicBezTo>
                <a:cubicBezTo>
                  <a:pt x="9541299" y="3461106"/>
                  <a:pt x="9556926" y="3473506"/>
                  <a:pt x="9571535" y="3484716"/>
                </a:cubicBezTo>
                <a:cubicBezTo>
                  <a:pt x="9586143" y="3495927"/>
                  <a:pt x="9598203" y="3506119"/>
                  <a:pt x="9607715" y="3515292"/>
                </a:cubicBezTo>
                <a:cubicBezTo>
                  <a:pt x="9617227" y="3524464"/>
                  <a:pt x="9621984" y="3533467"/>
                  <a:pt x="9621984" y="3542300"/>
                </a:cubicBezTo>
                <a:cubicBezTo>
                  <a:pt x="9621984" y="3565401"/>
                  <a:pt x="9606356" y="3576952"/>
                  <a:pt x="9575102" y="3576952"/>
                </a:cubicBezTo>
                <a:cubicBezTo>
                  <a:pt x="9557435" y="3576952"/>
                  <a:pt x="9539940" y="3575933"/>
                  <a:pt x="9522614" y="3573894"/>
                </a:cubicBezTo>
                <a:cubicBezTo>
                  <a:pt x="9505288" y="3571856"/>
                  <a:pt x="9489830" y="3569138"/>
                  <a:pt x="9476242" y="3565741"/>
                </a:cubicBezTo>
                <a:cubicBezTo>
                  <a:pt x="9459934" y="3563023"/>
                  <a:pt x="9444307" y="3559286"/>
                  <a:pt x="9429360" y="3554530"/>
                </a:cubicBezTo>
                <a:lnTo>
                  <a:pt x="9429360" y="3758365"/>
                </a:lnTo>
                <a:cubicBezTo>
                  <a:pt x="9445666" y="3763121"/>
                  <a:pt x="9463671" y="3767198"/>
                  <a:pt x="9483376" y="3770595"/>
                </a:cubicBezTo>
                <a:cubicBezTo>
                  <a:pt x="9500362" y="3773992"/>
                  <a:pt x="9519896" y="3776880"/>
                  <a:pt x="9541978" y="3779258"/>
                </a:cubicBezTo>
                <a:cubicBezTo>
                  <a:pt x="9564061" y="3781636"/>
                  <a:pt x="9588012" y="3782825"/>
                  <a:pt x="9613830" y="3782825"/>
                </a:cubicBezTo>
                <a:cubicBezTo>
                  <a:pt x="9656635" y="3782825"/>
                  <a:pt x="9693666" y="3777220"/>
                  <a:pt x="9724921" y="3766009"/>
                </a:cubicBezTo>
                <a:cubicBezTo>
                  <a:pt x="9756175" y="3754798"/>
                  <a:pt x="9781824" y="3739510"/>
                  <a:pt x="9801868" y="3720146"/>
                </a:cubicBezTo>
                <a:cubicBezTo>
                  <a:pt x="9821911" y="3700782"/>
                  <a:pt x="9836689" y="3678020"/>
                  <a:pt x="9846202" y="3651861"/>
                </a:cubicBezTo>
                <a:cubicBezTo>
                  <a:pt x="9855714" y="3625702"/>
                  <a:pt x="9860470" y="3597675"/>
                  <a:pt x="9860470" y="3567779"/>
                </a:cubicBezTo>
                <a:cubicBezTo>
                  <a:pt x="9860470" y="3539242"/>
                  <a:pt x="9855885" y="3513423"/>
                  <a:pt x="9846712" y="3490322"/>
                </a:cubicBezTo>
                <a:cubicBezTo>
                  <a:pt x="9837539" y="3467221"/>
                  <a:pt x="9826328" y="3446497"/>
                  <a:pt x="9813079" y="3428152"/>
                </a:cubicBezTo>
                <a:cubicBezTo>
                  <a:pt x="9799830" y="3409807"/>
                  <a:pt x="9785222" y="3393500"/>
                  <a:pt x="9769254" y="3379232"/>
                </a:cubicBezTo>
                <a:cubicBezTo>
                  <a:pt x="9753287" y="3364963"/>
                  <a:pt x="9738679" y="3352394"/>
                  <a:pt x="9725430" y="3341522"/>
                </a:cubicBezTo>
                <a:cubicBezTo>
                  <a:pt x="9712181" y="3330651"/>
                  <a:pt x="9700970" y="3321139"/>
                  <a:pt x="9691797" y="3312985"/>
                </a:cubicBezTo>
                <a:cubicBezTo>
                  <a:pt x="9682624" y="3304832"/>
                  <a:pt x="9678039" y="3298038"/>
                  <a:pt x="9678039" y="3292602"/>
                </a:cubicBezTo>
                <a:cubicBezTo>
                  <a:pt x="9678039" y="3286487"/>
                  <a:pt x="9680077" y="3281731"/>
                  <a:pt x="9684153" y="3278334"/>
                </a:cubicBezTo>
                <a:cubicBezTo>
                  <a:pt x="9688230" y="3274936"/>
                  <a:pt x="9692986" y="3272558"/>
                  <a:pt x="9698422" y="3271199"/>
                </a:cubicBezTo>
                <a:cubicBezTo>
                  <a:pt x="9703857" y="3269840"/>
                  <a:pt x="9709633" y="3268991"/>
                  <a:pt x="9715748" y="3268651"/>
                </a:cubicBezTo>
                <a:cubicBezTo>
                  <a:pt x="9721863" y="3268312"/>
                  <a:pt x="9726959" y="3268142"/>
                  <a:pt x="9731035" y="3268142"/>
                </a:cubicBezTo>
                <a:cubicBezTo>
                  <a:pt x="9738509" y="3268142"/>
                  <a:pt x="9745644" y="3268482"/>
                  <a:pt x="9752438" y="3269161"/>
                </a:cubicBezTo>
                <a:cubicBezTo>
                  <a:pt x="9759232" y="3269840"/>
                  <a:pt x="9765347" y="3270520"/>
                  <a:pt x="9770783" y="3271199"/>
                </a:cubicBezTo>
                <a:cubicBezTo>
                  <a:pt x="9777578" y="3271879"/>
                  <a:pt x="9783693" y="3272558"/>
                  <a:pt x="9789128" y="3273238"/>
                </a:cubicBezTo>
                <a:lnTo>
                  <a:pt x="9789128" y="3082652"/>
                </a:lnTo>
                <a:cubicBezTo>
                  <a:pt x="9774859" y="3080614"/>
                  <a:pt x="9760252" y="3078575"/>
                  <a:pt x="9745304" y="3076537"/>
                </a:cubicBezTo>
                <a:cubicBezTo>
                  <a:pt x="9732395" y="3075178"/>
                  <a:pt x="9717786" y="3073649"/>
                  <a:pt x="9701479" y="3071951"/>
                </a:cubicBezTo>
                <a:cubicBezTo>
                  <a:pt x="9685172" y="3070252"/>
                  <a:pt x="9668866" y="3069403"/>
                  <a:pt x="9652559" y="3069403"/>
                </a:cubicBezTo>
                <a:close/>
                <a:moveTo>
                  <a:pt x="4997387" y="3069403"/>
                </a:moveTo>
                <a:cubicBezTo>
                  <a:pt x="5035436" y="3069403"/>
                  <a:pt x="5068389" y="3073140"/>
                  <a:pt x="5096246" y="3080614"/>
                </a:cubicBezTo>
                <a:cubicBezTo>
                  <a:pt x="5124103" y="3088088"/>
                  <a:pt x="5147544" y="3096581"/>
                  <a:pt x="5166569" y="3106093"/>
                </a:cubicBezTo>
                <a:cubicBezTo>
                  <a:pt x="5188991" y="3116964"/>
                  <a:pt x="5207676" y="3128855"/>
                  <a:pt x="5222624" y="3141764"/>
                </a:cubicBezTo>
                <a:lnTo>
                  <a:pt x="5099304" y="3317062"/>
                </a:lnTo>
                <a:cubicBezTo>
                  <a:pt x="5087074" y="3306191"/>
                  <a:pt x="5071786" y="3297868"/>
                  <a:pt x="5053441" y="3292093"/>
                </a:cubicBezTo>
                <a:cubicBezTo>
                  <a:pt x="5035096" y="3286317"/>
                  <a:pt x="5017090" y="3283429"/>
                  <a:pt x="4999425" y="3283429"/>
                </a:cubicBezTo>
                <a:cubicBezTo>
                  <a:pt x="4979720" y="3283429"/>
                  <a:pt x="4961716" y="3286997"/>
                  <a:pt x="4945409" y="3294131"/>
                </a:cubicBezTo>
                <a:cubicBezTo>
                  <a:pt x="4929102" y="3301265"/>
                  <a:pt x="4915003" y="3311117"/>
                  <a:pt x="4903113" y="3323687"/>
                </a:cubicBezTo>
                <a:cubicBezTo>
                  <a:pt x="4891222" y="3336257"/>
                  <a:pt x="4881880" y="3351374"/>
                  <a:pt x="4875085" y="3369040"/>
                </a:cubicBezTo>
                <a:cubicBezTo>
                  <a:pt x="4868291" y="3386706"/>
                  <a:pt x="4864894" y="3405730"/>
                  <a:pt x="4864894" y="3426114"/>
                </a:cubicBezTo>
                <a:cubicBezTo>
                  <a:pt x="4864894" y="3446497"/>
                  <a:pt x="4868631" y="3465522"/>
                  <a:pt x="4876105" y="3483188"/>
                </a:cubicBezTo>
                <a:cubicBezTo>
                  <a:pt x="4883579" y="3500853"/>
                  <a:pt x="4893770" y="3515971"/>
                  <a:pt x="4906680" y="3528541"/>
                </a:cubicBezTo>
                <a:cubicBezTo>
                  <a:pt x="4919589" y="3541111"/>
                  <a:pt x="4934707" y="3550963"/>
                  <a:pt x="4952033" y="3558097"/>
                </a:cubicBezTo>
                <a:cubicBezTo>
                  <a:pt x="4969359" y="3565231"/>
                  <a:pt x="4987874" y="3568798"/>
                  <a:pt x="5007578" y="3568798"/>
                </a:cubicBezTo>
                <a:cubicBezTo>
                  <a:pt x="5030679" y="3568798"/>
                  <a:pt x="5051742" y="3563872"/>
                  <a:pt x="5070767" y="3554020"/>
                </a:cubicBezTo>
                <a:cubicBezTo>
                  <a:pt x="5089792" y="3544168"/>
                  <a:pt x="5106098" y="3530749"/>
                  <a:pt x="5119687" y="3513763"/>
                </a:cubicBezTo>
                <a:lnTo>
                  <a:pt x="5058537" y="3513763"/>
                </a:lnTo>
                <a:lnTo>
                  <a:pt x="5058537" y="3371078"/>
                </a:lnTo>
                <a:lnTo>
                  <a:pt x="5320465" y="3371078"/>
                </a:lnTo>
                <a:lnTo>
                  <a:pt x="5320465" y="3597335"/>
                </a:lnTo>
                <a:cubicBezTo>
                  <a:pt x="5304837" y="3625193"/>
                  <a:pt x="5286152" y="3650502"/>
                  <a:pt x="5264411" y="3673264"/>
                </a:cubicBezTo>
                <a:cubicBezTo>
                  <a:pt x="5242668" y="3696025"/>
                  <a:pt x="5218377" y="3715560"/>
                  <a:pt x="5191539" y="3731866"/>
                </a:cubicBezTo>
                <a:cubicBezTo>
                  <a:pt x="5164701" y="3748173"/>
                  <a:pt x="5135654" y="3760743"/>
                  <a:pt x="5104400" y="3769576"/>
                </a:cubicBezTo>
                <a:cubicBezTo>
                  <a:pt x="5073145" y="3778409"/>
                  <a:pt x="5040871" y="3782825"/>
                  <a:pt x="5007578" y="3782825"/>
                </a:cubicBezTo>
                <a:cubicBezTo>
                  <a:pt x="4958658" y="3782825"/>
                  <a:pt x="4912455" y="3773653"/>
                  <a:pt x="4868971" y="3755307"/>
                </a:cubicBezTo>
                <a:cubicBezTo>
                  <a:pt x="4825486" y="3736962"/>
                  <a:pt x="4787606" y="3711823"/>
                  <a:pt x="4755332" y="3679888"/>
                </a:cubicBezTo>
                <a:cubicBezTo>
                  <a:pt x="4723059" y="3647954"/>
                  <a:pt x="4697578" y="3610245"/>
                  <a:pt x="4678894" y="3566760"/>
                </a:cubicBezTo>
                <a:cubicBezTo>
                  <a:pt x="4660209" y="3523275"/>
                  <a:pt x="4650867" y="3476393"/>
                  <a:pt x="4650867" y="3426114"/>
                </a:cubicBezTo>
                <a:cubicBezTo>
                  <a:pt x="4650867" y="3377194"/>
                  <a:pt x="4659699" y="3330991"/>
                  <a:pt x="4677365" y="3287506"/>
                </a:cubicBezTo>
                <a:cubicBezTo>
                  <a:pt x="4695031" y="3244021"/>
                  <a:pt x="4719321" y="3206142"/>
                  <a:pt x="4750237" y="3173868"/>
                </a:cubicBezTo>
                <a:cubicBezTo>
                  <a:pt x="4781152" y="3141594"/>
                  <a:pt x="4817842" y="3116115"/>
                  <a:pt x="4860307" y="3097430"/>
                </a:cubicBezTo>
                <a:cubicBezTo>
                  <a:pt x="4902773" y="3078745"/>
                  <a:pt x="4948466" y="3069403"/>
                  <a:pt x="4997387" y="3069403"/>
                </a:cubicBezTo>
                <a:close/>
                <a:moveTo>
                  <a:pt x="1461059" y="3069403"/>
                </a:moveTo>
                <a:cubicBezTo>
                  <a:pt x="1477366" y="3069403"/>
                  <a:pt x="1493672" y="3070252"/>
                  <a:pt x="1509979" y="3071951"/>
                </a:cubicBezTo>
                <a:cubicBezTo>
                  <a:pt x="1526286" y="3073649"/>
                  <a:pt x="1540895" y="3075178"/>
                  <a:pt x="1553804" y="3076537"/>
                </a:cubicBezTo>
                <a:cubicBezTo>
                  <a:pt x="1568752" y="3078575"/>
                  <a:pt x="1583360" y="3080614"/>
                  <a:pt x="1597629" y="3082652"/>
                </a:cubicBezTo>
                <a:lnTo>
                  <a:pt x="1597629" y="3273238"/>
                </a:lnTo>
                <a:cubicBezTo>
                  <a:pt x="1592193" y="3272558"/>
                  <a:pt x="1586078" y="3271879"/>
                  <a:pt x="1579284" y="3271199"/>
                </a:cubicBezTo>
                <a:cubicBezTo>
                  <a:pt x="1573848" y="3270520"/>
                  <a:pt x="1567732" y="3269840"/>
                  <a:pt x="1560938" y="3269161"/>
                </a:cubicBezTo>
                <a:cubicBezTo>
                  <a:pt x="1554143" y="3268482"/>
                  <a:pt x="1547009" y="3268142"/>
                  <a:pt x="1539535" y="3268142"/>
                </a:cubicBezTo>
                <a:cubicBezTo>
                  <a:pt x="1535459" y="3268142"/>
                  <a:pt x="1530363" y="3268312"/>
                  <a:pt x="1524248" y="3268651"/>
                </a:cubicBezTo>
                <a:cubicBezTo>
                  <a:pt x="1518133" y="3268991"/>
                  <a:pt x="1512358" y="3269840"/>
                  <a:pt x="1506922" y="3271199"/>
                </a:cubicBezTo>
                <a:cubicBezTo>
                  <a:pt x="1501486" y="3272558"/>
                  <a:pt x="1496730" y="3274936"/>
                  <a:pt x="1492653" y="3278334"/>
                </a:cubicBezTo>
                <a:cubicBezTo>
                  <a:pt x="1488577" y="3281731"/>
                  <a:pt x="1486538" y="3286487"/>
                  <a:pt x="1486538" y="3292602"/>
                </a:cubicBezTo>
                <a:cubicBezTo>
                  <a:pt x="1486538" y="3298038"/>
                  <a:pt x="1491125" y="3304832"/>
                  <a:pt x="1500298" y="3312985"/>
                </a:cubicBezTo>
                <a:cubicBezTo>
                  <a:pt x="1509470" y="3321139"/>
                  <a:pt x="1520681" y="3330651"/>
                  <a:pt x="1533930" y="3341522"/>
                </a:cubicBezTo>
                <a:cubicBezTo>
                  <a:pt x="1547180" y="3352394"/>
                  <a:pt x="1561787" y="3364963"/>
                  <a:pt x="1577755" y="3379232"/>
                </a:cubicBezTo>
                <a:cubicBezTo>
                  <a:pt x="1593722" y="3393500"/>
                  <a:pt x="1608330" y="3409807"/>
                  <a:pt x="1621579" y="3428152"/>
                </a:cubicBezTo>
                <a:cubicBezTo>
                  <a:pt x="1634829" y="3446497"/>
                  <a:pt x="1646040" y="3467221"/>
                  <a:pt x="1655212" y="3490322"/>
                </a:cubicBezTo>
                <a:cubicBezTo>
                  <a:pt x="1664384" y="3513423"/>
                  <a:pt x="1668971" y="3539242"/>
                  <a:pt x="1668971" y="3567779"/>
                </a:cubicBezTo>
                <a:cubicBezTo>
                  <a:pt x="1668971" y="3597675"/>
                  <a:pt x="1664214" y="3625702"/>
                  <a:pt x="1654702" y="3651861"/>
                </a:cubicBezTo>
                <a:cubicBezTo>
                  <a:pt x="1645190" y="3678020"/>
                  <a:pt x="1630412" y="3700782"/>
                  <a:pt x="1610368" y="3720146"/>
                </a:cubicBezTo>
                <a:cubicBezTo>
                  <a:pt x="1590324" y="3739510"/>
                  <a:pt x="1564675" y="3754798"/>
                  <a:pt x="1533420" y="3766009"/>
                </a:cubicBezTo>
                <a:cubicBezTo>
                  <a:pt x="1502165" y="3777220"/>
                  <a:pt x="1465136" y="3782825"/>
                  <a:pt x="1422330" y="3782825"/>
                </a:cubicBezTo>
                <a:cubicBezTo>
                  <a:pt x="1396511" y="3782825"/>
                  <a:pt x="1372560" y="3781636"/>
                  <a:pt x="1350479" y="3779258"/>
                </a:cubicBezTo>
                <a:cubicBezTo>
                  <a:pt x="1328396" y="3776880"/>
                  <a:pt x="1308862" y="3773992"/>
                  <a:pt x="1291876" y="3770595"/>
                </a:cubicBezTo>
                <a:cubicBezTo>
                  <a:pt x="1272172" y="3767198"/>
                  <a:pt x="1254167" y="3763121"/>
                  <a:pt x="1237860" y="3758365"/>
                </a:cubicBezTo>
                <a:lnTo>
                  <a:pt x="1237860" y="3554530"/>
                </a:lnTo>
                <a:cubicBezTo>
                  <a:pt x="1252808" y="3559286"/>
                  <a:pt x="1268435" y="3563023"/>
                  <a:pt x="1284742" y="3565741"/>
                </a:cubicBezTo>
                <a:cubicBezTo>
                  <a:pt x="1298331" y="3569138"/>
                  <a:pt x="1313788" y="3571856"/>
                  <a:pt x="1331114" y="3573894"/>
                </a:cubicBezTo>
                <a:cubicBezTo>
                  <a:pt x="1348440" y="3575933"/>
                  <a:pt x="1365936" y="3576952"/>
                  <a:pt x="1383602" y="3576952"/>
                </a:cubicBezTo>
                <a:cubicBezTo>
                  <a:pt x="1414856" y="3576952"/>
                  <a:pt x="1430484" y="3565401"/>
                  <a:pt x="1430484" y="3542300"/>
                </a:cubicBezTo>
                <a:cubicBezTo>
                  <a:pt x="1430484" y="3533467"/>
                  <a:pt x="1425727" y="3524464"/>
                  <a:pt x="1416215" y="3515292"/>
                </a:cubicBezTo>
                <a:cubicBezTo>
                  <a:pt x="1406703" y="3506119"/>
                  <a:pt x="1394643" y="3495927"/>
                  <a:pt x="1380034" y="3484716"/>
                </a:cubicBezTo>
                <a:cubicBezTo>
                  <a:pt x="1365426" y="3473506"/>
                  <a:pt x="1349799" y="3461106"/>
                  <a:pt x="1333152" y="3447517"/>
                </a:cubicBezTo>
                <a:cubicBezTo>
                  <a:pt x="1316505" y="3433928"/>
                  <a:pt x="1300879" y="3418300"/>
                  <a:pt x="1286271" y="3400635"/>
                </a:cubicBezTo>
                <a:cubicBezTo>
                  <a:pt x="1271662" y="3382969"/>
                  <a:pt x="1259602" y="3363095"/>
                  <a:pt x="1250090" y="3341013"/>
                </a:cubicBezTo>
                <a:cubicBezTo>
                  <a:pt x="1240578" y="3318931"/>
                  <a:pt x="1235821" y="3293621"/>
                  <a:pt x="1235821" y="3265084"/>
                </a:cubicBezTo>
                <a:cubicBezTo>
                  <a:pt x="1235821" y="3233150"/>
                  <a:pt x="1241597" y="3204953"/>
                  <a:pt x="1253148" y="3180493"/>
                </a:cubicBezTo>
                <a:cubicBezTo>
                  <a:pt x="1264698" y="3156033"/>
                  <a:pt x="1280665" y="3135649"/>
                  <a:pt x="1301048" y="3119342"/>
                </a:cubicBezTo>
                <a:cubicBezTo>
                  <a:pt x="1321432" y="3103036"/>
                  <a:pt x="1345383" y="3090636"/>
                  <a:pt x="1372900" y="3082142"/>
                </a:cubicBezTo>
                <a:cubicBezTo>
                  <a:pt x="1400418" y="3073649"/>
                  <a:pt x="1429804" y="3069403"/>
                  <a:pt x="1461059" y="3069403"/>
                </a:cubicBezTo>
                <a:close/>
                <a:moveTo>
                  <a:pt x="6202898" y="0"/>
                </a:moveTo>
                <a:lnTo>
                  <a:pt x="10656657" y="0"/>
                </a:lnTo>
                <a:lnTo>
                  <a:pt x="9172071" y="6857999"/>
                </a:lnTo>
                <a:lnTo>
                  <a:pt x="4718312" y="6857999"/>
                </a:lnTo>
                <a:close/>
              </a:path>
            </a:pathLst>
          </a:custGeom>
          <a:solidFill>
            <a:srgbClr val="920F00"/>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noFill/>
            </a:endParaRPr>
          </a:p>
        </p:txBody>
      </p:sp>
      <p:sp>
        <p:nvSpPr>
          <p:cNvPr id="2" name="TextBox 1">
            <a:extLst>
              <a:ext uri="{FF2B5EF4-FFF2-40B4-BE49-F238E27FC236}">
                <a16:creationId xmlns:a16="http://schemas.microsoft.com/office/drawing/2014/main" id="{2179ED4A-681F-D7EE-A13D-8B01593B524B}"/>
              </a:ext>
            </a:extLst>
          </p:cNvPr>
          <p:cNvSpPr txBox="1"/>
          <p:nvPr/>
        </p:nvSpPr>
        <p:spPr>
          <a:xfrm>
            <a:off x="7061982" y="4712677"/>
            <a:ext cx="3094892" cy="400110"/>
          </a:xfrm>
          <a:prstGeom prst="rect">
            <a:avLst/>
          </a:prstGeom>
          <a:noFill/>
        </p:spPr>
        <p:txBody>
          <a:bodyPr wrap="square" rtlCol="0">
            <a:spAutoFit/>
          </a:bodyPr>
          <a:lstStyle/>
          <a:p>
            <a:pPr algn="ctr"/>
            <a:r>
              <a:rPr lang="en-US" sz="2000" dirty="0">
                <a:solidFill>
                  <a:schemeClr val="bg1"/>
                </a:solidFill>
                <a:latin typeface="Montserrat Medium" pitchFamily="2" charset="77"/>
              </a:rPr>
              <a:t>Andre Warsaw</a:t>
            </a:r>
          </a:p>
        </p:txBody>
      </p:sp>
    </p:spTree>
    <p:extLst>
      <p:ext uri="{BB962C8B-B14F-4D97-AF65-F5344CB8AC3E}">
        <p14:creationId xmlns:p14="http://schemas.microsoft.com/office/powerpoint/2010/main" val="3020953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920F00"/>
        </a:solid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F03D6128-FF12-AA01-5C68-11281CDF8CD7}"/>
              </a:ext>
            </a:extLst>
          </p:cNvPr>
          <p:cNvGrpSpPr/>
          <p:nvPr/>
        </p:nvGrpSpPr>
        <p:grpSpPr>
          <a:xfrm>
            <a:off x="-2013845" y="0"/>
            <a:ext cx="2823530" cy="6858000"/>
            <a:chOff x="9481484" y="0"/>
            <a:chExt cx="2823530" cy="6858000"/>
          </a:xfrm>
        </p:grpSpPr>
        <p:sp>
          <p:nvSpPr>
            <p:cNvPr id="18" name="Rectangle 17">
              <a:extLst>
                <a:ext uri="{FF2B5EF4-FFF2-40B4-BE49-F238E27FC236}">
                  <a16:creationId xmlns:a16="http://schemas.microsoft.com/office/drawing/2014/main" id="{B0060C13-ED8A-FEB8-5FDE-A379D607F281}"/>
                </a:ext>
              </a:extLst>
            </p:cNvPr>
            <p:cNvSpPr/>
            <p:nvPr/>
          </p:nvSpPr>
          <p:spPr>
            <a:xfrm>
              <a:off x="9564129" y="0"/>
              <a:ext cx="2627871" cy="6858000"/>
            </a:xfrm>
            <a:prstGeom prst="rect">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C498303-2942-8908-BF0E-55C74A4E77D3}"/>
                </a:ext>
              </a:extLst>
            </p:cNvPr>
            <p:cNvSpPr txBox="1"/>
            <p:nvPr/>
          </p:nvSpPr>
          <p:spPr>
            <a:xfrm>
              <a:off x="9681072" y="444542"/>
              <a:ext cx="2610089"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D</a:t>
              </a:r>
              <a:endParaRPr lang="en-US" sz="8000" b="1" dirty="0">
                <a:solidFill>
                  <a:schemeClr val="bg1"/>
                </a:solidFill>
                <a:latin typeface="Montserrat Black" pitchFamily="2" charset="77"/>
              </a:endParaRPr>
            </a:p>
          </p:txBody>
        </p:sp>
        <p:sp>
          <p:nvSpPr>
            <p:cNvPr id="9" name="TextBox 8">
              <a:extLst>
                <a:ext uri="{FF2B5EF4-FFF2-40B4-BE49-F238E27FC236}">
                  <a16:creationId xmlns:a16="http://schemas.microsoft.com/office/drawing/2014/main" id="{0D06E502-59AF-03E2-D2C1-4E7B8A837717}"/>
                </a:ext>
              </a:extLst>
            </p:cNvPr>
            <p:cNvSpPr txBox="1"/>
            <p:nvPr/>
          </p:nvSpPr>
          <p:spPr>
            <a:xfrm>
              <a:off x="9481484" y="2242254"/>
              <a:ext cx="2823530" cy="2677656"/>
            </a:xfrm>
            <a:prstGeom prst="rect">
              <a:avLst/>
            </a:prstGeom>
            <a:noFill/>
          </p:spPr>
          <p:txBody>
            <a:bodyPr wrap="square" rtlCol="0">
              <a:spAutoFit/>
            </a:bodyPr>
            <a:lstStyle/>
            <a:p>
              <a:pPr algn="ctr"/>
              <a:r>
                <a:rPr lang="en-US" sz="2400" b="1" dirty="0">
                  <a:solidFill>
                    <a:schemeClr val="bg1"/>
                  </a:solidFill>
                  <a:latin typeface="Montserrat" pitchFamily="2" charset="77"/>
                </a:rPr>
                <a:t>Final Remarks</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As I have reached the end of this project there are some things I noticed I could have done to improve the final product if given more time to refine it.</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5" name="Group 14">
            <a:extLst>
              <a:ext uri="{FF2B5EF4-FFF2-40B4-BE49-F238E27FC236}">
                <a16:creationId xmlns:a16="http://schemas.microsoft.com/office/drawing/2014/main" id="{0785A232-C6C5-3202-9E80-F1763082BB5C}"/>
              </a:ext>
            </a:extLst>
          </p:cNvPr>
          <p:cNvGrpSpPr/>
          <p:nvPr/>
        </p:nvGrpSpPr>
        <p:grpSpPr>
          <a:xfrm>
            <a:off x="-2531162" y="0"/>
            <a:ext cx="3699525" cy="6858000"/>
            <a:chOff x="6376086" y="0"/>
            <a:chExt cx="3699525" cy="6858000"/>
          </a:xfrm>
        </p:grpSpPr>
        <p:sp>
          <p:nvSpPr>
            <p:cNvPr id="17" name="Rectangle 16">
              <a:extLst>
                <a:ext uri="{FF2B5EF4-FFF2-40B4-BE49-F238E27FC236}">
                  <a16:creationId xmlns:a16="http://schemas.microsoft.com/office/drawing/2014/main" id="{314A0242-8181-8B62-337F-32D3499293E3}"/>
                </a:ext>
              </a:extLst>
            </p:cNvPr>
            <p:cNvSpPr/>
            <p:nvPr/>
          </p:nvSpPr>
          <p:spPr>
            <a:xfrm>
              <a:off x="6376086" y="0"/>
              <a:ext cx="3188043" cy="6858000"/>
            </a:xfrm>
            <a:prstGeom prst="rect">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riangle 20">
              <a:extLst>
                <a:ext uri="{FF2B5EF4-FFF2-40B4-BE49-F238E27FC236}">
                  <a16:creationId xmlns:a16="http://schemas.microsoft.com/office/drawing/2014/main" id="{868675E6-8602-FF00-D218-C7720F3E5676}"/>
                </a:ext>
              </a:extLst>
            </p:cNvPr>
            <p:cNvSpPr/>
            <p:nvPr/>
          </p:nvSpPr>
          <p:spPr>
            <a:xfrm rot="5400000">
              <a:off x="9226084" y="1158670"/>
              <a:ext cx="1105930" cy="593125"/>
            </a:xfrm>
            <a:prstGeom prst="triangle">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F92EE2F-C2B7-3889-9BE2-FC4DA942BB14}"/>
                </a:ext>
              </a:extLst>
            </p:cNvPr>
            <p:cNvSpPr txBox="1"/>
            <p:nvPr/>
          </p:nvSpPr>
          <p:spPr>
            <a:xfrm>
              <a:off x="6491698"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C</a:t>
              </a:r>
              <a:endParaRPr lang="en-US" sz="8000" b="1" dirty="0">
                <a:solidFill>
                  <a:schemeClr val="bg1"/>
                </a:solidFill>
                <a:latin typeface="Montserrat Black" pitchFamily="2" charset="77"/>
              </a:endParaRPr>
            </a:p>
          </p:txBody>
        </p:sp>
        <p:sp>
          <p:nvSpPr>
            <p:cNvPr id="7" name="TextBox 6">
              <a:extLst>
                <a:ext uri="{FF2B5EF4-FFF2-40B4-BE49-F238E27FC236}">
                  <a16:creationId xmlns:a16="http://schemas.microsoft.com/office/drawing/2014/main" id="{707C8105-01BB-AB0E-6393-7A0107B43070}"/>
                </a:ext>
              </a:extLst>
            </p:cNvPr>
            <p:cNvSpPr txBox="1"/>
            <p:nvPr/>
          </p:nvSpPr>
          <p:spPr>
            <a:xfrm>
              <a:off x="6558341" y="2227640"/>
              <a:ext cx="2823530" cy="4278094"/>
            </a:xfrm>
            <a:prstGeom prst="rect">
              <a:avLst/>
            </a:prstGeom>
            <a:noFill/>
          </p:spPr>
          <p:txBody>
            <a:bodyPr wrap="square" rtlCol="0">
              <a:spAutoFit/>
            </a:bodyPr>
            <a:lstStyle/>
            <a:p>
              <a:pPr algn="ctr"/>
              <a:r>
                <a:rPr lang="en-US" sz="2000" b="1" dirty="0">
                  <a:solidFill>
                    <a:schemeClr val="bg1"/>
                  </a:solidFill>
                  <a:latin typeface="Montserrat" pitchFamily="2" charset="77"/>
                </a:rPr>
                <a:t>Inventory Manager</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Used machine learning models to help with creating an inventory manager tool. The tool is provided in an R Studio quarto document, where the customer only needs to upload the most recent csv file and update chunks in areas that are noted then run every chunk to receive a new csv file which provides a list of items each store should hold based on available SKU counts for each individual store, priority and parameters I have set for each tier of store.</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4" name="Group 13">
            <a:extLst>
              <a:ext uri="{FF2B5EF4-FFF2-40B4-BE49-F238E27FC236}">
                <a16:creationId xmlns:a16="http://schemas.microsoft.com/office/drawing/2014/main" id="{F1188796-1853-C15B-508F-2FE953276CAD}"/>
              </a:ext>
            </a:extLst>
          </p:cNvPr>
          <p:cNvGrpSpPr/>
          <p:nvPr/>
        </p:nvGrpSpPr>
        <p:grpSpPr>
          <a:xfrm>
            <a:off x="-2804548" y="-1"/>
            <a:ext cx="3721672" cy="6889681"/>
            <a:chOff x="3188043" y="-1"/>
            <a:chExt cx="3721672" cy="6889681"/>
          </a:xfrm>
        </p:grpSpPr>
        <p:sp>
          <p:nvSpPr>
            <p:cNvPr id="16" name="Rectangle 15">
              <a:extLst>
                <a:ext uri="{FF2B5EF4-FFF2-40B4-BE49-F238E27FC236}">
                  <a16:creationId xmlns:a16="http://schemas.microsoft.com/office/drawing/2014/main" id="{BE73A84E-820E-C308-82A2-BE908F49CB53}"/>
                </a:ext>
              </a:extLst>
            </p:cNvPr>
            <p:cNvSpPr/>
            <p:nvPr/>
          </p:nvSpPr>
          <p:spPr>
            <a:xfrm>
              <a:off x="3188043" y="-1"/>
              <a:ext cx="3188043" cy="6858000"/>
            </a:xfrm>
            <a:prstGeom prst="rect">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riangle 19">
              <a:extLst>
                <a:ext uri="{FF2B5EF4-FFF2-40B4-BE49-F238E27FC236}">
                  <a16:creationId xmlns:a16="http://schemas.microsoft.com/office/drawing/2014/main" id="{50731671-F3A2-B0DB-CD29-002AC22F6C1F}"/>
                </a:ext>
              </a:extLst>
            </p:cNvPr>
            <p:cNvSpPr/>
            <p:nvPr/>
          </p:nvSpPr>
          <p:spPr>
            <a:xfrm rot="5400000">
              <a:off x="6060188" y="1142339"/>
              <a:ext cx="1105930" cy="593125"/>
            </a:xfrm>
            <a:prstGeom prst="triangle">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05F87F7A-66F1-A658-A651-2DCDB4D04BB1}"/>
                </a:ext>
              </a:extLst>
            </p:cNvPr>
            <p:cNvSpPr txBox="1"/>
            <p:nvPr/>
          </p:nvSpPr>
          <p:spPr>
            <a:xfrm>
              <a:off x="3303655"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B</a:t>
              </a:r>
              <a:endParaRPr lang="en-US" sz="8000" b="1" dirty="0">
                <a:solidFill>
                  <a:schemeClr val="bg1"/>
                </a:solidFill>
                <a:latin typeface="Montserrat Black" pitchFamily="2" charset="77"/>
              </a:endParaRPr>
            </a:p>
          </p:txBody>
        </p:sp>
        <p:sp>
          <p:nvSpPr>
            <p:cNvPr id="5" name="TextBox 4">
              <a:extLst>
                <a:ext uri="{FF2B5EF4-FFF2-40B4-BE49-F238E27FC236}">
                  <a16:creationId xmlns:a16="http://schemas.microsoft.com/office/drawing/2014/main" id="{FE606385-07B6-15EB-5E12-0B840350A3A4}"/>
                </a:ext>
              </a:extLst>
            </p:cNvPr>
            <p:cNvSpPr txBox="1"/>
            <p:nvPr/>
          </p:nvSpPr>
          <p:spPr>
            <a:xfrm>
              <a:off x="3370298" y="2242254"/>
              <a:ext cx="2823530" cy="4647426"/>
            </a:xfrm>
            <a:prstGeom prst="rect">
              <a:avLst/>
            </a:prstGeom>
            <a:noFill/>
          </p:spPr>
          <p:txBody>
            <a:bodyPr wrap="square" rtlCol="0">
              <a:spAutoFit/>
            </a:bodyPr>
            <a:lstStyle/>
            <a:p>
              <a:pPr algn="ctr"/>
              <a:r>
                <a:rPr lang="en-US" b="1" dirty="0">
                  <a:solidFill>
                    <a:schemeClr val="bg1"/>
                  </a:solidFill>
                  <a:latin typeface="Montserrat" pitchFamily="2" charset="77"/>
                </a:rPr>
                <a:t>Variable Engineering and Modeling</a:t>
              </a: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I created a new variable named “priority” by observing items in their dataset and separated items by three different tiers. High Priority items are the top 25% performing items globally, Medium priority the middle 50%, and low priority the lowest 25% performing items globally. The items are observed on a yearly basis. I then used priority as the main variable to create a formula for a machine learning model to help with predicting how items would perform in future years based on current performance. </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3" name="Group 12">
            <a:extLst>
              <a:ext uri="{FF2B5EF4-FFF2-40B4-BE49-F238E27FC236}">
                <a16:creationId xmlns:a16="http://schemas.microsoft.com/office/drawing/2014/main" id="{E5FDC5B7-FB54-9BBC-799B-5E48DD757DAE}"/>
              </a:ext>
            </a:extLst>
          </p:cNvPr>
          <p:cNvGrpSpPr/>
          <p:nvPr/>
        </p:nvGrpSpPr>
        <p:grpSpPr>
          <a:xfrm>
            <a:off x="-3082720" y="-3"/>
            <a:ext cx="3746164" cy="6858002"/>
            <a:chOff x="0" y="-1"/>
            <a:chExt cx="3746164" cy="6858002"/>
          </a:xfrm>
        </p:grpSpPr>
        <p:sp>
          <p:nvSpPr>
            <p:cNvPr id="2" name="Rectangle 1">
              <a:extLst>
                <a:ext uri="{FF2B5EF4-FFF2-40B4-BE49-F238E27FC236}">
                  <a16:creationId xmlns:a16="http://schemas.microsoft.com/office/drawing/2014/main" id="{4101F35A-CE8A-62A2-80A2-4FE67958A8A2}"/>
                </a:ext>
              </a:extLst>
            </p:cNvPr>
            <p:cNvSpPr/>
            <p:nvPr/>
          </p:nvSpPr>
          <p:spPr>
            <a:xfrm>
              <a:off x="0" y="-1"/>
              <a:ext cx="3188043" cy="6858002"/>
            </a:xfrm>
            <a:prstGeom prst="rect">
              <a:avLst/>
            </a:prstGeom>
            <a:solidFill>
              <a:srgbClr val="FE00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6000" dirty="0">
                <a:latin typeface=""/>
              </a:endParaRPr>
            </a:p>
          </p:txBody>
        </p:sp>
        <p:sp>
          <p:nvSpPr>
            <p:cNvPr id="19" name="Triangle 18">
              <a:extLst>
                <a:ext uri="{FF2B5EF4-FFF2-40B4-BE49-F238E27FC236}">
                  <a16:creationId xmlns:a16="http://schemas.microsoft.com/office/drawing/2014/main" id="{9A59E2A7-B00D-B5D2-DFB6-B6EFB0890D7D}"/>
                </a:ext>
              </a:extLst>
            </p:cNvPr>
            <p:cNvSpPr/>
            <p:nvPr/>
          </p:nvSpPr>
          <p:spPr>
            <a:xfrm rot="5400000">
              <a:off x="2896637" y="1134837"/>
              <a:ext cx="1105930" cy="593125"/>
            </a:xfrm>
            <a:prstGeom prst="triangle">
              <a:avLst/>
            </a:prstGeom>
            <a:solidFill>
              <a:srgbClr val="FE00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E95C0D0F-3B69-010C-6169-6BC31BB27718}"/>
                </a:ext>
              </a:extLst>
            </p:cNvPr>
            <p:cNvSpPr txBox="1"/>
            <p:nvPr/>
          </p:nvSpPr>
          <p:spPr>
            <a:xfrm>
              <a:off x="115612"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A</a:t>
              </a:r>
              <a:endParaRPr lang="en-US" sz="8000" b="1" dirty="0">
                <a:solidFill>
                  <a:schemeClr val="bg1"/>
                </a:solidFill>
                <a:latin typeface="Montserrat Black" pitchFamily="2" charset="77"/>
              </a:endParaRPr>
            </a:p>
          </p:txBody>
        </p:sp>
        <p:sp>
          <p:nvSpPr>
            <p:cNvPr id="3" name="TextBox 2">
              <a:extLst>
                <a:ext uri="{FF2B5EF4-FFF2-40B4-BE49-F238E27FC236}">
                  <a16:creationId xmlns:a16="http://schemas.microsoft.com/office/drawing/2014/main" id="{9251F5BE-7692-5ABA-8404-1495C0D115E2}"/>
                </a:ext>
              </a:extLst>
            </p:cNvPr>
            <p:cNvSpPr txBox="1"/>
            <p:nvPr/>
          </p:nvSpPr>
          <p:spPr>
            <a:xfrm>
              <a:off x="179910" y="2206072"/>
              <a:ext cx="2823530" cy="3785652"/>
            </a:xfrm>
            <a:prstGeom prst="rect">
              <a:avLst/>
            </a:prstGeom>
            <a:noFill/>
          </p:spPr>
          <p:txBody>
            <a:bodyPr wrap="square" rtlCol="0">
              <a:spAutoFit/>
            </a:bodyPr>
            <a:lstStyle/>
            <a:p>
              <a:pPr algn="ctr"/>
              <a:r>
                <a:rPr lang="en-US" sz="2400" b="1">
                  <a:solidFill>
                    <a:schemeClr val="bg1"/>
                  </a:solidFill>
                  <a:latin typeface="Montserrat" pitchFamily="2" charset="77"/>
                </a:rPr>
                <a:t>Current Method</a:t>
              </a:r>
            </a:p>
            <a:p>
              <a:pPr algn="ctr"/>
              <a:endParaRPr lang="en-US" sz="1600">
                <a:solidFill>
                  <a:schemeClr val="bg1"/>
                </a:solidFill>
                <a:latin typeface="Montserrat" pitchFamily="2" charset="77"/>
              </a:endParaRPr>
            </a:p>
            <a:p>
              <a:pPr algn="ctr"/>
              <a:endParaRPr lang="en-US" sz="1600">
                <a:solidFill>
                  <a:schemeClr val="bg1"/>
                </a:solidFill>
                <a:latin typeface="Montserrat" pitchFamily="2" charset="77"/>
              </a:endParaRPr>
            </a:p>
            <a:p>
              <a:pPr algn="ctr"/>
              <a:r>
                <a:rPr lang="en-US" sz="1200">
                  <a:solidFill>
                    <a:schemeClr val="bg1"/>
                  </a:solidFill>
                  <a:latin typeface="Montserrat" pitchFamily="2" charset="77"/>
                </a:rPr>
                <a:t>ABS team currently observes their buying patterns through two observations including store size and store performance. For my project I have included two variables named “storesizecat” which includes their ranking of store sizes and “storetiercat” which includes their financial performance rankings based on ABS preset parameters. </a:t>
              </a:r>
            </a:p>
            <a:p>
              <a:pPr algn="ctr"/>
              <a:endParaRPr lang="en-US" b="1">
                <a:solidFill>
                  <a:schemeClr val="bg1"/>
                </a:solidFill>
                <a:latin typeface="Montserrat" pitchFamily="2" charset="77"/>
              </a:endParaRPr>
            </a:p>
            <a:p>
              <a:pPr algn="ctr"/>
              <a:endParaRPr lang="en-US" b="1">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sp>
        <p:nvSpPr>
          <p:cNvPr id="24" name="TextBox 23">
            <a:extLst>
              <a:ext uri="{FF2B5EF4-FFF2-40B4-BE49-F238E27FC236}">
                <a16:creationId xmlns:a16="http://schemas.microsoft.com/office/drawing/2014/main" id="{5FA35640-27C2-3418-4226-448DD1BA8EEF}"/>
              </a:ext>
            </a:extLst>
          </p:cNvPr>
          <p:cNvSpPr txBox="1"/>
          <p:nvPr/>
        </p:nvSpPr>
        <p:spPr>
          <a:xfrm>
            <a:off x="1945240" y="532935"/>
            <a:ext cx="8301519" cy="923330"/>
          </a:xfrm>
          <a:prstGeom prst="rect">
            <a:avLst/>
          </a:prstGeom>
          <a:noFill/>
        </p:spPr>
        <p:txBody>
          <a:bodyPr wrap="square" rtlCol="0">
            <a:spAutoFit/>
          </a:bodyPr>
          <a:lstStyle/>
          <a:p>
            <a:pPr algn="ctr"/>
            <a:r>
              <a:rPr lang="en-US" sz="5400" b="1" dirty="0">
                <a:solidFill>
                  <a:schemeClr val="bg1"/>
                </a:solidFill>
                <a:latin typeface="Montserrat Black" pitchFamily="2" charset="77"/>
              </a:rPr>
              <a:t>Purpose</a:t>
            </a:r>
            <a:endParaRPr lang="en-US" b="1" dirty="0">
              <a:solidFill>
                <a:schemeClr val="bg1"/>
              </a:solidFill>
              <a:latin typeface="Montserrat Black" pitchFamily="2" charset="77"/>
            </a:endParaRPr>
          </a:p>
        </p:txBody>
      </p:sp>
      <p:sp>
        <p:nvSpPr>
          <p:cNvPr id="26" name="TextBox 25">
            <a:extLst>
              <a:ext uri="{FF2B5EF4-FFF2-40B4-BE49-F238E27FC236}">
                <a16:creationId xmlns:a16="http://schemas.microsoft.com/office/drawing/2014/main" id="{8684162C-D7AD-6862-A3EB-B6DA215818FF}"/>
              </a:ext>
            </a:extLst>
          </p:cNvPr>
          <p:cNvSpPr txBox="1"/>
          <p:nvPr/>
        </p:nvSpPr>
        <p:spPr>
          <a:xfrm>
            <a:off x="1919554" y="1984363"/>
            <a:ext cx="8352890" cy="1200329"/>
          </a:xfrm>
          <a:prstGeom prst="rect">
            <a:avLst/>
          </a:prstGeom>
          <a:noFill/>
        </p:spPr>
        <p:txBody>
          <a:bodyPr wrap="square" rtlCol="0">
            <a:spAutoFit/>
          </a:bodyPr>
          <a:lstStyle/>
          <a:p>
            <a:pPr algn="ctr"/>
            <a:r>
              <a:rPr lang="en-US" dirty="0">
                <a:solidFill>
                  <a:schemeClr val="bg1"/>
                </a:solidFill>
                <a:latin typeface="Montserrat" pitchFamily="2" charset="77"/>
              </a:rPr>
              <a:t>To help the Montgomery County Alcohol and Beverage Services team with optimizing their method of observing buying patterns between all 27 locations. The final goal is to help ABS save money by using research and analysis to determine best practices for future operations.</a:t>
            </a:r>
          </a:p>
        </p:txBody>
      </p:sp>
      <p:sp>
        <p:nvSpPr>
          <p:cNvPr id="10" name="TextBox 9">
            <a:extLst>
              <a:ext uri="{FF2B5EF4-FFF2-40B4-BE49-F238E27FC236}">
                <a16:creationId xmlns:a16="http://schemas.microsoft.com/office/drawing/2014/main" id="{21F48A47-D9F9-30F1-C7A9-1C1FEACF3583}"/>
              </a:ext>
            </a:extLst>
          </p:cNvPr>
          <p:cNvSpPr txBox="1"/>
          <p:nvPr/>
        </p:nvSpPr>
        <p:spPr>
          <a:xfrm>
            <a:off x="1919554" y="4098896"/>
            <a:ext cx="8352890" cy="923330"/>
          </a:xfrm>
          <a:prstGeom prst="rect">
            <a:avLst/>
          </a:prstGeom>
          <a:noFill/>
        </p:spPr>
        <p:txBody>
          <a:bodyPr wrap="square" rtlCol="0">
            <a:spAutoFit/>
          </a:bodyPr>
          <a:lstStyle/>
          <a:p>
            <a:pPr algn="ctr"/>
            <a:r>
              <a:rPr lang="en-US" dirty="0">
                <a:solidFill>
                  <a:schemeClr val="bg1"/>
                </a:solidFill>
                <a:latin typeface="Montserrat" pitchFamily="2" charset="77"/>
              </a:rPr>
              <a:t>This will be accomplished by using transaction data provided by ABS along with using R Studio exclusively with no more than 5 libraries for all operations </a:t>
            </a:r>
          </a:p>
        </p:txBody>
      </p:sp>
    </p:spTree>
    <p:extLst>
      <p:ext uri="{BB962C8B-B14F-4D97-AF65-F5344CB8AC3E}">
        <p14:creationId xmlns:p14="http://schemas.microsoft.com/office/powerpoint/2010/main" val="13317391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A30004"/>
        </a:solidFill>
        <a:effectLst/>
      </p:bgPr>
    </p:bg>
    <p:spTree>
      <p:nvGrpSpPr>
        <p:cNvPr id="1" name="">
          <a:extLst>
            <a:ext uri="{FF2B5EF4-FFF2-40B4-BE49-F238E27FC236}">
              <a16:creationId xmlns:a16="http://schemas.microsoft.com/office/drawing/2014/main" id="{6C91E266-AE8D-BA0D-1CD8-DF8BAB20FBBD}"/>
            </a:ext>
          </a:extLst>
        </p:cNvPr>
        <p:cNvGrpSpPr/>
        <p:nvPr/>
      </p:nvGrpSpPr>
      <p:grpSpPr>
        <a:xfrm>
          <a:off x="0" y="0"/>
          <a:ext cx="0" cy="0"/>
          <a:chOff x="0" y="0"/>
          <a:chExt cx="0" cy="0"/>
        </a:xfrm>
      </p:grpSpPr>
      <p:grpSp>
        <p:nvGrpSpPr>
          <p:cNvPr id="23" name="Group 22">
            <a:extLst>
              <a:ext uri="{FF2B5EF4-FFF2-40B4-BE49-F238E27FC236}">
                <a16:creationId xmlns:a16="http://schemas.microsoft.com/office/drawing/2014/main" id="{1A356E93-5677-529F-96CB-747D06851B63}"/>
              </a:ext>
            </a:extLst>
          </p:cNvPr>
          <p:cNvGrpSpPr/>
          <p:nvPr/>
        </p:nvGrpSpPr>
        <p:grpSpPr>
          <a:xfrm>
            <a:off x="9481484" y="0"/>
            <a:ext cx="2823530" cy="6858000"/>
            <a:chOff x="9481484" y="0"/>
            <a:chExt cx="2823530" cy="6858000"/>
          </a:xfrm>
        </p:grpSpPr>
        <p:sp>
          <p:nvSpPr>
            <p:cNvPr id="18" name="Rectangle 17">
              <a:extLst>
                <a:ext uri="{FF2B5EF4-FFF2-40B4-BE49-F238E27FC236}">
                  <a16:creationId xmlns:a16="http://schemas.microsoft.com/office/drawing/2014/main" id="{2485B0D4-B08D-6B17-D7CA-A989A05E662E}"/>
                </a:ext>
              </a:extLst>
            </p:cNvPr>
            <p:cNvSpPr/>
            <p:nvPr/>
          </p:nvSpPr>
          <p:spPr>
            <a:xfrm>
              <a:off x="9564129" y="0"/>
              <a:ext cx="2627871" cy="6858000"/>
            </a:xfrm>
            <a:prstGeom prst="rect">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4DB41AA3-6737-2E18-B6A9-286B0AC7AB7E}"/>
                </a:ext>
              </a:extLst>
            </p:cNvPr>
            <p:cNvSpPr txBox="1"/>
            <p:nvPr/>
          </p:nvSpPr>
          <p:spPr>
            <a:xfrm>
              <a:off x="9681072" y="444542"/>
              <a:ext cx="2610089"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D</a:t>
              </a:r>
              <a:endParaRPr lang="en-US" sz="8000" b="1" dirty="0">
                <a:solidFill>
                  <a:schemeClr val="bg1"/>
                </a:solidFill>
                <a:latin typeface="Montserrat Black" pitchFamily="2" charset="77"/>
              </a:endParaRPr>
            </a:p>
          </p:txBody>
        </p:sp>
        <p:sp>
          <p:nvSpPr>
            <p:cNvPr id="9" name="TextBox 8">
              <a:extLst>
                <a:ext uri="{FF2B5EF4-FFF2-40B4-BE49-F238E27FC236}">
                  <a16:creationId xmlns:a16="http://schemas.microsoft.com/office/drawing/2014/main" id="{641935F6-3CEE-7C0B-3A64-4C8044C95048}"/>
                </a:ext>
              </a:extLst>
            </p:cNvPr>
            <p:cNvSpPr txBox="1"/>
            <p:nvPr/>
          </p:nvSpPr>
          <p:spPr>
            <a:xfrm>
              <a:off x="9481484" y="2242254"/>
              <a:ext cx="2823530" cy="2677656"/>
            </a:xfrm>
            <a:prstGeom prst="rect">
              <a:avLst/>
            </a:prstGeom>
            <a:noFill/>
          </p:spPr>
          <p:txBody>
            <a:bodyPr wrap="square" rtlCol="0">
              <a:spAutoFit/>
            </a:bodyPr>
            <a:lstStyle/>
            <a:p>
              <a:pPr algn="ctr"/>
              <a:r>
                <a:rPr lang="en-US" sz="2400" b="1" dirty="0">
                  <a:solidFill>
                    <a:schemeClr val="bg1"/>
                  </a:solidFill>
                  <a:latin typeface="Montserrat" pitchFamily="2" charset="77"/>
                </a:rPr>
                <a:t>Final Remarks</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As I have reached the end of this project there are some things I noticed I could have done to improve the final product if given more time to refine it.</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5" name="Group 14">
            <a:extLst>
              <a:ext uri="{FF2B5EF4-FFF2-40B4-BE49-F238E27FC236}">
                <a16:creationId xmlns:a16="http://schemas.microsoft.com/office/drawing/2014/main" id="{15AAE335-4A70-9F7A-570E-447BC66A1996}"/>
              </a:ext>
            </a:extLst>
          </p:cNvPr>
          <p:cNvGrpSpPr/>
          <p:nvPr/>
        </p:nvGrpSpPr>
        <p:grpSpPr>
          <a:xfrm>
            <a:off x="6376086" y="0"/>
            <a:ext cx="3699525" cy="6858000"/>
            <a:chOff x="6376086" y="0"/>
            <a:chExt cx="3699525" cy="6858000"/>
          </a:xfrm>
        </p:grpSpPr>
        <p:sp>
          <p:nvSpPr>
            <p:cNvPr id="17" name="Rectangle 16">
              <a:extLst>
                <a:ext uri="{FF2B5EF4-FFF2-40B4-BE49-F238E27FC236}">
                  <a16:creationId xmlns:a16="http://schemas.microsoft.com/office/drawing/2014/main" id="{EAE7F3B9-7B49-FD06-0036-F157891E4589}"/>
                </a:ext>
              </a:extLst>
            </p:cNvPr>
            <p:cNvSpPr/>
            <p:nvPr/>
          </p:nvSpPr>
          <p:spPr>
            <a:xfrm>
              <a:off x="6376086" y="0"/>
              <a:ext cx="3188043" cy="6858000"/>
            </a:xfrm>
            <a:prstGeom prst="rect">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riangle 20">
              <a:extLst>
                <a:ext uri="{FF2B5EF4-FFF2-40B4-BE49-F238E27FC236}">
                  <a16:creationId xmlns:a16="http://schemas.microsoft.com/office/drawing/2014/main" id="{FA0BDC8C-DA67-A525-F36B-72F69DE895DC}"/>
                </a:ext>
              </a:extLst>
            </p:cNvPr>
            <p:cNvSpPr/>
            <p:nvPr/>
          </p:nvSpPr>
          <p:spPr>
            <a:xfrm rot="5400000">
              <a:off x="9226084" y="1158670"/>
              <a:ext cx="1105930" cy="593125"/>
            </a:xfrm>
            <a:prstGeom prst="triangle">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9387550-54AC-BE3F-17AF-3F5B29B8674D}"/>
                </a:ext>
              </a:extLst>
            </p:cNvPr>
            <p:cNvSpPr txBox="1"/>
            <p:nvPr/>
          </p:nvSpPr>
          <p:spPr>
            <a:xfrm>
              <a:off x="6491698"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C</a:t>
              </a:r>
              <a:endParaRPr lang="en-US" sz="8000" b="1" dirty="0">
                <a:solidFill>
                  <a:schemeClr val="bg1"/>
                </a:solidFill>
                <a:latin typeface="Montserrat Black" pitchFamily="2" charset="77"/>
              </a:endParaRPr>
            </a:p>
          </p:txBody>
        </p:sp>
        <p:sp>
          <p:nvSpPr>
            <p:cNvPr id="7" name="TextBox 6">
              <a:extLst>
                <a:ext uri="{FF2B5EF4-FFF2-40B4-BE49-F238E27FC236}">
                  <a16:creationId xmlns:a16="http://schemas.microsoft.com/office/drawing/2014/main" id="{E2E2A900-D8CF-44CE-3521-4B5DF4523064}"/>
                </a:ext>
              </a:extLst>
            </p:cNvPr>
            <p:cNvSpPr txBox="1"/>
            <p:nvPr/>
          </p:nvSpPr>
          <p:spPr>
            <a:xfrm>
              <a:off x="6558341" y="2227640"/>
              <a:ext cx="2823530" cy="4278094"/>
            </a:xfrm>
            <a:prstGeom prst="rect">
              <a:avLst/>
            </a:prstGeom>
            <a:noFill/>
          </p:spPr>
          <p:txBody>
            <a:bodyPr wrap="square" rtlCol="0">
              <a:spAutoFit/>
            </a:bodyPr>
            <a:lstStyle/>
            <a:p>
              <a:pPr algn="ctr"/>
              <a:r>
                <a:rPr lang="en-US" sz="2000" b="1" dirty="0">
                  <a:solidFill>
                    <a:schemeClr val="bg1"/>
                  </a:solidFill>
                  <a:latin typeface="Montserrat" pitchFamily="2" charset="77"/>
                </a:rPr>
                <a:t>Inventory Manager</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Used machine learning models to help with creating an inventory manager tool. The tool is provided in an R Studio quarto document, where the customer only needs to upload the most recent csv file and update chunks in areas that are noted then run every chunk to receive a new csv file which provides a list of items each store should hold based on available SKU counts for each individual store, priority and parameters I have set for each tier of store.</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4" name="Group 13">
            <a:extLst>
              <a:ext uri="{FF2B5EF4-FFF2-40B4-BE49-F238E27FC236}">
                <a16:creationId xmlns:a16="http://schemas.microsoft.com/office/drawing/2014/main" id="{B125B1BD-F8AB-3BEC-986B-FF78296D5ED6}"/>
              </a:ext>
            </a:extLst>
          </p:cNvPr>
          <p:cNvGrpSpPr/>
          <p:nvPr/>
        </p:nvGrpSpPr>
        <p:grpSpPr>
          <a:xfrm>
            <a:off x="3188043" y="-1"/>
            <a:ext cx="3721672" cy="6889681"/>
            <a:chOff x="3188043" y="-1"/>
            <a:chExt cx="3721672" cy="6889681"/>
          </a:xfrm>
        </p:grpSpPr>
        <p:sp>
          <p:nvSpPr>
            <p:cNvPr id="16" name="Rectangle 15">
              <a:extLst>
                <a:ext uri="{FF2B5EF4-FFF2-40B4-BE49-F238E27FC236}">
                  <a16:creationId xmlns:a16="http://schemas.microsoft.com/office/drawing/2014/main" id="{F3816744-C19D-37FF-9B44-CAE70933D65B}"/>
                </a:ext>
              </a:extLst>
            </p:cNvPr>
            <p:cNvSpPr/>
            <p:nvPr/>
          </p:nvSpPr>
          <p:spPr>
            <a:xfrm>
              <a:off x="3188043" y="-1"/>
              <a:ext cx="3188043" cy="6858000"/>
            </a:xfrm>
            <a:prstGeom prst="rect">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riangle 19">
              <a:extLst>
                <a:ext uri="{FF2B5EF4-FFF2-40B4-BE49-F238E27FC236}">
                  <a16:creationId xmlns:a16="http://schemas.microsoft.com/office/drawing/2014/main" id="{95C06F88-4B24-CFB1-D358-1D8EDF81B295}"/>
                </a:ext>
              </a:extLst>
            </p:cNvPr>
            <p:cNvSpPr/>
            <p:nvPr/>
          </p:nvSpPr>
          <p:spPr>
            <a:xfrm rot="5400000">
              <a:off x="6060188" y="1142339"/>
              <a:ext cx="1105930" cy="593125"/>
            </a:xfrm>
            <a:prstGeom prst="triangle">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AB905384-2C28-77F8-F59C-69D93351338C}"/>
                </a:ext>
              </a:extLst>
            </p:cNvPr>
            <p:cNvSpPr txBox="1"/>
            <p:nvPr/>
          </p:nvSpPr>
          <p:spPr>
            <a:xfrm>
              <a:off x="3303655"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B</a:t>
              </a:r>
              <a:endParaRPr lang="en-US" sz="8000" b="1" dirty="0">
                <a:solidFill>
                  <a:schemeClr val="bg1"/>
                </a:solidFill>
                <a:latin typeface="Montserrat Black" pitchFamily="2" charset="77"/>
              </a:endParaRPr>
            </a:p>
          </p:txBody>
        </p:sp>
        <p:sp>
          <p:nvSpPr>
            <p:cNvPr id="5" name="TextBox 4">
              <a:extLst>
                <a:ext uri="{FF2B5EF4-FFF2-40B4-BE49-F238E27FC236}">
                  <a16:creationId xmlns:a16="http://schemas.microsoft.com/office/drawing/2014/main" id="{A0132E7E-EBF5-C330-8F19-4407AADB4CB3}"/>
                </a:ext>
              </a:extLst>
            </p:cNvPr>
            <p:cNvSpPr txBox="1"/>
            <p:nvPr/>
          </p:nvSpPr>
          <p:spPr>
            <a:xfrm>
              <a:off x="3370298" y="2242254"/>
              <a:ext cx="2823530" cy="4647426"/>
            </a:xfrm>
            <a:prstGeom prst="rect">
              <a:avLst/>
            </a:prstGeom>
            <a:noFill/>
          </p:spPr>
          <p:txBody>
            <a:bodyPr wrap="square" rtlCol="0">
              <a:spAutoFit/>
            </a:bodyPr>
            <a:lstStyle/>
            <a:p>
              <a:pPr algn="ctr"/>
              <a:r>
                <a:rPr lang="en-US" b="1" dirty="0">
                  <a:solidFill>
                    <a:schemeClr val="bg1"/>
                  </a:solidFill>
                  <a:latin typeface="Montserrat" pitchFamily="2" charset="77"/>
                </a:rPr>
                <a:t>Variable Engineering and Modeling</a:t>
              </a: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I created a new variable named “priority” by observing items in their dataset and separated items by three different tiers. High Priority items are the top 25% performing items globally, Medium priority the middle 50%, and low priority the lowest 25% performing items globally. The items are observed on a yearly basis. I then used priority as the main variable to create a formula for a machine learning model to help with predicting how items would perform in future years based on current performance. </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3" name="Group 12">
            <a:extLst>
              <a:ext uri="{FF2B5EF4-FFF2-40B4-BE49-F238E27FC236}">
                <a16:creationId xmlns:a16="http://schemas.microsoft.com/office/drawing/2014/main" id="{B87A770C-5DC3-B4ED-7D81-DC1A106F78A4}"/>
              </a:ext>
            </a:extLst>
          </p:cNvPr>
          <p:cNvGrpSpPr/>
          <p:nvPr/>
        </p:nvGrpSpPr>
        <p:grpSpPr>
          <a:xfrm>
            <a:off x="0" y="-1"/>
            <a:ext cx="3746164" cy="6858002"/>
            <a:chOff x="0" y="-1"/>
            <a:chExt cx="3746164" cy="6858002"/>
          </a:xfrm>
        </p:grpSpPr>
        <p:sp>
          <p:nvSpPr>
            <p:cNvPr id="2" name="Rectangle 1">
              <a:extLst>
                <a:ext uri="{FF2B5EF4-FFF2-40B4-BE49-F238E27FC236}">
                  <a16:creationId xmlns:a16="http://schemas.microsoft.com/office/drawing/2014/main" id="{A9BC6C5A-2E23-15BD-5965-5B7C36EFAEC8}"/>
                </a:ext>
              </a:extLst>
            </p:cNvPr>
            <p:cNvSpPr/>
            <p:nvPr/>
          </p:nvSpPr>
          <p:spPr>
            <a:xfrm>
              <a:off x="0" y="-1"/>
              <a:ext cx="3188043" cy="6858002"/>
            </a:xfrm>
            <a:prstGeom prst="rect">
              <a:avLst/>
            </a:prstGeom>
            <a:solidFill>
              <a:srgbClr val="FE00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6000" dirty="0">
                <a:latin typeface=""/>
              </a:endParaRPr>
            </a:p>
          </p:txBody>
        </p:sp>
        <p:sp>
          <p:nvSpPr>
            <p:cNvPr id="19" name="Triangle 18">
              <a:extLst>
                <a:ext uri="{FF2B5EF4-FFF2-40B4-BE49-F238E27FC236}">
                  <a16:creationId xmlns:a16="http://schemas.microsoft.com/office/drawing/2014/main" id="{5FC4A30D-6A5C-9DF4-6059-F630A2365DA3}"/>
                </a:ext>
              </a:extLst>
            </p:cNvPr>
            <p:cNvSpPr/>
            <p:nvPr/>
          </p:nvSpPr>
          <p:spPr>
            <a:xfrm rot="5400000">
              <a:off x="2896637" y="1134837"/>
              <a:ext cx="1105930" cy="593125"/>
            </a:xfrm>
            <a:prstGeom prst="triangle">
              <a:avLst/>
            </a:prstGeom>
            <a:solidFill>
              <a:srgbClr val="FE00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CF458D96-E09C-E6FF-86CB-58C50400B264}"/>
                </a:ext>
              </a:extLst>
            </p:cNvPr>
            <p:cNvSpPr txBox="1"/>
            <p:nvPr/>
          </p:nvSpPr>
          <p:spPr>
            <a:xfrm>
              <a:off x="115612"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A</a:t>
              </a:r>
              <a:endParaRPr lang="en-US" sz="8000" b="1" dirty="0">
                <a:solidFill>
                  <a:schemeClr val="bg1"/>
                </a:solidFill>
                <a:latin typeface="Montserrat Black" pitchFamily="2" charset="77"/>
              </a:endParaRPr>
            </a:p>
          </p:txBody>
        </p:sp>
        <p:sp>
          <p:nvSpPr>
            <p:cNvPr id="3" name="TextBox 2">
              <a:extLst>
                <a:ext uri="{FF2B5EF4-FFF2-40B4-BE49-F238E27FC236}">
                  <a16:creationId xmlns:a16="http://schemas.microsoft.com/office/drawing/2014/main" id="{A1B979BA-A0F8-11FC-E751-00A703D0B7EB}"/>
                </a:ext>
              </a:extLst>
            </p:cNvPr>
            <p:cNvSpPr txBox="1"/>
            <p:nvPr/>
          </p:nvSpPr>
          <p:spPr>
            <a:xfrm>
              <a:off x="179910" y="2206072"/>
              <a:ext cx="2823530" cy="3785652"/>
            </a:xfrm>
            <a:prstGeom prst="rect">
              <a:avLst/>
            </a:prstGeom>
            <a:noFill/>
          </p:spPr>
          <p:txBody>
            <a:bodyPr wrap="square" rtlCol="0">
              <a:spAutoFit/>
            </a:bodyPr>
            <a:lstStyle/>
            <a:p>
              <a:pPr algn="ctr"/>
              <a:r>
                <a:rPr lang="en-US" sz="2400" b="1">
                  <a:solidFill>
                    <a:schemeClr val="bg1"/>
                  </a:solidFill>
                  <a:latin typeface="Montserrat" pitchFamily="2" charset="77"/>
                </a:rPr>
                <a:t>Current Method</a:t>
              </a:r>
            </a:p>
            <a:p>
              <a:pPr algn="ctr"/>
              <a:endParaRPr lang="en-US" sz="1600">
                <a:solidFill>
                  <a:schemeClr val="bg1"/>
                </a:solidFill>
                <a:latin typeface="Montserrat" pitchFamily="2" charset="77"/>
              </a:endParaRPr>
            </a:p>
            <a:p>
              <a:pPr algn="ctr"/>
              <a:endParaRPr lang="en-US" sz="1600">
                <a:solidFill>
                  <a:schemeClr val="bg1"/>
                </a:solidFill>
                <a:latin typeface="Montserrat" pitchFamily="2" charset="77"/>
              </a:endParaRPr>
            </a:p>
            <a:p>
              <a:pPr algn="ctr"/>
              <a:r>
                <a:rPr lang="en-US" sz="1200">
                  <a:solidFill>
                    <a:schemeClr val="bg1"/>
                  </a:solidFill>
                  <a:latin typeface="Montserrat" pitchFamily="2" charset="77"/>
                </a:rPr>
                <a:t>ABS team currently observes their buying patterns through two observations including store size and store performance. For my project I have included two variables named “storesizecat” which includes their ranking of store sizes and “storetiercat” which includes their financial performance rankings based on ABS preset parameters. </a:t>
              </a:r>
            </a:p>
            <a:p>
              <a:pPr algn="ctr"/>
              <a:endParaRPr lang="en-US" b="1">
                <a:solidFill>
                  <a:schemeClr val="bg1"/>
                </a:solidFill>
                <a:latin typeface="Montserrat" pitchFamily="2" charset="77"/>
              </a:endParaRPr>
            </a:p>
            <a:p>
              <a:pPr algn="ctr"/>
              <a:endParaRPr lang="en-US" b="1">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spTree>
    <p:extLst>
      <p:ext uri="{BB962C8B-B14F-4D97-AF65-F5344CB8AC3E}">
        <p14:creationId xmlns:p14="http://schemas.microsoft.com/office/powerpoint/2010/main" val="35510452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E001B"/>
        </a:solidFill>
        <a:effectLst/>
      </p:bgPr>
    </p:bg>
    <p:spTree>
      <p:nvGrpSpPr>
        <p:cNvPr id="1" name="">
          <a:extLst>
            <a:ext uri="{FF2B5EF4-FFF2-40B4-BE49-F238E27FC236}">
              <a16:creationId xmlns:a16="http://schemas.microsoft.com/office/drawing/2014/main" id="{D628DAC5-000D-43B2-944E-14C66FF02219}"/>
            </a:ext>
          </a:extLst>
        </p:cNvPr>
        <p:cNvGrpSpPr/>
        <p:nvPr/>
      </p:nvGrpSpPr>
      <p:grpSpPr>
        <a:xfrm>
          <a:off x="0" y="0"/>
          <a:ext cx="0" cy="0"/>
          <a:chOff x="0" y="0"/>
          <a:chExt cx="0" cy="0"/>
        </a:xfrm>
      </p:grpSpPr>
      <p:grpSp>
        <p:nvGrpSpPr>
          <p:cNvPr id="23" name="Group 22">
            <a:extLst>
              <a:ext uri="{FF2B5EF4-FFF2-40B4-BE49-F238E27FC236}">
                <a16:creationId xmlns:a16="http://schemas.microsoft.com/office/drawing/2014/main" id="{7F74E658-783D-6908-6EC6-A390051E6D9A}"/>
              </a:ext>
            </a:extLst>
          </p:cNvPr>
          <p:cNvGrpSpPr/>
          <p:nvPr/>
        </p:nvGrpSpPr>
        <p:grpSpPr>
          <a:xfrm>
            <a:off x="861442" y="0"/>
            <a:ext cx="2823530" cy="6858000"/>
            <a:chOff x="9481484" y="0"/>
            <a:chExt cx="2823530" cy="6858000"/>
          </a:xfrm>
        </p:grpSpPr>
        <p:sp>
          <p:nvSpPr>
            <p:cNvPr id="18" name="Rectangle 17">
              <a:extLst>
                <a:ext uri="{FF2B5EF4-FFF2-40B4-BE49-F238E27FC236}">
                  <a16:creationId xmlns:a16="http://schemas.microsoft.com/office/drawing/2014/main" id="{E464DF3F-6018-F254-A26A-CAF01722A8DB}"/>
                </a:ext>
              </a:extLst>
            </p:cNvPr>
            <p:cNvSpPr/>
            <p:nvPr/>
          </p:nvSpPr>
          <p:spPr>
            <a:xfrm>
              <a:off x="9564129" y="0"/>
              <a:ext cx="2627871" cy="6858000"/>
            </a:xfrm>
            <a:prstGeom prst="rect">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6A07A9E1-CD43-66D2-9662-7270DDD4554E}"/>
                </a:ext>
              </a:extLst>
            </p:cNvPr>
            <p:cNvSpPr txBox="1"/>
            <p:nvPr/>
          </p:nvSpPr>
          <p:spPr>
            <a:xfrm>
              <a:off x="9681072" y="444542"/>
              <a:ext cx="2610089"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D</a:t>
              </a:r>
              <a:endParaRPr lang="en-US" sz="8000" b="1" dirty="0">
                <a:solidFill>
                  <a:schemeClr val="bg1"/>
                </a:solidFill>
                <a:latin typeface="Montserrat Black" pitchFamily="2" charset="77"/>
              </a:endParaRPr>
            </a:p>
          </p:txBody>
        </p:sp>
        <p:sp>
          <p:nvSpPr>
            <p:cNvPr id="9" name="TextBox 8">
              <a:extLst>
                <a:ext uri="{FF2B5EF4-FFF2-40B4-BE49-F238E27FC236}">
                  <a16:creationId xmlns:a16="http://schemas.microsoft.com/office/drawing/2014/main" id="{168BF151-CDB4-F7AE-CAA6-BCE589D53016}"/>
                </a:ext>
              </a:extLst>
            </p:cNvPr>
            <p:cNvSpPr txBox="1"/>
            <p:nvPr/>
          </p:nvSpPr>
          <p:spPr>
            <a:xfrm>
              <a:off x="9481484" y="2242254"/>
              <a:ext cx="2823530" cy="2677656"/>
            </a:xfrm>
            <a:prstGeom prst="rect">
              <a:avLst/>
            </a:prstGeom>
            <a:noFill/>
          </p:spPr>
          <p:txBody>
            <a:bodyPr wrap="square" rtlCol="0">
              <a:spAutoFit/>
            </a:bodyPr>
            <a:lstStyle/>
            <a:p>
              <a:pPr algn="ctr"/>
              <a:r>
                <a:rPr lang="en-US" sz="2400" b="1" dirty="0">
                  <a:solidFill>
                    <a:schemeClr val="bg1"/>
                  </a:solidFill>
                  <a:latin typeface="Montserrat" pitchFamily="2" charset="77"/>
                </a:rPr>
                <a:t>Final Remarks</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As I have reached the end of this project there are some things I noticed I could have done to improve the final product if given more time to refine it.</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5" name="Group 14">
            <a:extLst>
              <a:ext uri="{FF2B5EF4-FFF2-40B4-BE49-F238E27FC236}">
                <a16:creationId xmlns:a16="http://schemas.microsoft.com/office/drawing/2014/main" id="{C85C9CF3-48B0-5EEC-5BA1-6703F51230A3}"/>
              </a:ext>
            </a:extLst>
          </p:cNvPr>
          <p:cNvGrpSpPr/>
          <p:nvPr/>
        </p:nvGrpSpPr>
        <p:grpSpPr>
          <a:xfrm>
            <a:off x="345140" y="0"/>
            <a:ext cx="3699525" cy="6858000"/>
            <a:chOff x="6376086" y="0"/>
            <a:chExt cx="3699525" cy="6858000"/>
          </a:xfrm>
        </p:grpSpPr>
        <p:sp>
          <p:nvSpPr>
            <p:cNvPr id="17" name="Rectangle 16">
              <a:extLst>
                <a:ext uri="{FF2B5EF4-FFF2-40B4-BE49-F238E27FC236}">
                  <a16:creationId xmlns:a16="http://schemas.microsoft.com/office/drawing/2014/main" id="{D497B0AA-FAE8-8CD1-BA79-A5A81037F4EA}"/>
                </a:ext>
              </a:extLst>
            </p:cNvPr>
            <p:cNvSpPr/>
            <p:nvPr/>
          </p:nvSpPr>
          <p:spPr>
            <a:xfrm>
              <a:off x="6376086" y="0"/>
              <a:ext cx="3188043" cy="6858000"/>
            </a:xfrm>
            <a:prstGeom prst="rect">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riangle 20">
              <a:extLst>
                <a:ext uri="{FF2B5EF4-FFF2-40B4-BE49-F238E27FC236}">
                  <a16:creationId xmlns:a16="http://schemas.microsoft.com/office/drawing/2014/main" id="{F5E146C3-C3B9-34BD-B03D-7BF38E767321}"/>
                </a:ext>
              </a:extLst>
            </p:cNvPr>
            <p:cNvSpPr/>
            <p:nvPr/>
          </p:nvSpPr>
          <p:spPr>
            <a:xfrm rot="5400000">
              <a:off x="9226084" y="1158670"/>
              <a:ext cx="1105930" cy="593125"/>
            </a:xfrm>
            <a:prstGeom prst="triangle">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13979548-205F-5080-E92C-514CE0B9BA5C}"/>
                </a:ext>
              </a:extLst>
            </p:cNvPr>
            <p:cNvSpPr txBox="1"/>
            <p:nvPr/>
          </p:nvSpPr>
          <p:spPr>
            <a:xfrm>
              <a:off x="6491698"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C</a:t>
              </a:r>
              <a:endParaRPr lang="en-US" sz="8000" b="1" dirty="0">
                <a:solidFill>
                  <a:schemeClr val="bg1"/>
                </a:solidFill>
                <a:latin typeface="Montserrat Black" pitchFamily="2" charset="77"/>
              </a:endParaRPr>
            </a:p>
          </p:txBody>
        </p:sp>
        <p:sp>
          <p:nvSpPr>
            <p:cNvPr id="7" name="TextBox 6">
              <a:extLst>
                <a:ext uri="{FF2B5EF4-FFF2-40B4-BE49-F238E27FC236}">
                  <a16:creationId xmlns:a16="http://schemas.microsoft.com/office/drawing/2014/main" id="{3298EEC6-24CF-F543-297A-AE89A48040CB}"/>
                </a:ext>
              </a:extLst>
            </p:cNvPr>
            <p:cNvSpPr txBox="1"/>
            <p:nvPr/>
          </p:nvSpPr>
          <p:spPr>
            <a:xfrm>
              <a:off x="6558341" y="2227640"/>
              <a:ext cx="2823530" cy="4278094"/>
            </a:xfrm>
            <a:prstGeom prst="rect">
              <a:avLst/>
            </a:prstGeom>
            <a:noFill/>
          </p:spPr>
          <p:txBody>
            <a:bodyPr wrap="square" rtlCol="0">
              <a:spAutoFit/>
            </a:bodyPr>
            <a:lstStyle/>
            <a:p>
              <a:pPr algn="ctr"/>
              <a:r>
                <a:rPr lang="en-US" sz="2000" b="1" dirty="0">
                  <a:solidFill>
                    <a:schemeClr val="bg1"/>
                  </a:solidFill>
                  <a:latin typeface="Montserrat" pitchFamily="2" charset="77"/>
                </a:rPr>
                <a:t>Inventory Manager</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Used machine learning models to help with creating an inventory manager tool. The tool is provided in an R Studio quarto document, where the customer only needs to upload the most recent csv file and update chunks in areas that are noted then run every chunk to receive a new csv file which provides a list of items each store should hold based on available SKU counts for each individual store, priority and parameters I have set for each tier of store.</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4" name="Group 13">
            <a:extLst>
              <a:ext uri="{FF2B5EF4-FFF2-40B4-BE49-F238E27FC236}">
                <a16:creationId xmlns:a16="http://schemas.microsoft.com/office/drawing/2014/main" id="{66D3EF97-4D87-0FC8-D1AD-E67E42C87E66}"/>
              </a:ext>
            </a:extLst>
          </p:cNvPr>
          <p:cNvGrpSpPr/>
          <p:nvPr/>
        </p:nvGrpSpPr>
        <p:grpSpPr>
          <a:xfrm>
            <a:off x="167439" y="-1"/>
            <a:ext cx="3721672" cy="6889681"/>
            <a:chOff x="3188043" y="-1"/>
            <a:chExt cx="3721672" cy="6889681"/>
          </a:xfrm>
        </p:grpSpPr>
        <p:sp>
          <p:nvSpPr>
            <p:cNvPr id="16" name="Rectangle 15">
              <a:extLst>
                <a:ext uri="{FF2B5EF4-FFF2-40B4-BE49-F238E27FC236}">
                  <a16:creationId xmlns:a16="http://schemas.microsoft.com/office/drawing/2014/main" id="{A0A84D68-19C9-0E90-54E2-1E70B4346A2F}"/>
                </a:ext>
              </a:extLst>
            </p:cNvPr>
            <p:cNvSpPr/>
            <p:nvPr/>
          </p:nvSpPr>
          <p:spPr>
            <a:xfrm>
              <a:off x="3188043" y="-1"/>
              <a:ext cx="3188043" cy="6858000"/>
            </a:xfrm>
            <a:prstGeom prst="rect">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riangle 19">
              <a:extLst>
                <a:ext uri="{FF2B5EF4-FFF2-40B4-BE49-F238E27FC236}">
                  <a16:creationId xmlns:a16="http://schemas.microsoft.com/office/drawing/2014/main" id="{1521C78F-AFFB-E385-CA35-25850397FC2F}"/>
                </a:ext>
              </a:extLst>
            </p:cNvPr>
            <p:cNvSpPr/>
            <p:nvPr/>
          </p:nvSpPr>
          <p:spPr>
            <a:xfrm rot="5400000">
              <a:off x="6060188" y="1142339"/>
              <a:ext cx="1105930" cy="593125"/>
            </a:xfrm>
            <a:prstGeom prst="triangle">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077FE82E-3E43-B88E-B164-05841A8F3504}"/>
                </a:ext>
              </a:extLst>
            </p:cNvPr>
            <p:cNvSpPr txBox="1"/>
            <p:nvPr/>
          </p:nvSpPr>
          <p:spPr>
            <a:xfrm>
              <a:off x="3303655"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B</a:t>
              </a:r>
              <a:endParaRPr lang="en-US" sz="8000" b="1" dirty="0">
                <a:solidFill>
                  <a:schemeClr val="bg1"/>
                </a:solidFill>
                <a:latin typeface="Montserrat Black" pitchFamily="2" charset="77"/>
              </a:endParaRPr>
            </a:p>
          </p:txBody>
        </p:sp>
        <p:sp>
          <p:nvSpPr>
            <p:cNvPr id="5" name="TextBox 4">
              <a:extLst>
                <a:ext uri="{FF2B5EF4-FFF2-40B4-BE49-F238E27FC236}">
                  <a16:creationId xmlns:a16="http://schemas.microsoft.com/office/drawing/2014/main" id="{6FD4FF8F-46A1-AE79-D018-D227374D598D}"/>
                </a:ext>
              </a:extLst>
            </p:cNvPr>
            <p:cNvSpPr txBox="1"/>
            <p:nvPr/>
          </p:nvSpPr>
          <p:spPr>
            <a:xfrm>
              <a:off x="3370298" y="2242254"/>
              <a:ext cx="2823530" cy="4647426"/>
            </a:xfrm>
            <a:prstGeom prst="rect">
              <a:avLst/>
            </a:prstGeom>
            <a:noFill/>
          </p:spPr>
          <p:txBody>
            <a:bodyPr wrap="square" rtlCol="0">
              <a:spAutoFit/>
            </a:bodyPr>
            <a:lstStyle/>
            <a:p>
              <a:pPr algn="ctr"/>
              <a:r>
                <a:rPr lang="en-US" b="1" dirty="0">
                  <a:solidFill>
                    <a:schemeClr val="bg1"/>
                  </a:solidFill>
                  <a:latin typeface="Montserrat" pitchFamily="2" charset="77"/>
                </a:rPr>
                <a:t>Variable Engineering and Modeling</a:t>
              </a: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I created a new variable named “priority” by observing items in their dataset and separated items by three different tiers. High Priority items are the top 25% performing items globally, Medium priority the middle 50%, and low priority the lowest 25% performing items globally. The items are observed on a yearly basis. I then used priority as the main variable to create a formula for a machine learning model to help with predicting how items would perform in future years based on current performance. </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3" name="Group 12">
            <a:extLst>
              <a:ext uri="{FF2B5EF4-FFF2-40B4-BE49-F238E27FC236}">
                <a16:creationId xmlns:a16="http://schemas.microsoft.com/office/drawing/2014/main" id="{5ACFF807-D68D-8980-4225-0ACB40F2131D}"/>
              </a:ext>
            </a:extLst>
          </p:cNvPr>
          <p:cNvGrpSpPr/>
          <p:nvPr/>
        </p:nvGrpSpPr>
        <p:grpSpPr>
          <a:xfrm>
            <a:off x="0" y="-1"/>
            <a:ext cx="3746164" cy="6858002"/>
            <a:chOff x="0" y="-1"/>
            <a:chExt cx="3746164" cy="6858002"/>
          </a:xfrm>
        </p:grpSpPr>
        <p:sp>
          <p:nvSpPr>
            <p:cNvPr id="2" name="Rectangle 1">
              <a:extLst>
                <a:ext uri="{FF2B5EF4-FFF2-40B4-BE49-F238E27FC236}">
                  <a16:creationId xmlns:a16="http://schemas.microsoft.com/office/drawing/2014/main" id="{A433F63E-4D7B-EBD6-F2C3-753D45410589}"/>
                </a:ext>
              </a:extLst>
            </p:cNvPr>
            <p:cNvSpPr/>
            <p:nvPr/>
          </p:nvSpPr>
          <p:spPr>
            <a:xfrm>
              <a:off x="0" y="-1"/>
              <a:ext cx="3188043" cy="6858002"/>
            </a:xfrm>
            <a:prstGeom prst="rect">
              <a:avLst/>
            </a:prstGeom>
            <a:solidFill>
              <a:srgbClr val="FE00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6000" dirty="0">
                <a:latin typeface=""/>
              </a:endParaRPr>
            </a:p>
          </p:txBody>
        </p:sp>
        <p:sp>
          <p:nvSpPr>
            <p:cNvPr id="19" name="Triangle 18">
              <a:extLst>
                <a:ext uri="{FF2B5EF4-FFF2-40B4-BE49-F238E27FC236}">
                  <a16:creationId xmlns:a16="http://schemas.microsoft.com/office/drawing/2014/main" id="{566A798A-13C6-CF74-BC72-DEE95919FDFE}"/>
                </a:ext>
              </a:extLst>
            </p:cNvPr>
            <p:cNvSpPr/>
            <p:nvPr/>
          </p:nvSpPr>
          <p:spPr>
            <a:xfrm rot="5400000">
              <a:off x="2896637" y="1134837"/>
              <a:ext cx="1105930" cy="593125"/>
            </a:xfrm>
            <a:prstGeom prst="triangle">
              <a:avLst/>
            </a:prstGeom>
            <a:solidFill>
              <a:srgbClr val="FE00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818B635B-0CA0-B4A6-9770-A3BEB0EBA792}"/>
                </a:ext>
              </a:extLst>
            </p:cNvPr>
            <p:cNvSpPr txBox="1"/>
            <p:nvPr/>
          </p:nvSpPr>
          <p:spPr>
            <a:xfrm>
              <a:off x="115612"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A</a:t>
              </a:r>
              <a:endParaRPr lang="en-US" sz="8000" b="1" dirty="0">
                <a:solidFill>
                  <a:schemeClr val="bg1"/>
                </a:solidFill>
                <a:latin typeface="Montserrat Black" pitchFamily="2" charset="77"/>
              </a:endParaRPr>
            </a:p>
          </p:txBody>
        </p:sp>
        <p:sp>
          <p:nvSpPr>
            <p:cNvPr id="3" name="TextBox 2">
              <a:extLst>
                <a:ext uri="{FF2B5EF4-FFF2-40B4-BE49-F238E27FC236}">
                  <a16:creationId xmlns:a16="http://schemas.microsoft.com/office/drawing/2014/main" id="{D81560AE-202E-85B4-024F-A57809BD5709}"/>
                </a:ext>
              </a:extLst>
            </p:cNvPr>
            <p:cNvSpPr txBox="1"/>
            <p:nvPr/>
          </p:nvSpPr>
          <p:spPr>
            <a:xfrm>
              <a:off x="179910" y="2206072"/>
              <a:ext cx="2823530" cy="3785652"/>
            </a:xfrm>
            <a:prstGeom prst="rect">
              <a:avLst/>
            </a:prstGeom>
            <a:noFill/>
          </p:spPr>
          <p:txBody>
            <a:bodyPr wrap="square" rtlCol="0">
              <a:spAutoFit/>
            </a:bodyPr>
            <a:lstStyle/>
            <a:p>
              <a:pPr algn="ctr"/>
              <a:r>
                <a:rPr lang="en-US" sz="2400" b="1">
                  <a:solidFill>
                    <a:schemeClr val="bg1"/>
                  </a:solidFill>
                  <a:latin typeface="Montserrat" pitchFamily="2" charset="77"/>
                </a:rPr>
                <a:t>Current Method</a:t>
              </a:r>
            </a:p>
            <a:p>
              <a:pPr algn="ctr"/>
              <a:endParaRPr lang="en-US" sz="1600">
                <a:solidFill>
                  <a:schemeClr val="bg1"/>
                </a:solidFill>
                <a:latin typeface="Montserrat" pitchFamily="2" charset="77"/>
              </a:endParaRPr>
            </a:p>
            <a:p>
              <a:pPr algn="ctr"/>
              <a:endParaRPr lang="en-US" sz="1600">
                <a:solidFill>
                  <a:schemeClr val="bg1"/>
                </a:solidFill>
                <a:latin typeface="Montserrat" pitchFamily="2" charset="77"/>
              </a:endParaRPr>
            </a:p>
            <a:p>
              <a:pPr algn="ctr"/>
              <a:r>
                <a:rPr lang="en-US" sz="1200">
                  <a:solidFill>
                    <a:schemeClr val="bg1"/>
                  </a:solidFill>
                  <a:latin typeface="Montserrat" pitchFamily="2" charset="77"/>
                </a:rPr>
                <a:t>ABS team currently observes their buying patterns through two observations including store size and store performance. For my project I have included two variables named “storesizecat” which includes their ranking of store sizes and “storetiercat” which includes their financial performance rankings based on ABS preset parameters. </a:t>
              </a:r>
            </a:p>
            <a:p>
              <a:pPr algn="ctr"/>
              <a:endParaRPr lang="en-US" b="1">
                <a:solidFill>
                  <a:schemeClr val="bg1"/>
                </a:solidFill>
                <a:latin typeface="Montserrat" pitchFamily="2" charset="77"/>
              </a:endParaRPr>
            </a:p>
            <a:p>
              <a:pPr algn="ctr"/>
              <a:endParaRPr lang="en-US" b="1">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sp>
        <p:nvSpPr>
          <p:cNvPr id="10" name="TextBox 9">
            <a:extLst>
              <a:ext uri="{FF2B5EF4-FFF2-40B4-BE49-F238E27FC236}">
                <a16:creationId xmlns:a16="http://schemas.microsoft.com/office/drawing/2014/main" id="{2D134EB9-B62F-DC89-0DC4-3CB8BA90EE15}"/>
              </a:ext>
            </a:extLst>
          </p:cNvPr>
          <p:cNvSpPr txBox="1"/>
          <p:nvPr/>
        </p:nvSpPr>
        <p:spPr>
          <a:xfrm>
            <a:off x="4055293" y="1375566"/>
            <a:ext cx="7963347" cy="1477328"/>
          </a:xfrm>
          <a:prstGeom prst="rect">
            <a:avLst/>
          </a:prstGeom>
          <a:noFill/>
        </p:spPr>
        <p:txBody>
          <a:bodyPr wrap="square" rtlCol="0">
            <a:spAutoFit/>
          </a:bodyPr>
          <a:lstStyle/>
          <a:p>
            <a:pPr algn="ctr"/>
            <a:r>
              <a:rPr lang="en-US" dirty="0">
                <a:solidFill>
                  <a:schemeClr val="bg1"/>
                </a:solidFill>
                <a:latin typeface="Montserrat" pitchFamily="2" charset="77"/>
              </a:rPr>
              <a:t>Based on ABS’ current method, I chose to observe their classification categories in the provided data set:</a:t>
            </a:r>
          </a:p>
          <a:p>
            <a:pPr algn="ctr"/>
            <a:endParaRPr lang="en-US" dirty="0">
              <a:solidFill>
                <a:schemeClr val="bg1"/>
              </a:solidFill>
              <a:latin typeface="Montserrat" pitchFamily="2" charset="77"/>
            </a:endParaRPr>
          </a:p>
          <a:p>
            <a:pPr algn="ctr"/>
            <a:r>
              <a:rPr lang="en-US" dirty="0">
                <a:solidFill>
                  <a:schemeClr val="bg1"/>
                </a:solidFill>
                <a:latin typeface="Montserrat" pitchFamily="2" charset="77"/>
              </a:rPr>
              <a:t>Classification Dept -&gt; Classification Type -&gt; Classification Category</a:t>
            </a:r>
          </a:p>
          <a:p>
            <a:endParaRPr lang="en-US" dirty="0">
              <a:solidFill>
                <a:schemeClr val="bg1"/>
              </a:solidFill>
              <a:latin typeface="Montserrat" pitchFamily="2" charset="77"/>
            </a:endParaRPr>
          </a:p>
        </p:txBody>
      </p:sp>
      <p:sp>
        <p:nvSpPr>
          <p:cNvPr id="24" name="TextBox 23">
            <a:extLst>
              <a:ext uri="{FF2B5EF4-FFF2-40B4-BE49-F238E27FC236}">
                <a16:creationId xmlns:a16="http://schemas.microsoft.com/office/drawing/2014/main" id="{FBF16782-EE3A-6976-D894-46CA3040374A}"/>
              </a:ext>
            </a:extLst>
          </p:cNvPr>
          <p:cNvSpPr txBox="1"/>
          <p:nvPr/>
        </p:nvSpPr>
        <p:spPr>
          <a:xfrm>
            <a:off x="4127576" y="5214265"/>
            <a:ext cx="7963347" cy="646331"/>
          </a:xfrm>
          <a:prstGeom prst="rect">
            <a:avLst/>
          </a:prstGeom>
          <a:noFill/>
        </p:spPr>
        <p:txBody>
          <a:bodyPr wrap="square" rtlCol="0">
            <a:spAutoFit/>
          </a:bodyPr>
          <a:lstStyle/>
          <a:p>
            <a:pPr algn="ctr"/>
            <a:r>
              <a:rPr lang="en-US" dirty="0">
                <a:solidFill>
                  <a:schemeClr val="bg1"/>
                </a:solidFill>
                <a:latin typeface="Montserrat" pitchFamily="2" charset="77"/>
              </a:rPr>
              <a:t>Based on my observations I noticed that there were little to no variation in inventory performance between all 27 locations </a:t>
            </a:r>
          </a:p>
        </p:txBody>
      </p:sp>
      <p:graphicFrame>
        <p:nvGraphicFramePr>
          <p:cNvPr id="12" name="Table 11">
            <a:extLst>
              <a:ext uri="{FF2B5EF4-FFF2-40B4-BE49-F238E27FC236}">
                <a16:creationId xmlns:a16="http://schemas.microsoft.com/office/drawing/2014/main" id="{9F00FA30-1C0C-75B1-BE03-91C406A7B512}"/>
              </a:ext>
            </a:extLst>
          </p:cNvPr>
          <p:cNvGraphicFramePr>
            <a:graphicFrameLocks noGrp="1"/>
          </p:cNvGraphicFramePr>
          <p:nvPr>
            <p:extLst>
              <p:ext uri="{D42A27DB-BD31-4B8C-83A1-F6EECF244321}">
                <p14:modId xmlns:p14="http://schemas.microsoft.com/office/powerpoint/2010/main" val="3058917026"/>
              </p:ext>
            </p:extLst>
          </p:nvPr>
        </p:nvGraphicFramePr>
        <p:xfrm>
          <a:off x="5063896" y="2900346"/>
          <a:ext cx="5946140" cy="1915249"/>
        </p:xfrm>
        <a:graphic>
          <a:graphicData uri="http://schemas.openxmlformats.org/drawingml/2006/table">
            <a:tbl>
              <a:tblPr firstRow="1" firstCol="1" bandRow="1">
                <a:tableStyleId>{5C22544A-7EE6-4342-B048-85BDC9FD1C3A}</a:tableStyleId>
              </a:tblPr>
              <a:tblGrid>
                <a:gridCol w="1486535">
                  <a:extLst>
                    <a:ext uri="{9D8B030D-6E8A-4147-A177-3AD203B41FA5}">
                      <a16:colId xmlns:a16="http://schemas.microsoft.com/office/drawing/2014/main" val="2520278496"/>
                    </a:ext>
                  </a:extLst>
                </a:gridCol>
                <a:gridCol w="1486535">
                  <a:extLst>
                    <a:ext uri="{9D8B030D-6E8A-4147-A177-3AD203B41FA5}">
                      <a16:colId xmlns:a16="http://schemas.microsoft.com/office/drawing/2014/main" val="1661590498"/>
                    </a:ext>
                  </a:extLst>
                </a:gridCol>
                <a:gridCol w="1486535">
                  <a:extLst>
                    <a:ext uri="{9D8B030D-6E8A-4147-A177-3AD203B41FA5}">
                      <a16:colId xmlns:a16="http://schemas.microsoft.com/office/drawing/2014/main" val="688361683"/>
                    </a:ext>
                  </a:extLst>
                </a:gridCol>
                <a:gridCol w="1486535">
                  <a:extLst>
                    <a:ext uri="{9D8B030D-6E8A-4147-A177-3AD203B41FA5}">
                      <a16:colId xmlns:a16="http://schemas.microsoft.com/office/drawing/2014/main" val="282661079"/>
                    </a:ext>
                  </a:extLst>
                </a:gridCol>
              </a:tblGrid>
              <a:tr h="535330">
                <a:tc>
                  <a:txBody>
                    <a:bodyPr/>
                    <a:lstStyle/>
                    <a:p>
                      <a:pPr algn="ctr">
                        <a:lnSpc>
                          <a:spcPct val="115000"/>
                        </a:lnSpc>
                        <a:spcAft>
                          <a:spcPts val="800"/>
                        </a:spcAft>
                        <a:buNone/>
                      </a:pPr>
                      <a:r>
                        <a:rPr lang="en-US" sz="1200" kern="100" dirty="0">
                          <a:effectLst/>
                        </a:rPr>
                        <a:t>Store Size Identifier</a:t>
                      </a:r>
                      <a:endParaRPr lang="en-GB" sz="12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solidFill>
                      <a:srgbClr val="C00000"/>
                    </a:solidFill>
                  </a:tcPr>
                </a:tc>
                <a:tc>
                  <a:txBody>
                    <a:bodyPr/>
                    <a:lstStyle/>
                    <a:p>
                      <a:pPr algn="ctr">
                        <a:lnSpc>
                          <a:spcPct val="115000"/>
                        </a:lnSpc>
                        <a:spcAft>
                          <a:spcPts val="800"/>
                        </a:spcAft>
                        <a:buNone/>
                      </a:pPr>
                      <a:r>
                        <a:rPr lang="en-US" sz="1200" kern="100" dirty="0">
                          <a:effectLst/>
                        </a:rPr>
                        <a:t>Definition</a:t>
                      </a:r>
                      <a:endParaRPr lang="en-GB" sz="12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solidFill>
                      <a:srgbClr val="C00000"/>
                    </a:solidFill>
                  </a:tcPr>
                </a:tc>
                <a:tc>
                  <a:txBody>
                    <a:bodyPr/>
                    <a:lstStyle/>
                    <a:p>
                      <a:pPr algn="ctr">
                        <a:lnSpc>
                          <a:spcPct val="115000"/>
                        </a:lnSpc>
                        <a:spcAft>
                          <a:spcPts val="800"/>
                        </a:spcAft>
                        <a:buNone/>
                      </a:pPr>
                      <a:r>
                        <a:rPr lang="en-US" sz="1200" kern="100" dirty="0">
                          <a:effectLst/>
                        </a:rPr>
                        <a:t>Store Tier Identifier</a:t>
                      </a:r>
                      <a:endParaRPr lang="en-GB" sz="12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solidFill>
                      <a:srgbClr val="C00000"/>
                    </a:solidFill>
                  </a:tcPr>
                </a:tc>
                <a:tc>
                  <a:txBody>
                    <a:bodyPr/>
                    <a:lstStyle/>
                    <a:p>
                      <a:pPr algn="ctr">
                        <a:lnSpc>
                          <a:spcPct val="115000"/>
                        </a:lnSpc>
                        <a:spcAft>
                          <a:spcPts val="800"/>
                        </a:spcAft>
                        <a:buNone/>
                      </a:pPr>
                      <a:r>
                        <a:rPr lang="en-US" sz="1200" kern="100" dirty="0">
                          <a:effectLst/>
                        </a:rPr>
                        <a:t>Definition</a:t>
                      </a:r>
                      <a:endParaRPr lang="en-GB" sz="12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solidFill>
                      <a:srgbClr val="C00000"/>
                    </a:solidFill>
                  </a:tcPr>
                </a:tc>
                <a:extLst>
                  <a:ext uri="{0D108BD9-81ED-4DB2-BD59-A6C34878D82A}">
                    <a16:rowId xmlns:a16="http://schemas.microsoft.com/office/drawing/2014/main" val="3054620621"/>
                  </a:ext>
                </a:extLst>
              </a:tr>
              <a:tr h="418465">
                <a:tc>
                  <a:txBody>
                    <a:bodyPr/>
                    <a:lstStyle/>
                    <a:p>
                      <a:pPr algn="ctr">
                        <a:lnSpc>
                          <a:spcPct val="115000"/>
                        </a:lnSpc>
                        <a:spcAft>
                          <a:spcPts val="800"/>
                        </a:spcAft>
                        <a:buNone/>
                      </a:pPr>
                      <a:r>
                        <a:rPr lang="en-US" sz="1200" kern="100" dirty="0">
                          <a:effectLst/>
                        </a:rPr>
                        <a:t>A</a:t>
                      </a:r>
                      <a:endParaRPr lang="en-GB" sz="12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solidFill>
                      <a:schemeClr val="bg2">
                        <a:lumMod val="50000"/>
                      </a:schemeClr>
                    </a:solidFill>
                  </a:tcPr>
                </a:tc>
                <a:tc>
                  <a:txBody>
                    <a:bodyPr/>
                    <a:lstStyle/>
                    <a:p>
                      <a:pPr algn="ctr">
                        <a:lnSpc>
                          <a:spcPct val="115000"/>
                        </a:lnSpc>
                        <a:spcAft>
                          <a:spcPts val="800"/>
                        </a:spcAft>
                        <a:buNone/>
                      </a:pPr>
                      <a:r>
                        <a:rPr lang="en-US" sz="1050" kern="100" dirty="0">
                          <a:effectLst/>
                        </a:rPr>
                        <a:t>Stores &gt; 6000 sq ft</a:t>
                      </a:r>
                      <a:endParaRPr lang="en-GB" sz="12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solidFill>
                      <a:schemeClr val="bg2">
                        <a:lumMod val="50000"/>
                      </a:schemeClr>
                    </a:solidFill>
                  </a:tcPr>
                </a:tc>
                <a:tc>
                  <a:txBody>
                    <a:bodyPr/>
                    <a:lstStyle/>
                    <a:p>
                      <a:pPr algn="ctr">
                        <a:lnSpc>
                          <a:spcPct val="115000"/>
                        </a:lnSpc>
                        <a:spcAft>
                          <a:spcPts val="800"/>
                        </a:spcAft>
                        <a:buNone/>
                      </a:pPr>
                      <a:r>
                        <a:rPr lang="en-US" sz="1200" kern="100">
                          <a:effectLst/>
                        </a:rPr>
                        <a:t>1</a:t>
                      </a:r>
                      <a:endParaRPr lang="en-GB" sz="12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solidFill>
                      <a:schemeClr val="bg2">
                        <a:lumMod val="50000"/>
                      </a:schemeClr>
                    </a:solidFill>
                  </a:tcPr>
                </a:tc>
                <a:tc>
                  <a:txBody>
                    <a:bodyPr/>
                    <a:lstStyle/>
                    <a:p>
                      <a:pPr algn="ctr">
                        <a:lnSpc>
                          <a:spcPct val="115000"/>
                        </a:lnSpc>
                        <a:spcAft>
                          <a:spcPts val="800"/>
                        </a:spcAft>
                        <a:buNone/>
                      </a:pPr>
                      <a:r>
                        <a:rPr lang="en-US" sz="1050" kern="100">
                          <a:effectLst/>
                        </a:rPr>
                        <a:t>Stores performing &gt; $8 million in the SY</a:t>
                      </a:r>
                      <a:endParaRPr lang="en-GB" sz="12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solidFill>
                      <a:schemeClr val="bg2">
                        <a:lumMod val="50000"/>
                      </a:schemeClr>
                    </a:solidFill>
                  </a:tcPr>
                </a:tc>
                <a:extLst>
                  <a:ext uri="{0D108BD9-81ED-4DB2-BD59-A6C34878D82A}">
                    <a16:rowId xmlns:a16="http://schemas.microsoft.com/office/drawing/2014/main" val="902228587"/>
                  </a:ext>
                </a:extLst>
              </a:tr>
              <a:tr h="266065">
                <a:tc>
                  <a:txBody>
                    <a:bodyPr/>
                    <a:lstStyle/>
                    <a:p>
                      <a:pPr algn="ctr">
                        <a:lnSpc>
                          <a:spcPct val="115000"/>
                        </a:lnSpc>
                        <a:spcAft>
                          <a:spcPts val="800"/>
                        </a:spcAft>
                        <a:buNone/>
                      </a:pPr>
                      <a:r>
                        <a:rPr lang="en-US" sz="1200" kern="100">
                          <a:effectLst/>
                        </a:rPr>
                        <a:t>B</a:t>
                      </a:r>
                      <a:endParaRPr lang="en-GB" sz="12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solidFill>
                      <a:schemeClr val="bg2">
                        <a:lumMod val="50000"/>
                      </a:schemeClr>
                    </a:solidFill>
                  </a:tcPr>
                </a:tc>
                <a:tc>
                  <a:txBody>
                    <a:bodyPr/>
                    <a:lstStyle/>
                    <a:p>
                      <a:pPr algn="ctr">
                        <a:lnSpc>
                          <a:spcPct val="115000"/>
                        </a:lnSpc>
                        <a:spcAft>
                          <a:spcPts val="800"/>
                        </a:spcAft>
                        <a:buNone/>
                      </a:pPr>
                      <a:r>
                        <a:rPr lang="en-US" sz="1050" kern="100" dirty="0">
                          <a:effectLst/>
                        </a:rPr>
                        <a:t>Stores between 4000 and 6000 sq ft</a:t>
                      </a:r>
                      <a:endParaRPr lang="en-GB" sz="12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solidFill>
                      <a:schemeClr val="bg2">
                        <a:lumMod val="50000"/>
                      </a:schemeClr>
                    </a:solidFill>
                  </a:tcPr>
                </a:tc>
                <a:tc>
                  <a:txBody>
                    <a:bodyPr/>
                    <a:lstStyle/>
                    <a:p>
                      <a:pPr algn="ctr">
                        <a:lnSpc>
                          <a:spcPct val="115000"/>
                        </a:lnSpc>
                        <a:spcAft>
                          <a:spcPts val="800"/>
                        </a:spcAft>
                        <a:buNone/>
                      </a:pPr>
                      <a:r>
                        <a:rPr lang="en-US" sz="1200" kern="100" dirty="0">
                          <a:effectLst/>
                        </a:rPr>
                        <a:t>2</a:t>
                      </a:r>
                      <a:endParaRPr lang="en-GB" sz="12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solidFill>
                      <a:schemeClr val="bg2">
                        <a:lumMod val="50000"/>
                      </a:schemeClr>
                    </a:solidFill>
                  </a:tcPr>
                </a:tc>
                <a:tc>
                  <a:txBody>
                    <a:bodyPr/>
                    <a:lstStyle/>
                    <a:p>
                      <a:pPr>
                        <a:lnSpc>
                          <a:spcPct val="115000"/>
                        </a:lnSpc>
                        <a:spcAft>
                          <a:spcPts val="800"/>
                        </a:spcAft>
                        <a:buNone/>
                      </a:pPr>
                      <a:r>
                        <a:rPr lang="en-US" sz="1050" kern="100" dirty="0">
                          <a:effectLst/>
                        </a:rPr>
                        <a:t>Stores performing between $5 million and $8 million in the SY</a:t>
                      </a:r>
                      <a:endParaRPr lang="en-GB" sz="12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solidFill>
                      <a:schemeClr val="bg2">
                        <a:lumMod val="50000"/>
                      </a:schemeClr>
                    </a:solidFill>
                  </a:tcPr>
                </a:tc>
                <a:extLst>
                  <a:ext uri="{0D108BD9-81ED-4DB2-BD59-A6C34878D82A}">
                    <a16:rowId xmlns:a16="http://schemas.microsoft.com/office/drawing/2014/main" val="3770863337"/>
                  </a:ext>
                </a:extLst>
              </a:tr>
              <a:tr h="418465">
                <a:tc>
                  <a:txBody>
                    <a:bodyPr/>
                    <a:lstStyle/>
                    <a:p>
                      <a:pPr algn="ctr">
                        <a:lnSpc>
                          <a:spcPct val="115000"/>
                        </a:lnSpc>
                        <a:spcAft>
                          <a:spcPts val="800"/>
                        </a:spcAft>
                        <a:buNone/>
                      </a:pPr>
                      <a:r>
                        <a:rPr lang="en-US" sz="1200" kern="100">
                          <a:effectLst/>
                        </a:rPr>
                        <a:t>C</a:t>
                      </a:r>
                      <a:endParaRPr lang="en-GB" sz="12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solidFill>
                      <a:schemeClr val="bg2">
                        <a:lumMod val="50000"/>
                      </a:schemeClr>
                    </a:solidFill>
                  </a:tcPr>
                </a:tc>
                <a:tc>
                  <a:txBody>
                    <a:bodyPr/>
                    <a:lstStyle/>
                    <a:p>
                      <a:pPr algn="ctr">
                        <a:lnSpc>
                          <a:spcPct val="115000"/>
                        </a:lnSpc>
                        <a:spcAft>
                          <a:spcPts val="800"/>
                        </a:spcAft>
                        <a:buNone/>
                      </a:pPr>
                      <a:r>
                        <a:rPr lang="en-US" sz="1050" kern="100">
                          <a:effectLst/>
                        </a:rPr>
                        <a:t>Stores &lt; 4000 sq ft</a:t>
                      </a:r>
                      <a:endParaRPr lang="en-GB" sz="12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solidFill>
                      <a:schemeClr val="bg2">
                        <a:lumMod val="50000"/>
                      </a:schemeClr>
                    </a:solidFill>
                  </a:tcPr>
                </a:tc>
                <a:tc>
                  <a:txBody>
                    <a:bodyPr/>
                    <a:lstStyle/>
                    <a:p>
                      <a:pPr algn="ctr">
                        <a:lnSpc>
                          <a:spcPct val="115000"/>
                        </a:lnSpc>
                        <a:spcAft>
                          <a:spcPts val="800"/>
                        </a:spcAft>
                        <a:buNone/>
                      </a:pPr>
                      <a:r>
                        <a:rPr lang="en-US" sz="1200" kern="100">
                          <a:effectLst/>
                        </a:rPr>
                        <a:t>3</a:t>
                      </a:r>
                      <a:endParaRPr lang="en-GB" sz="12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solidFill>
                      <a:schemeClr val="bg2">
                        <a:lumMod val="50000"/>
                      </a:schemeClr>
                    </a:solidFill>
                  </a:tcPr>
                </a:tc>
                <a:tc>
                  <a:txBody>
                    <a:bodyPr/>
                    <a:lstStyle/>
                    <a:p>
                      <a:pPr>
                        <a:lnSpc>
                          <a:spcPct val="115000"/>
                        </a:lnSpc>
                        <a:spcAft>
                          <a:spcPts val="800"/>
                        </a:spcAft>
                        <a:buNone/>
                      </a:pPr>
                      <a:r>
                        <a:rPr lang="en-US" sz="1050" kern="100" dirty="0">
                          <a:effectLst/>
                        </a:rPr>
                        <a:t>Stores performing &lt; $5 million in the SY</a:t>
                      </a:r>
                      <a:endParaRPr lang="en-GB" sz="12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solidFill>
                      <a:schemeClr val="bg2">
                        <a:lumMod val="50000"/>
                      </a:schemeClr>
                    </a:solidFill>
                  </a:tcPr>
                </a:tc>
                <a:extLst>
                  <a:ext uri="{0D108BD9-81ED-4DB2-BD59-A6C34878D82A}">
                    <a16:rowId xmlns:a16="http://schemas.microsoft.com/office/drawing/2014/main" val="3411154111"/>
                  </a:ext>
                </a:extLst>
              </a:tr>
            </a:tbl>
          </a:graphicData>
        </a:graphic>
      </p:graphicFrame>
    </p:spTree>
    <p:extLst>
      <p:ext uri="{BB962C8B-B14F-4D97-AF65-F5344CB8AC3E}">
        <p14:creationId xmlns:p14="http://schemas.microsoft.com/office/powerpoint/2010/main" val="40000019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E001B"/>
        </a:solidFill>
        <a:effectLst/>
      </p:bgPr>
    </p:bg>
    <p:spTree>
      <p:nvGrpSpPr>
        <p:cNvPr id="1" name="">
          <a:extLst>
            <a:ext uri="{FF2B5EF4-FFF2-40B4-BE49-F238E27FC236}">
              <a16:creationId xmlns:a16="http://schemas.microsoft.com/office/drawing/2014/main" id="{3CE1EC8D-79C3-B368-F793-CF1EA170252F}"/>
            </a:ext>
          </a:extLst>
        </p:cNvPr>
        <p:cNvGrpSpPr/>
        <p:nvPr/>
      </p:nvGrpSpPr>
      <p:grpSpPr>
        <a:xfrm>
          <a:off x="0" y="0"/>
          <a:ext cx="0" cy="0"/>
          <a:chOff x="0" y="0"/>
          <a:chExt cx="0" cy="0"/>
        </a:xfrm>
      </p:grpSpPr>
      <p:grpSp>
        <p:nvGrpSpPr>
          <p:cNvPr id="23" name="Group 22">
            <a:extLst>
              <a:ext uri="{FF2B5EF4-FFF2-40B4-BE49-F238E27FC236}">
                <a16:creationId xmlns:a16="http://schemas.microsoft.com/office/drawing/2014/main" id="{2E82894E-EA98-330E-789A-1D1AF9D381DF}"/>
              </a:ext>
            </a:extLst>
          </p:cNvPr>
          <p:cNvGrpSpPr/>
          <p:nvPr/>
        </p:nvGrpSpPr>
        <p:grpSpPr>
          <a:xfrm>
            <a:off x="-2233459" y="0"/>
            <a:ext cx="2823530" cy="6858000"/>
            <a:chOff x="9481484" y="0"/>
            <a:chExt cx="2823530" cy="6858000"/>
          </a:xfrm>
        </p:grpSpPr>
        <p:sp>
          <p:nvSpPr>
            <p:cNvPr id="18" name="Rectangle 17">
              <a:extLst>
                <a:ext uri="{FF2B5EF4-FFF2-40B4-BE49-F238E27FC236}">
                  <a16:creationId xmlns:a16="http://schemas.microsoft.com/office/drawing/2014/main" id="{39155DAD-EECC-E786-E7C6-BC432A849937}"/>
                </a:ext>
              </a:extLst>
            </p:cNvPr>
            <p:cNvSpPr/>
            <p:nvPr/>
          </p:nvSpPr>
          <p:spPr>
            <a:xfrm>
              <a:off x="9564129" y="0"/>
              <a:ext cx="2627871" cy="6858000"/>
            </a:xfrm>
            <a:prstGeom prst="rect">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357349AA-FEEF-0904-2E8C-80619A06AFB4}"/>
                </a:ext>
              </a:extLst>
            </p:cNvPr>
            <p:cNvSpPr txBox="1"/>
            <p:nvPr/>
          </p:nvSpPr>
          <p:spPr>
            <a:xfrm>
              <a:off x="9681072" y="444542"/>
              <a:ext cx="2610089"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D</a:t>
              </a:r>
              <a:endParaRPr lang="en-US" sz="8000" b="1" dirty="0">
                <a:solidFill>
                  <a:schemeClr val="bg1"/>
                </a:solidFill>
                <a:latin typeface="Montserrat Black" pitchFamily="2" charset="77"/>
              </a:endParaRPr>
            </a:p>
          </p:txBody>
        </p:sp>
        <p:sp>
          <p:nvSpPr>
            <p:cNvPr id="9" name="TextBox 8">
              <a:extLst>
                <a:ext uri="{FF2B5EF4-FFF2-40B4-BE49-F238E27FC236}">
                  <a16:creationId xmlns:a16="http://schemas.microsoft.com/office/drawing/2014/main" id="{6862CD85-70D5-DFC0-816E-C35C185528A4}"/>
                </a:ext>
              </a:extLst>
            </p:cNvPr>
            <p:cNvSpPr txBox="1"/>
            <p:nvPr/>
          </p:nvSpPr>
          <p:spPr>
            <a:xfrm>
              <a:off x="9481484" y="2242254"/>
              <a:ext cx="2823530" cy="2677656"/>
            </a:xfrm>
            <a:prstGeom prst="rect">
              <a:avLst/>
            </a:prstGeom>
            <a:noFill/>
          </p:spPr>
          <p:txBody>
            <a:bodyPr wrap="square" rtlCol="0">
              <a:spAutoFit/>
            </a:bodyPr>
            <a:lstStyle/>
            <a:p>
              <a:pPr algn="ctr"/>
              <a:r>
                <a:rPr lang="en-US" sz="2400" b="1" dirty="0">
                  <a:solidFill>
                    <a:schemeClr val="bg1"/>
                  </a:solidFill>
                  <a:latin typeface="Montserrat" pitchFamily="2" charset="77"/>
                </a:rPr>
                <a:t>Final Remarks</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As I have reached the end of this project there are some things I noticed I could have done to improve the final product if given more time to refine it.</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5" name="Group 14">
            <a:extLst>
              <a:ext uri="{FF2B5EF4-FFF2-40B4-BE49-F238E27FC236}">
                <a16:creationId xmlns:a16="http://schemas.microsoft.com/office/drawing/2014/main" id="{26A2E528-48FD-67C2-E9B6-905719267EDF}"/>
              </a:ext>
            </a:extLst>
          </p:cNvPr>
          <p:cNvGrpSpPr/>
          <p:nvPr/>
        </p:nvGrpSpPr>
        <p:grpSpPr>
          <a:xfrm>
            <a:off x="-2749757" y="0"/>
            <a:ext cx="3699525" cy="6858000"/>
            <a:chOff x="6376086" y="0"/>
            <a:chExt cx="3699525" cy="6858000"/>
          </a:xfrm>
        </p:grpSpPr>
        <p:sp>
          <p:nvSpPr>
            <p:cNvPr id="17" name="Rectangle 16">
              <a:extLst>
                <a:ext uri="{FF2B5EF4-FFF2-40B4-BE49-F238E27FC236}">
                  <a16:creationId xmlns:a16="http://schemas.microsoft.com/office/drawing/2014/main" id="{69E284FE-636D-BDCA-9FF7-7D5FD941A54B}"/>
                </a:ext>
              </a:extLst>
            </p:cNvPr>
            <p:cNvSpPr/>
            <p:nvPr/>
          </p:nvSpPr>
          <p:spPr>
            <a:xfrm>
              <a:off x="6376086" y="0"/>
              <a:ext cx="3188043" cy="6858000"/>
            </a:xfrm>
            <a:prstGeom prst="rect">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riangle 20">
              <a:extLst>
                <a:ext uri="{FF2B5EF4-FFF2-40B4-BE49-F238E27FC236}">
                  <a16:creationId xmlns:a16="http://schemas.microsoft.com/office/drawing/2014/main" id="{4ABF2934-9FC9-D566-E392-E8F59D92EEB1}"/>
                </a:ext>
              </a:extLst>
            </p:cNvPr>
            <p:cNvSpPr/>
            <p:nvPr/>
          </p:nvSpPr>
          <p:spPr>
            <a:xfrm rot="5400000">
              <a:off x="9226084" y="1158670"/>
              <a:ext cx="1105930" cy="593125"/>
            </a:xfrm>
            <a:prstGeom prst="triangle">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CB5E96CC-6F28-62D4-5226-A7515CEA2A13}"/>
                </a:ext>
              </a:extLst>
            </p:cNvPr>
            <p:cNvSpPr txBox="1"/>
            <p:nvPr/>
          </p:nvSpPr>
          <p:spPr>
            <a:xfrm>
              <a:off x="6491698"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C</a:t>
              </a:r>
              <a:endParaRPr lang="en-US" sz="8000" b="1" dirty="0">
                <a:solidFill>
                  <a:schemeClr val="bg1"/>
                </a:solidFill>
                <a:latin typeface="Montserrat Black" pitchFamily="2" charset="77"/>
              </a:endParaRPr>
            </a:p>
          </p:txBody>
        </p:sp>
        <p:sp>
          <p:nvSpPr>
            <p:cNvPr id="7" name="TextBox 6">
              <a:extLst>
                <a:ext uri="{FF2B5EF4-FFF2-40B4-BE49-F238E27FC236}">
                  <a16:creationId xmlns:a16="http://schemas.microsoft.com/office/drawing/2014/main" id="{8DAAF0D8-2441-2F19-8A06-FEB1BF2D4F1E}"/>
                </a:ext>
              </a:extLst>
            </p:cNvPr>
            <p:cNvSpPr txBox="1"/>
            <p:nvPr/>
          </p:nvSpPr>
          <p:spPr>
            <a:xfrm>
              <a:off x="6558341" y="2227640"/>
              <a:ext cx="2823530" cy="4278094"/>
            </a:xfrm>
            <a:prstGeom prst="rect">
              <a:avLst/>
            </a:prstGeom>
            <a:noFill/>
          </p:spPr>
          <p:txBody>
            <a:bodyPr wrap="square" rtlCol="0">
              <a:spAutoFit/>
            </a:bodyPr>
            <a:lstStyle/>
            <a:p>
              <a:pPr algn="ctr"/>
              <a:r>
                <a:rPr lang="en-US" sz="2000" b="1" dirty="0">
                  <a:solidFill>
                    <a:schemeClr val="bg1"/>
                  </a:solidFill>
                  <a:latin typeface="Montserrat" pitchFamily="2" charset="77"/>
                </a:rPr>
                <a:t>Inventory Manager</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Used machine learning models to help with creating an inventory manager tool. The tool is provided in an R Studio quarto document, where the customer only needs to upload the most recent csv file and update chunks in areas that are noted then run every chunk to receive a new csv file which provides a list of items each store should hold based on available SKU counts for each individual store, priority and parameters I have set for each tier of store.</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4" name="Group 13">
            <a:extLst>
              <a:ext uri="{FF2B5EF4-FFF2-40B4-BE49-F238E27FC236}">
                <a16:creationId xmlns:a16="http://schemas.microsoft.com/office/drawing/2014/main" id="{C5B0256D-6D19-589B-AB21-C945067BD074}"/>
              </a:ext>
            </a:extLst>
          </p:cNvPr>
          <p:cNvGrpSpPr/>
          <p:nvPr/>
        </p:nvGrpSpPr>
        <p:grpSpPr>
          <a:xfrm>
            <a:off x="-2927462" y="-1"/>
            <a:ext cx="3721672" cy="6889681"/>
            <a:chOff x="3188043" y="-1"/>
            <a:chExt cx="3721672" cy="6889681"/>
          </a:xfrm>
        </p:grpSpPr>
        <p:sp>
          <p:nvSpPr>
            <p:cNvPr id="16" name="Rectangle 15">
              <a:extLst>
                <a:ext uri="{FF2B5EF4-FFF2-40B4-BE49-F238E27FC236}">
                  <a16:creationId xmlns:a16="http://schemas.microsoft.com/office/drawing/2014/main" id="{1B71AB49-C690-E672-17C5-76B728C8E30D}"/>
                </a:ext>
              </a:extLst>
            </p:cNvPr>
            <p:cNvSpPr/>
            <p:nvPr/>
          </p:nvSpPr>
          <p:spPr>
            <a:xfrm>
              <a:off x="3188043" y="-1"/>
              <a:ext cx="3188043" cy="6858000"/>
            </a:xfrm>
            <a:prstGeom prst="rect">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riangle 19">
              <a:extLst>
                <a:ext uri="{FF2B5EF4-FFF2-40B4-BE49-F238E27FC236}">
                  <a16:creationId xmlns:a16="http://schemas.microsoft.com/office/drawing/2014/main" id="{397BC924-431E-1D8C-1264-CABC93557382}"/>
                </a:ext>
              </a:extLst>
            </p:cNvPr>
            <p:cNvSpPr/>
            <p:nvPr/>
          </p:nvSpPr>
          <p:spPr>
            <a:xfrm rot="5400000">
              <a:off x="6060188" y="1142339"/>
              <a:ext cx="1105930" cy="593125"/>
            </a:xfrm>
            <a:prstGeom prst="triangle">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6873A535-F69B-B16F-F688-3DAEE3223300}"/>
                </a:ext>
              </a:extLst>
            </p:cNvPr>
            <p:cNvSpPr txBox="1"/>
            <p:nvPr/>
          </p:nvSpPr>
          <p:spPr>
            <a:xfrm>
              <a:off x="3303655"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B</a:t>
              </a:r>
              <a:endParaRPr lang="en-US" sz="8000" b="1" dirty="0">
                <a:solidFill>
                  <a:schemeClr val="bg1"/>
                </a:solidFill>
                <a:latin typeface="Montserrat Black" pitchFamily="2" charset="77"/>
              </a:endParaRPr>
            </a:p>
          </p:txBody>
        </p:sp>
        <p:sp>
          <p:nvSpPr>
            <p:cNvPr id="5" name="TextBox 4">
              <a:extLst>
                <a:ext uri="{FF2B5EF4-FFF2-40B4-BE49-F238E27FC236}">
                  <a16:creationId xmlns:a16="http://schemas.microsoft.com/office/drawing/2014/main" id="{67068DD3-800B-F514-5C93-9A2A298ED180}"/>
                </a:ext>
              </a:extLst>
            </p:cNvPr>
            <p:cNvSpPr txBox="1"/>
            <p:nvPr/>
          </p:nvSpPr>
          <p:spPr>
            <a:xfrm>
              <a:off x="3370298" y="2242254"/>
              <a:ext cx="2823530" cy="4647426"/>
            </a:xfrm>
            <a:prstGeom prst="rect">
              <a:avLst/>
            </a:prstGeom>
            <a:noFill/>
          </p:spPr>
          <p:txBody>
            <a:bodyPr wrap="square" rtlCol="0">
              <a:spAutoFit/>
            </a:bodyPr>
            <a:lstStyle/>
            <a:p>
              <a:pPr algn="ctr"/>
              <a:r>
                <a:rPr lang="en-US" b="1" dirty="0">
                  <a:solidFill>
                    <a:schemeClr val="bg1"/>
                  </a:solidFill>
                  <a:latin typeface="Montserrat" pitchFamily="2" charset="77"/>
                </a:rPr>
                <a:t>Variable Engineering and Modeling</a:t>
              </a: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I created a new variable named “priority” by observing items in their dataset and separated items by three different tiers. High Priority items are the top 25% performing items globally, Medium priority the middle 50%, and low priority the lowest 25% performing items globally. The items are observed on a yearly basis. I then used priority as the main variable to create a formula for a machine learning model to help with predicting how items would perform in future years based on current performance. </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3" name="Group 12">
            <a:extLst>
              <a:ext uri="{FF2B5EF4-FFF2-40B4-BE49-F238E27FC236}">
                <a16:creationId xmlns:a16="http://schemas.microsoft.com/office/drawing/2014/main" id="{D5158E6B-6063-11C2-4884-613C06F38F17}"/>
              </a:ext>
            </a:extLst>
          </p:cNvPr>
          <p:cNvGrpSpPr/>
          <p:nvPr/>
        </p:nvGrpSpPr>
        <p:grpSpPr>
          <a:xfrm>
            <a:off x="-3137107" y="-1"/>
            <a:ext cx="3746164" cy="6858002"/>
            <a:chOff x="0" y="-1"/>
            <a:chExt cx="3746164" cy="6858002"/>
          </a:xfrm>
        </p:grpSpPr>
        <p:sp>
          <p:nvSpPr>
            <p:cNvPr id="2" name="Rectangle 1">
              <a:extLst>
                <a:ext uri="{FF2B5EF4-FFF2-40B4-BE49-F238E27FC236}">
                  <a16:creationId xmlns:a16="http://schemas.microsoft.com/office/drawing/2014/main" id="{2E11BD39-4400-02F0-3970-6400E8E70252}"/>
                </a:ext>
              </a:extLst>
            </p:cNvPr>
            <p:cNvSpPr/>
            <p:nvPr/>
          </p:nvSpPr>
          <p:spPr>
            <a:xfrm>
              <a:off x="0" y="-1"/>
              <a:ext cx="3188043" cy="6858002"/>
            </a:xfrm>
            <a:prstGeom prst="rect">
              <a:avLst/>
            </a:prstGeom>
            <a:solidFill>
              <a:srgbClr val="FE00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6000" dirty="0">
                <a:latin typeface=""/>
              </a:endParaRPr>
            </a:p>
          </p:txBody>
        </p:sp>
        <p:sp>
          <p:nvSpPr>
            <p:cNvPr id="19" name="Triangle 18">
              <a:extLst>
                <a:ext uri="{FF2B5EF4-FFF2-40B4-BE49-F238E27FC236}">
                  <a16:creationId xmlns:a16="http://schemas.microsoft.com/office/drawing/2014/main" id="{189811AE-5544-DF73-0E56-B0DE184EAA23}"/>
                </a:ext>
              </a:extLst>
            </p:cNvPr>
            <p:cNvSpPr/>
            <p:nvPr/>
          </p:nvSpPr>
          <p:spPr>
            <a:xfrm rot="5400000">
              <a:off x="2896637" y="1134837"/>
              <a:ext cx="1105930" cy="593125"/>
            </a:xfrm>
            <a:prstGeom prst="triangle">
              <a:avLst/>
            </a:prstGeom>
            <a:solidFill>
              <a:srgbClr val="FE00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B74AFF32-3EEB-B87E-45E8-0A98C095B892}"/>
                </a:ext>
              </a:extLst>
            </p:cNvPr>
            <p:cNvSpPr txBox="1"/>
            <p:nvPr/>
          </p:nvSpPr>
          <p:spPr>
            <a:xfrm>
              <a:off x="115612"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A</a:t>
              </a:r>
              <a:endParaRPr lang="en-US" sz="8000" b="1" dirty="0">
                <a:solidFill>
                  <a:schemeClr val="bg1"/>
                </a:solidFill>
                <a:latin typeface="Montserrat Black" pitchFamily="2" charset="77"/>
              </a:endParaRPr>
            </a:p>
          </p:txBody>
        </p:sp>
        <p:sp>
          <p:nvSpPr>
            <p:cNvPr id="3" name="TextBox 2">
              <a:extLst>
                <a:ext uri="{FF2B5EF4-FFF2-40B4-BE49-F238E27FC236}">
                  <a16:creationId xmlns:a16="http://schemas.microsoft.com/office/drawing/2014/main" id="{D3D09FE4-874F-D751-BF44-F298123395BA}"/>
                </a:ext>
              </a:extLst>
            </p:cNvPr>
            <p:cNvSpPr txBox="1"/>
            <p:nvPr/>
          </p:nvSpPr>
          <p:spPr>
            <a:xfrm>
              <a:off x="179910" y="2206072"/>
              <a:ext cx="2823530" cy="3785652"/>
            </a:xfrm>
            <a:prstGeom prst="rect">
              <a:avLst/>
            </a:prstGeom>
            <a:noFill/>
          </p:spPr>
          <p:txBody>
            <a:bodyPr wrap="square" rtlCol="0">
              <a:spAutoFit/>
            </a:bodyPr>
            <a:lstStyle/>
            <a:p>
              <a:pPr algn="ctr"/>
              <a:r>
                <a:rPr lang="en-US" sz="2400" b="1">
                  <a:solidFill>
                    <a:schemeClr val="bg1"/>
                  </a:solidFill>
                  <a:latin typeface="Montserrat" pitchFamily="2" charset="77"/>
                </a:rPr>
                <a:t>Current Method</a:t>
              </a:r>
            </a:p>
            <a:p>
              <a:pPr algn="ctr"/>
              <a:endParaRPr lang="en-US" sz="1600">
                <a:solidFill>
                  <a:schemeClr val="bg1"/>
                </a:solidFill>
                <a:latin typeface="Montserrat" pitchFamily="2" charset="77"/>
              </a:endParaRPr>
            </a:p>
            <a:p>
              <a:pPr algn="ctr"/>
              <a:endParaRPr lang="en-US" sz="1600">
                <a:solidFill>
                  <a:schemeClr val="bg1"/>
                </a:solidFill>
                <a:latin typeface="Montserrat" pitchFamily="2" charset="77"/>
              </a:endParaRPr>
            </a:p>
            <a:p>
              <a:pPr algn="ctr"/>
              <a:r>
                <a:rPr lang="en-US" sz="1200">
                  <a:solidFill>
                    <a:schemeClr val="bg1"/>
                  </a:solidFill>
                  <a:latin typeface="Montserrat" pitchFamily="2" charset="77"/>
                </a:rPr>
                <a:t>ABS team currently observes their buying patterns through two observations including store size and store performance. For my project I have included two variables named “storesizecat” which includes their ranking of store sizes and “storetiercat” which includes their financial performance rankings based on ABS preset parameters. </a:t>
              </a:r>
            </a:p>
            <a:p>
              <a:pPr algn="ctr"/>
              <a:endParaRPr lang="en-US" b="1">
                <a:solidFill>
                  <a:schemeClr val="bg1"/>
                </a:solidFill>
                <a:latin typeface="Montserrat" pitchFamily="2" charset="77"/>
              </a:endParaRPr>
            </a:p>
            <a:p>
              <a:pPr algn="ctr"/>
              <a:endParaRPr lang="en-US" b="1">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pic>
        <p:nvPicPr>
          <p:cNvPr id="12" name="Picture 11" descr="A bar chart with different colored bars&#10;&#10;AI-generated content may be incorrect.">
            <a:extLst>
              <a:ext uri="{FF2B5EF4-FFF2-40B4-BE49-F238E27FC236}">
                <a16:creationId xmlns:a16="http://schemas.microsoft.com/office/drawing/2014/main" id="{00279AE7-43C8-510F-DB55-2D09C5EC9528}"/>
              </a:ext>
            </a:extLst>
          </p:cNvPr>
          <p:cNvPicPr>
            <a:picLocks noChangeAspect="1"/>
          </p:cNvPicPr>
          <p:nvPr/>
        </p:nvPicPr>
        <p:blipFill>
          <a:blip r:embed="rId3"/>
          <a:stretch>
            <a:fillRect/>
          </a:stretch>
        </p:blipFill>
        <p:spPr>
          <a:xfrm>
            <a:off x="1049384" y="146136"/>
            <a:ext cx="5228912" cy="3136900"/>
          </a:xfrm>
          <a:prstGeom prst="rect">
            <a:avLst/>
          </a:prstGeom>
        </p:spPr>
      </p:pic>
      <p:pic>
        <p:nvPicPr>
          <p:cNvPr id="26" name="Picture 25" descr="A graph of liquor purchase frequency&#10;&#10;AI-generated content may be incorrect.">
            <a:extLst>
              <a:ext uri="{FF2B5EF4-FFF2-40B4-BE49-F238E27FC236}">
                <a16:creationId xmlns:a16="http://schemas.microsoft.com/office/drawing/2014/main" id="{37CD9E54-DA54-39A2-59AC-1DBA0E6A60BC}"/>
              </a:ext>
            </a:extLst>
          </p:cNvPr>
          <p:cNvPicPr>
            <a:picLocks noChangeAspect="1"/>
          </p:cNvPicPr>
          <p:nvPr/>
        </p:nvPicPr>
        <p:blipFill>
          <a:blip r:embed="rId4"/>
          <a:stretch>
            <a:fillRect/>
          </a:stretch>
        </p:blipFill>
        <p:spPr>
          <a:xfrm>
            <a:off x="6755357" y="157648"/>
            <a:ext cx="5080000" cy="3136900"/>
          </a:xfrm>
          <a:prstGeom prst="rect">
            <a:avLst/>
          </a:prstGeom>
        </p:spPr>
      </p:pic>
      <p:pic>
        <p:nvPicPr>
          <p:cNvPr id="28" name="Picture 27" descr="A screenshot of a black menu&#10;&#10;AI-generated content may be incorrect.">
            <a:extLst>
              <a:ext uri="{FF2B5EF4-FFF2-40B4-BE49-F238E27FC236}">
                <a16:creationId xmlns:a16="http://schemas.microsoft.com/office/drawing/2014/main" id="{D532185A-097B-DCB6-4DD2-788D5EA98B6F}"/>
              </a:ext>
            </a:extLst>
          </p:cNvPr>
          <p:cNvPicPr>
            <a:picLocks noChangeAspect="1"/>
          </p:cNvPicPr>
          <p:nvPr/>
        </p:nvPicPr>
        <p:blipFill>
          <a:blip r:embed="rId5"/>
          <a:stretch>
            <a:fillRect/>
          </a:stretch>
        </p:blipFill>
        <p:spPr>
          <a:xfrm>
            <a:off x="672717" y="4171392"/>
            <a:ext cx="3671214" cy="2497156"/>
          </a:xfrm>
          <a:prstGeom prst="rect">
            <a:avLst/>
          </a:prstGeom>
        </p:spPr>
      </p:pic>
      <p:pic>
        <p:nvPicPr>
          <p:cNvPr id="30" name="Picture 29" descr="A screenshot of a black and white bar&#10;&#10;AI-generated content may be incorrect.">
            <a:extLst>
              <a:ext uri="{FF2B5EF4-FFF2-40B4-BE49-F238E27FC236}">
                <a16:creationId xmlns:a16="http://schemas.microsoft.com/office/drawing/2014/main" id="{1C0A646A-30CC-1BF9-23BB-80882F6109AF}"/>
              </a:ext>
            </a:extLst>
          </p:cNvPr>
          <p:cNvPicPr>
            <a:picLocks noChangeAspect="1"/>
          </p:cNvPicPr>
          <p:nvPr/>
        </p:nvPicPr>
        <p:blipFill>
          <a:blip r:embed="rId6"/>
          <a:stretch>
            <a:fillRect/>
          </a:stretch>
        </p:blipFill>
        <p:spPr>
          <a:xfrm>
            <a:off x="4539591" y="4171392"/>
            <a:ext cx="3769038" cy="2497156"/>
          </a:xfrm>
          <a:prstGeom prst="rect">
            <a:avLst/>
          </a:prstGeom>
        </p:spPr>
      </p:pic>
      <p:pic>
        <p:nvPicPr>
          <p:cNvPr id="32" name="Picture 31" descr="A screenshot of a black and white bar menu&#10;&#10;AI-generated content may be incorrect.">
            <a:extLst>
              <a:ext uri="{FF2B5EF4-FFF2-40B4-BE49-F238E27FC236}">
                <a16:creationId xmlns:a16="http://schemas.microsoft.com/office/drawing/2014/main" id="{6C8E5121-1F72-88D3-A1A2-20B629600196}"/>
              </a:ext>
            </a:extLst>
          </p:cNvPr>
          <p:cNvPicPr>
            <a:picLocks noChangeAspect="1"/>
          </p:cNvPicPr>
          <p:nvPr/>
        </p:nvPicPr>
        <p:blipFill>
          <a:blip r:embed="rId7"/>
          <a:stretch>
            <a:fillRect/>
          </a:stretch>
        </p:blipFill>
        <p:spPr>
          <a:xfrm>
            <a:off x="8504289" y="4171392"/>
            <a:ext cx="3553554" cy="2466865"/>
          </a:xfrm>
          <a:prstGeom prst="rect">
            <a:avLst/>
          </a:prstGeom>
        </p:spPr>
      </p:pic>
      <p:sp>
        <p:nvSpPr>
          <p:cNvPr id="33" name="TextBox 32">
            <a:extLst>
              <a:ext uri="{FF2B5EF4-FFF2-40B4-BE49-F238E27FC236}">
                <a16:creationId xmlns:a16="http://schemas.microsoft.com/office/drawing/2014/main" id="{991093C3-A3E2-94EF-FCE0-5AA03611786D}"/>
              </a:ext>
            </a:extLst>
          </p:cNvPr>
          <p:cNvSpPr txBox="1"/>
          <p:nvPr/>
        </p:nvSpPr>
        <p:spPr>
          <a:xfrm>
            <a:off x="794211" y="3581082"/>
            <a:ext cx="3232480" cy="369332"/>
          </a:xfrm>
          <a:prstGeom prst="rect">
            <a:avLst/>
          </a:prstGeom>
          <a:noFill/>
        </p:spPr>
        <p:txBody>
          <a:bodyPr wrap="square" rtlCol="0">
            <a:spAutoFit/>
          </a:bodyPr>
          <a:lstStyle/>
          <a:p>
            <a:pPr algn="ctr"/>
            <a:r>
              <a:rPr lang="en-US" dirty="0">
                <a:solidFill>
                  <a:schemeClr val="bg1"/>
                </a:solidFill>
                <a:latin typeface="Montserrat" pitchFamily="2" charset="77"/>
              </a:rPr>
              <a:t>Tier 1 Stores</a:t>
            </a:r>
          </a:p>
        </p:txBody>
      </p:sp>
      <p:sp>
        <p:nvSpPr>
          <p:cNvPr id="34" name="TextBox 33">
            <a:extLst>
              <a:ext uri="{FF2B5EF4-FFF2-40B4-BE49-F238E27FC236}">
                <a16:creationId xmlns:a16="http://schemas.microsoft.com/office/drawing/2014/main" id="{E2538D2B-B97D-58E2-AB16-852EF1A712A1}"/>
              </a:ext>
            </a:extLst>
          </p:cNvPr>
          <p:cNvSpPr txBox="1"/>
          <p:nvPr/>
        </p:nvSpPr>
        <p:spPr>
          <a:xfrm>
            <a:off x="4662056" y="3615330"/>
            <a:ext cx="3232480" cy="369332"/>
          </a:xfrm>
          <a:prstGeom prst="rect">
            <a:avLst/>
          </a:prstGeom>
          <a:noFill/>
        </p:spPr>
        <p:txBody>
          <a:bodyPr wrap="square" rtlCol="0">
            <a:spAutoFit/>
          </a:bodyPr>
          <a:lstStyle/>
          <a:p>
            <a:pPr algn="ctr"/>
            <a:r>
              <a:rPr lang="en-US" dirty="0">
                <a:solidFill>
                  <a:schemeClr val="bg1"/>
                </a:solidFill>
                <a:latin typeface="Montserrat" pitchFamily="2" charset="77"/>
              </a:rPr>
              <a:t>Tier 2 Stores</a:t>
            </a:r>
          </a:p>
        </p:txBody>
      </p:sp>
      <p:sp>
        <p:nvSpPr>
          <p:cNvPr id="35" name="TextBox 34">
            <a:extLst>
              <a:ext uri="{FF2B5EF4-FFF2-40B4-BE49-F238E27FC236}">
                <a16:creationId xmlns:a16="http://schemas.microsoft.com/office/drawing/2014/main" id="{2EA8A98C-3C9F-8130-6EEE-530529CD97E4}"/>
              </a:ext>
            </a:extLst>
          </p:cNvPr>
          <p:cNvSpPr txBox="1"/>
          <p:nvPr/>
        </p:nvSpPr>
        <p:spPr>
          <a:xfrm>
            <a:off x="8602877" y="3615330"/>
            <a:ext cx="3232480" cy="369332"/>
          </a:xfrm>
          <a:prstGeom prst="rect">
            <a:avLst/>
          </a:prstGeom>
          <a:noFill/>
        </p:spPr>
        <p:txBody>
          <a:bodyPr wrap="square" rtlCol="0">
            <a:spAutoFit/>
          </a:bodyPr>
          <a:lstStyle/>
          <a:p>
            <a:pPr algn="ctr"/>
            <a:r>
              <a:rPr lang="en-US" dirty="0">
                <a:solidFill>
                  <a:schemeClr val="bg1"/>
                </a:solidFill>
                <a:latin typeface="Montserrat" pitchFamily="2" charset="77"/>
              </a:rPr>
              <a:t>Tier 3 Stores</a:t>
            </a:r>
          </a:p>
        </p:txBody>
      </p:sp>
    </p:spTree>
    <p:extLst>
      <p:ext uri="{BB962C8B-B14F-4D97-AF65-F5344CB8AC3E}">
        <p14:creationId xmlns:p14="http://schemas.microsoft.com/office/powerpoint/2010/main" val="2825696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D00000"/>
        </a:solidFill>
        <a:effectLst/>
      </p:bgPr>
    </p:bg>
    <p:spTree>
      <p:nvGrpSpPr>
        <p:cNvPr id="1" name="">
          <a:extLst>
            <a:ext uri="{FF2B5EF4-FFF2-40B4-BE49-F238E27FC236}">
              <a16:creationId xmlns:a16="http://schemas.microsoft.com/office/drawing/2014/main" id="{AC906A80-041A-F81F-253B-A4CBF443D494}"/>
            </a:ext>
          </a:extLst>
        </p:cNvPr>
        <p:cNvGrpSpPr/>
        <p:nvPr/>
      </p:nvGrpSpPr>
      <p:grpSpPr>
        <a:xfrm>
          <a:off x="0" y="0"/>
          <a:ext cx="0" cy="0"/>
          <a:chOff x="0" y="0"/>
          <a:chExt cx="0" cy="0"/>
        </a:xfrm>
      </p:grpSpPr>
      <p:grpSp>
        <p:nvGrpSpPr>
          <p:cNvPr id="23" name="Group 22">
            <a:extLst>
              <a:ext uri="{FF2B5EF4-FFF2-40B4-BE49-F238E27FC236}">
                <a16:creationId xmlns:a16="http://schemas.microsoft.com/office/drawing/2014/main" id="{546F4BBB-5260-EAE1-A4DE-2AE6D02B730C}"/>
              </a:ext>
            </a:extLst>
          </p:cNvPr>
          <p:cNvGrpSpPr/>
          <p:nvPr/>
        </p:nvGrpSpPr>
        <p:grpSpPr>
          <a:xfrm>
            <a:off x="973968" y="0"/>
            <a:ext cx="2823530" cy="6858000"/>
            <a:chOff x="9481484" y="0"/>
            <a:chExt cx="2823530" cy="6858000"/>
          </a:xfrm>
        </p:grpSpPr>
        <p:sp>
          <p:nvSpPr>
            <p:cNvPr id="18" name="Rectangle 17">
              <a:extLst>
                <a:ext uri="{FF2B5EF4-FFF2-40B4-BE49-F238E27FC236}">
                  <a16:creationId xmlns:a16="http://schemas.microsoft.com/office/drawing/2014/main" id="{9D592ABA-29F2-5051-9368-C7BFE4DF777A}"/>
                </a:ext>
              </a:extLst>
            </p:cNvPr>
            <p:cNvSpPr/>
            <p:nvPr/>
          </p:nvSpPr>
          <p:spPr>
            <a:xfrm>
              <a:off x="9564129" y="0"/>
              <a:ext cx="2627871" cy="6858000"/>
            </a:xfrm>
            <a:prstGeom prst="rect">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3B5D6116-9931-8F91-000E-CA3D0769D7CA}"/>
                </a:ext>
              </a:extLst>
            </p:cNvPr>
            <p:cNvSpPr txBox="1"/>
            <p:nvPr/>
          </p:nvSpPr>
          <p:spPr>
            <a:xfrm>
              <a:off x="9681072" y="444542"/>
              <a:ext cx="2610089"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D</a:t>
              </a:r>
              <a:endParaRPr lang="en-US" sz="8000" b="1" dirty="0">
                <a:solidFill>
                  <a:schemeClr val="bg1"/>
                </a:solidFill>
                <a:latin typeface="Montserrat Black" pitchFamily="2" charset="77"/>
              </a:endParaRPr>
            </a:p>
          </p:txBody>
        </p:sp>
        <p:sp>
          <p:nvSpPr>
            <p:cNvPr id="9" name="TextBox 8">
              <a:extLst>
                <a:ext uri="{FF2B5EF4-FFF2-40B4-BE49-F238E27FC236}">
                  <a16:creationId xmlns:a16="http://schemas.microsoft.com/office/drawing/2014/main" id="{2151A19B-9596-0005-6CEF-91C3DCD7E8F8}"/>
                </a:ext>
              </a:extLst>
            </p:cNvPr>
            <p:cNvSpPr txBox="1"/>
            <p:nvPr/>
          </p:nvSpPr>
          <p:spPr>
            <a:xfrm>
              <a:off x="9481484" y="2242254"/>
              <a:ext cx="2823530" cy="2677656"/>
            </a:xfrm>
            <a:prstGeom prst="rect">
              <a:avLst/>
            </a:prstGeom>
            <a:noFill/>
          </p:spPr>
          <p:txBody>
            <a:bodyPr wrap="square" rtlCol="0">
              <a:spAutoFit/>
            </a:bodyPr>
            <a:lstStyle/>
            <a:p>
              <a:pPr algn="ctr"/>
              <a:r>
                <a:rPr lang="en-US" sz="2400" b="1" dirty="0">
                  <a:solidFill>
                    <a:schemeClr val="bg1"/>
                  </a:solidFill>
                  <a:latin typeface="Montserrat" pitchFamily="2" charset="77"/>
                </a:rPr>
                <a:t>Final Remarks</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As I have reached the end of this project there are some things I noticed I could have done to improve the final product if given more time to refine it.</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5" name="Group 14">
            <a:extLst>
              <a:ext uri="{FF2B5EF4-FFF2-40B4-BE49-F238E27FC236}">
                <a16:creationId xmlns:a16="http://schemas.microsoft.com/office/drawing/2014/main" id="{55BF2A9D-ADF2-631B-B7E8-81085708F14D}"/>
              </a:ext>
            </a:extLst>
          </p:cNvPr>
          <p:cNvGrpSpPr/>
          <p:nvPr/>
        </p:nvGrpSpPr>
        <p:grpSpPr>
          <a:xfrm>
            <a:off x="457664" y="0"/>
            <a:ext cx="3713593" cy="6858000"/>
            <a:chOff x="6362018" y="0"/>
            <a:chExt cx="3713593" cy="6858000"/>
          </a:xfrm>
        </p:grpSpPr>
        <p:sp>
          <p:nvSpPr>
            <p:cNvPr id="17" name="Rectangle 16">
              <a:extLst>
                <a:ext uri="{FF2B5EF4-FFF2-40B4-BE49-F238E27FC236}">
                  <a16:creationId xmlns:a16="http://schemas.microsoft.com/office/drawing/2014/main" id="{C2103B24-3023-7F1A-4F8E-B4A1856FC614}"/>
                </a:ext>
              </a:extLst>
            </p:cNvPr>
            <p:cNvSpPr/>
            <p:nvPr/>
          </p:nvSpPr>
          <p:spPr>
            <a:xfrm>
              <a:off x="6362018" y="0"/>
              <a:ext cx="3188043" cy="6858000"/>
            </a:xfrm>
            <a:prstGeom prst="rect">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riangle 20">
              <a:extLst>
                <a:ext uri="{FF2B5EF4-FFF2-40B4-BE49-F238E27FC236}">
                  <a16:creationId xmlns:a16="http://schemas.microsoft.com/office/drawing/2014/main" id="{A9E7B975-2165-3F16-BA06-8BF755AE2AE3}"/>
                </a:ext>
              </a:extLst>
            </p:cNvPr>
            <p:cNvSpPr/>
            <p:nvPr/>
          </p:nvSpPr>
          <p:spPr>
            <a:xfrm rot="5400000">
              <a:off x="9226084" y="1158670"/>
              <a:ext cx="1105930" cy="593125"/>
            </a:xfrm>
            <a:prstGeom prst="triangle">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B6C25664-3C9A-63EC-2ACB-2E465EC151C5}"/>
                </a:ext>
              </a:extLst>
            </p:cNvPr>
            <p:cNvSpPr txBox="1"/>
            <p:nvPr/>
          </p:nvSpPr>
          <p:spPr>
            <a:xfrm>
              <a:off x="6491698"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C</a:t>
              </a:r>
              <a:endParaRPr lang="en-US" sz="8000" b="1" dirty="0">
                <a:solidFill>
                  <a:schemeClr val="bg1"/>
                </a:solidFill>
                <a:latin typeface="Montserrat Black" pitchFamily="2" charset="77"/>
              </a:endParaRPr>
            </a:p>
          </p:txBody>
        </p:sp>
        <p:sp>
          <p:nvSpPr>
            <p:cNvPr id="7" name="TextBox 6">
              <a:extLst>
                <a:ext uri="{FF2B5EF4-FFF2-40B4-BE49-F238E27FC236}">
                  <a16:creationId xmlns:a16="http://schemas.microsoft.com/office/drawing/2014/main" id="{51B3125A-8726-A8E2-ECE9-A1D05961CE3E}"/>
                </a:ext>
              </a:extLst>
            </p:cNvPr>
            <p:cNvSpPr txBox="1"/>
            <p:nvPr/>
          </p:nvSpPr>
          <p:spPr>
            <a:xfrm>
              <a:off x="6558341" y="2227640"/>
              <a:ext cx="2823530" cy="4278094"/>
            </a:xfrm>
            <a:prstGeom prst="rect">
              <a:avLst/>
            </a:prstGeom>
            <a:noFill/>
          </p:spPr>
          <p:txBody>
            <a:bodyPr wrap="square" rtlCol="0">
              <a:spAutoFit/>
            </a:bodyPr>
            <a:lstStyle/>
            <a:p>
              <a:pPr algn="ctr"/>
              <a:r>
                <a:rPr lang="en-US" sz="2000" b="1" dirty="0">
                  <a:solidFill>
                    <a:schemeClr val="bg1"/>
                  </a:solidFill>
                  <a:latin typeface="Montserrat" pitchFamily="2" charset="77"/>
                </a:rPr>
                <a:t>Inventory Manager</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Used machine learning models to help with creating an inventory manager tool. The tool is provided in an R Studio quarto document, where the customer only needs to upload the most recent csv file and update chunks in areas that are noted then run every chunk to receive a new csv file which provides a list of items each store should hold based on available SKU counts for each individual store, priority and parameters I have set for each tier of store.</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4" name="Group 13">
            <a:extLst>
              <a:ext uri="{FF2B5EF4-FFF2-40B4-BE49-F238E27FC236}">
                <a16:creationId xmlns:a16="http://schemas.microsoft.com/office/drawing/2014/main" id="{209D2E4E-2D9F-1CF2-97AA-3F22B3B7039B}"/>
              </a:ext>
            </a:extLst>
          </p:cNvPr>
          <p:cNvGrpSpPr/>
          <p:nvPr/>
        </p:nvGrpSpPr>
        <p:grpSpPr>
          <a:xfrm>
            <a:off x="265902" y="0"/>
            <a:ext cx="3721672" cy="6889681"/>
            <a:chOff x="3188043" y="-1"/>
            <a:chExt cx="3721672" cy="6889681"/>
          </a:xfrm>
        </p:grpSpPr>
        <p:sp>
          <p:nvSpPr>
            <p:cNvPr id="16" name="Rectangle 15">
              <a:extLst>
                <a:ext uri="{FF2B5EF4-FFF2-40B4-BE49-F238E27FC236}">
                  <a16:creationId xmlns:a16="http://schemas.microsoft.com/office/drawing/2014/main" id="{3F113A53-9161-B699-9913-CD57A09C28F5}"/>
                </a:ext>
              </a:extLst>
            </p:cNvPr>
            <p:cNvSpPr/>
            <p:nvPr/>
          </p:nvSpPr>
          <p:spPr>
            <a:xfrm>
              <a:off x="3188043" y="-1"/>
              <a:ext cx="3188043" cy="6858000"/>
            </a:xfrm>
            <a:prstGeom prst="rect">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riangle 19">
              <a:extLst>
                <a:ext uri="{FF2B5EF4-FFF2-40B4-BE49-F238E27FC236}">
                  <a16:creationId xmlns:a16="http://schemas.microsoft.com/office/drawing/2014/main" id="{1E62F215-9A90-7322-1477-BB4B68105253}"/>
                </a:ext>
              </a:extLst>
            </p:cNvPr>
            <p:cNvSpPr/>
            <p:nvPr/>
          </p:nvSpPr>
          <p:spPr>
            <a:xfrm rot="5400000">
              <a:off x="6060188" y="1142339"/>
              <a:ext cx="1105930" cy="593125"/>
            </a:xfrm>
            <a:prstGeom prst="triangle">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D411740-9689-E99A-DD5D-4A761D96708D}"/>
                </a:ext>
              </a:extLst>
            </p:cNvPr>
            <p:cNvSpPr txBox="1"/>
            <p:nvPr/>
          </p:nvSpPr>
          <p:spPr>
            <a:xfrm>
              <a:off x="3303655"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B</a:t>
              </a:r>
              <a:endParaRPr lang="en-US" sz="8000" b="1" dirty="0">
                <a:solidFill>
                  <a:schemeClr val="bg1"/>
                </a:solidFill>
                <a:latin typeface="Montserrat Black" pitchFamily="2" charset="77"/>
              </a:endParaRPr>
            </a:p>
          </p:txBody>
        </p:sp>
        <p:sp>
          <p:nvSpPr>
            <p:cNvPr id="5" name="TextBox 4">
              <a:extLst>
                <a:ext uri="{FF2B5EF4-FFF2-40B4-BE49-F238E27FC236}">
                  <a16:creationId xmlns:a16="http://schemas.microsoft.com/office/drawing/2014/main" id="{87C4B986-0590-F30F-021E-09E4D210853B}"/>
                </a:ext>
              </a:extLst>
            </p:cNvPr>
            <p:cNvSpPr txBox="1"/>
            <p:nvPr/>
          </p:nvSpPr>
          <p:spPr>
            <a:xfrm>
              <a:off x="3370298" y="2242254"/>
              <a:ext cx="2823530" cy="4647426"/>
            </a:xfrm>
            <a:prstGeom prst="rect">
              <a:avLst/>
            </a:prstGeom>
            <a:noFill/>
          </p:spPr>
          <p:txBody>
            <a:bodyPr wrap="square" rtlCol="0">
              <a:spAutoFit/>
            </a:bodyPr>
            <a:lstStyle/>
            <a:p>
              <a:pPr algn="ctr"/>
              <a:r>
                <a:rPr lang="en-US" b="1" dirty="0">
                  <a:solidFill>
                    <a:schemeClr val="bg1"/>
                  </a:solidFill>
                  <a:latin typeface="Montserrat" pitchFamily="2" charset="77"/>
                </a:rPr>
                <a:t>Variable Engineering and Modeling</a:t>
              </a: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I created a new variable named “priority” by observing items in their dataset and separated items by three different tiers. High Priority items are the top 25% performing items globally, Medium priority the middle 50%, and low priority the lowest 25% performing items globally. The items are observed on a yearly basis. I then used priority as the main variable to create a formula for a machine learning model to help with predicting how items would perform in future years based on current performance. </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sp>
        <p:nvSpPr>
          <p:cNvPr id="10" name="TextBox 9">
            <a:extLst>
              <a:ext uri="{FF2B5EF4-FFF2-40B4-BE49-F238E27FC236}">
                <a16:creationId xmlns:a16="http://schemas.microsoft.com/office/drawing/2014/main" id="{1BAB7FB3-EF65-F8B9-56EA-3F01777F65B6}"/>
              </a:ext>
            </a:extLst>
          </p:cNvPr>
          <p:cNvSpPr txBox="1"/>
          <p:nvPr/>
        </p:nvSpPr>
        <p:spPr>
          <a:xfrm>
            <a:off x="4642338" y="707610"/>
            <a:ext cx="6670327" cy="923330"/>
          </a:xfrm>
          <a:prstGeom prst="rect">
            <a:avLst/>
          </a:prstGeom>
          <a:noFill/>
        </p:spPr>
        <p:txBody>
          <a:bodyPr wrap="square" rtlCol="0">
            <a:spAutoFit/>
          </a:bodyPr>
          <a:lstStyle/>
          <a:p>
            <a:pPr algn="ctr"/>
            <a:r>
              <a:rPr lang="en-US" dirty="0">
                <a:solidFill>
                  <a:schemeClr val="bg1"/>
                </a:solidFill>
                <a:latin typeface="Montserrat" pitchFamily="2" charset="77"/>
              </a:rPr>
              <a:t>Goal: </a:t>
            </a:r>
          </a:p>
          <a:p>
            <a:r>
              <a:rPr lang="en-US" dirty="0">
                <a:solidFill>
                  <a:schemeClr val="bg1"/>
                </a:solidFill>
                <a:latin typeface="Montserrat" pitchFamily="2" charset="77"/>
              </a:rPr>
              <a:t>Use machine learning models to help with predicting the priority of an item for the following year</a:t>
            </a:r>
          </a:p>
        </p:txBody>
      </p:sp>
      <p:sp>
        <p:nvSpPr>
          <p:cNvPr id="11" name="TextBox 10">
            <a:extLst>
              <a:ext uri="{FF2B5EF4-FFF2-40B4-BE49-F238E27FC236}">
                <a16:creationId xmlns:a16="http://schemas.microsoft.com/office/drawing/2014/main" id="{E70ABE47-C139-E0DC-5637-ED55BA3301C3}"/>
              </a:ext>
            </a:extLst>
          </p:cNvPr>
          <p:cNvSpPr txBox="1"/>
          <p:nvPr/>
        </p:nvSpPr>
        <p:spPr>
          <a:xfrm>
            <a:off x="4577361" y="2008198"/>
            <a:ext cx="6771147" cy="923330"/>
          </a:xfrm>
          <a:prstGeom prst="rect">
            <a:avLst/>
          </a:prstGeom>
          <a:noFill/>
        </p:spPr>
        <p:txBody>
          <a:bodyPr wrap="square" rtlCol="0">
            <a:spAutoFit/>
          </a:bodyPr>
          <a:lstStyle/>
          <a:p>
            <a:pPr algn="ctr"/>
            <a:r>
              <a:rPr lang="en-US" dirty="0">
                <a:solidFill>
                  <a:schemeClr val="bg1"/>
                </a:solidFill>
                <a:latin typeface="Montserrat" pitchFamily="2" charset="77"/>
              </a:rPr>
              <a:t>Formula Used: </a:t>
            </a:r>
          </a:p>
          <a:p>
            <a:pPr algn="ctr"/>
            <a:r>
              <a:rPr lang="en-US" dirty="0" err="1">
                <a:solidFill>
                  <a:schemeClr val="bg1"/>
                </a:solidFill>
                <a:latin typeface="Montserrat" pitchFamily="2" charset="77"/>
              </a:rPr>
              <a:t>next_priority</a:t>
            </a:r>
            <a:r>
              <a:rPr lang="en-US" dirty="0">
                <a:solidFill>
                  <a:schemeClr val="bg1"/>
                </a:solidFill>
                <a:latin typeface="Montserrat" pitchFamily="2" charset="77"/>
              </a:rPr>
              <a:t> ~ </a:t>
            </a:r>
            <a:r>
              <a:rPr lang="en-US" dirty="0" err="1">
                <a:solidFill>
                  <a:schemeClr val="bg1"/>
                </a:solidFill>
                <a:latin typeface="Montserrat" pitchFamily="2" charset="77"/>
              </a:rPr>
              <a:t>total_netamount</a:t>
            </a:r>
            <a:r>
              <a:rPr lang="en-US" dirty="0">
                <a:solidFill>
                  <a:schemeClr val="bg1"/>
                </a:solidFill>
                <a:latin typeface="Montserrat" pitchFamily="2" charset="77"/>
              </a:rPr>
              <a:t> + </a:t>
            </a:r>
            <a:r>
              <a:rPr lang="en-US" dirty="0" err="1">
                <a:solidFill>
                  <a:schemeClr val="bg1"/>
                </a:solidFill>
                <a:latin typeface="Montserrat" pitchFamily="2" charset="77"/>
              </a:rPr>
              <a:t>total_lineqty</a:t>
            </a:r>
            <a:r>
              <a:rPr lang="en-US" dirty="0">
                <a:solidFill>
                  <a:schemeClr val="bg1"/>
                </a:solidFill>
                <a:latin typeface="Montserrat" pitchFamily="2" charset="77"/>
              </a:rPr>
              <a:t> + </a:t>
            </a:r>
            <a:r>
              <a:rPr lang="en-US" dirty="0" err="1">
                <a:solidFill>
                  <a:schemeClr val="bg1"/>
                </a:solidFill>
                <a:latin typeface="Montserrat" pitchFamily="2" charset="77"/>
              </a:rPr>
              <a:t>avg_cost</a:t>
            </a:r>
            <a:r>
              <a:rPr lang="en-US" dirty="0">
                <a:solidFill>
                  <a:schemeClr val="bg1"/>
                </a:solidFill>
                <a:latin typeface="Montserrat" pitchFamily="2" charset="77"/>
              </a:rPr>
              <a:t> + </a:t>
            </a:r>
            <a:r>
              <a:rPr lang="en-US" dirty="0" err="1">
                <a:solidFill>
                  <a:schemeClr val="bg1"/>
                </a:solidFill>
                <a:latin typeface="Montserrat" pitchFamily="2" charset="77"/>
              </a:rPr>
              <a:t>n_transactions</a:t>
            </a:r>
            <a:r>
              <a:rPr lang="en-US" dirty="0">
                <a:solidFill>
                  <a:schemeClr val="bg1"/>
                </a:solidFill>
                <a:latin typeface="Montserrat" pitchFamily="2" charset="77"/>
              </a:rPr>
              <a:t> + </a:t>
            </a:r>
            <a:r>
              <a:rPr lang="en-US" dirty="0" err="1">
                <a:solidFill>
                  <a:schemeClr val="bg1"/>
                </a:solidFill>
                <a:latin typeface="Montserrat" pitchFamily="2" charset="77"/>
              </a:rPr>
              <a:t>storetiercat</a:t>
            </a:r>
            <a:r>
              <a:rPr lang="en-US" dirty="0">
                <a:solidFill>
                  <a:schemeClr val="bg1"/>
                </a:solidFill>
                <a:latin typeface="Montserrat" pitchFamily="2" charset="77"/>
              </a:rPr>
              <a:t> + </a:t>
            </a:r>
            <a:r>
              <a:rPr lang="en-US" dirty="0" err="1">
                <a:solidFill>
                  <a:schemeClr val="bg1"/>
                </a:solidFill>
                <a:latin typeface="Montserrat" pitchFamily="2" charset="77"/>
              </a:rPr>
              <a:t>storesizecat</a:t>
            </a:r>
            <a:r>
              <a:rPr lang="en-US" dirty="0">
                <a:solidFill>
                  <a:schemeClr val="bg1"/>
                </a:solidFill>
                <a:latin typeface="Montserrat" pitchFamily="2" charset="77"/>
              </a:rPr>
              <a:t> + year</a:t>
            </a:r>
          </a:p>
        </p:txBody>
      </p:sp>
      <p:sp>
        <p:nvSpPr>
          <p:cNvPr id="22" name="TextBox 21">
            <a:extLst>
              <a:ext uri="{FF2B5EF4-FFF2-40B4-BE49-F238E27FC236}">
                <a16:creationId xmlns:a16="http://schemas.microsoft.com/office/drawing/2014/main" id="{63038342-AAAA-CD51-B79E-239AA45317DF}"/>
              </a:ext>
            </a:extLst>
          </p:cNvPr>
          <p:cNvSpPr txBox="1"/>
          <p:nvPr/>
        </p:nvSpPr>
        <p:spPr>
          <a:xfrm>
            <a:off x="4957324" y="3550305"/>
            <a:ext cx="6178063" cy="2031325"/>
          </a:xfrm>
          <a:prstGeom prst="rect">
            <a:avLst/>
          </a:prstGeom>
          <a:noFill/>
        </p:spPr>
        <p:txBody>
          <a:bodyPr wrap="square" rtlCol="0">
            <a:spAutoFit/>
          </a:bodyPr>
          <a:lstStyle/>
          <a:p>
            <a:pPr algn="ctr"/>
            <a:r>
              <a:rPr lang="en-US" dirty="0">
                <a:solidFill>
                  <a:schemeClr val="bg1"/>
                </a:solidFill>
                <a:latin typeface="Montserrat" pitchFamily="2" charset="77"/>
              </a:rPr>
              <a:t>Models Used: </a:t>
            </a:r>
          </a:p>
          <a:p>
            <a:pPr marL="285750" indent="-285750">
              <a:buFont typeface="Arial" panose="020B0604020202020204" pitchFamily="34" charset="0"/>
              <a:buChar char="•"/>
            </a:pPr>
            <a:r>
              <a:rPr lang="en-US" dirty="0">
                <a:solidFill>
                  <a:schemeClr val="bg1"/>
                </a:solidFill>
                <a:latin typeface="Montserrat" pitchFamily="2" charset="77"/>
              </a:rPr>
              <a:t>Multinomial</a:t>
            </a:r>
          </a:p>
          <a:p>
            <a:pPr marL="285750" indent="-285750">
              <a:buFont typeface="Arial" panose="020B0604020202020204" pitchFamily="34" charset="0"/>
              <a:buChar char="•"/>
            </a:pPr>
            <a:r>
              <a:rPr lang="en-US" dirty="0">
                <a:solidFill>
                  <a:schemeClr val="bg1"/>
                </a:solidFill>
                <a:latin typeface="Montserrat" pitchFamily="2" charset="77"/>
              </a:rPr>
              <a:t>Linear Discriminate Analysis</a:t>
            </a:r>
          </a:p>
          <a:p>
            <a:pPr marL="285750" indent="-285750">
              <a:buFont typeface="Arial" panose="020B0604020202020204" pitchFamily="34" charset="0"/>
              <a:buChar char="•"/>
            </a:pPr>
            <a:r>
              <a:rPr lang="en-US" dirty="0">
                <a:solidFill>
                  <a:schemeClr val="bg1"/>
                </a:solidFill>
                <a:latin typeface="Montserrat" pitchFamily="2" charset="77"/>
              </a:rPr>
              <a:t>Decision Tree</a:t>
            </a:r>
          </a:p>
          <a:p>
            <a:pPr marL="285750" indent="-285750">
              <a:buFont typeface="Arial" panose="020B0604020202020204" pitchFamily="34" charset="0"/>
              <a:buChar char="•"/>
            </a:pPr>
            <a:r>
              <a:rPr lang="en-US" dirty="0">
                <a:solidFill>
                  <a:schemeClr val="bg1"/>
                </a:solidFill>
                <a:latin typeface="Montserrat" pitchFamily="2" charset="77"/>
              </a:rPr>
              <a:t>Random Forest</a:t>
            </a:r>
          </a:p>
          <a:p>
            <a:pPr marL="285750" indent="-285750">
              <a:buFont typeface="Arial" panose="020B0604020202020204" pitchFamily="34" charset="0"/>
              <a:buChar char="•"/>
            </a:pPr>
            <a:r>
              <a:rPr lang="en-US" dirty="0">
                <a:solidFill>
                  <a:schemeClr val="bg1"/>
                </a:solidFill>
                <a:latin typeface="Montserrat" pitchFamily="2" charset="77"/>
              </a:rPr>
              <a:t>K Nearest Neighbors</a:t>
            </a:r>
          </a:p>
          <a:p>
            <a:pPr marL="285750" indent="-285750">
              <a:buFont typeface="Arial" panose="020B0604020202020204" pitchFamily="34" charset="0"/>
              <a:buChar char="•"/>
            </a:pPr>
            <a:r>
              <a:rPr lang="en-US" dirty="0">
                <a:solidFill>
                  <a:schemeClr val="bg1"/>
                </a:solidFill>
                <a:latin typeface="Montserrat" pitchFamily="2" charset="77"/>
              </a:rPr>
              <a:t>Artificial Neural Networks</a:t>
            </a:r>
          </a:p>
        </p:txBody>
      </p:sp>
    </p:spTree>
    <p:extLst>
      <p:ext uri="{BB962C8B-B14F-4D97-AF65-F5344CB8AC3E}">
        <p14:creationId xmlns:p14="http://schemas.microsoft.com/office/powerpoint/2010/main" val="36265769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D00000"/>
        </a:solidFill>
        <a:effectLst/>
      </p:bgPr>
    </p:bg>
    <p:spTree>
      <p:nvGrpSpPr>
        <p:cNvPr id="1" name="">
          <a:extLst>
            <a:ext uri="{FF2B5EF4-FFF2-40B4-BE49-F238E27FC236}">
              <a16:creationId xmlns:a16="http://schemas.microsoft.com/office/drawing/2014/main" id="{46998647-26B2-50FD-E436-7A1D67F871BE}"/>
            </a:ext>
          </a:extLst>
        </p:cNvPr>
        <p:cNvGrpSpPr/>
        <p:nvPr/>
      </p:nvGrpSpPr>
      <p:grpSpPr>
        <a:xfrm>
          <a:off x="0" y="0"/>
          <a:ext cx="0" cy="0"/>
          <a:chOff x="0" y="0"/>
          <a:chExt cx="0" cy="0"/>
        </a:xfrm>
      </p:grpSpPr>
      <p:grpSp>
        <p:nvGrpSpPr>
          <p:cNvPr id="23" name="Group 22">
            <a:extLst>
              <a:ext uri="{FF2B5EF4-FFF2-40B4-BE49-F238E27FC236}">
                <a16:creationId xmlns:a16="http://schemas.microsoft.com/office/drawing/2014/main" id="{C29A72BA-05C6-7691-361C-15095A03A7DE}"/>
              </a:ext>
            </a:extLst>
          </p:cNvPr>
          <p:cNvGrpSpPr/>
          <p:nvPr/>
        </p:nvGrpSpPr>
        <p:grpSpPr>
          <a:xfrm>
            <a:off x="-2219401" y="0"/>
            <a:ext cx="2823530" cy="6858000"/>
            <a:chOff x="9481484" y="0"/>
            <a:chExt cx="2823530" cy="6858000"/>
          </a:xfrm>
        </p:grpSpPr>
        <p:sp>
          <p:nvSpPr>
            <p:cNvPr id="18" name="Rectangle 17">
              <a:extLst>
                <a:ext uri="{FF2B5EF4-FFF2-40B4-BE49-F238E27FC236}">
                  <a16:creationId xmlns:a16="http://schemas.microsoft.com/office/drawing/2014/main" id="{BA6AF394-C301-1651-F96C-2FB57D92A458}"/>
                </a:ext>
              </a:extLst>
            </p:cNvPr>
            <p:cNvSpPr/>
            <p:nvPr/>
          </p:nvSpPr>
          <p:spPr>
            <a:xfrm>
              <a:off x="9564129" y="0"/>
              <a:ext cx="2627871" cy="6858000"/>
            </a:xfrm>
            <a:prstGeom prst="rect">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62486AE7-EDF4-481A-FA44-37E373F9693B}"/>
                </a:ext>
              </a:extLst>
            </p:cNvPr>
            <p:cNvSpPr txBox="1"/>
            <p:nvPr/>
          </p:nvSpPr>
          <p:spPr>
            <a:xfrm>
              <a:off x="9681072" y="444542"/>
              <a:ext cx="2610089"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D</a:t>
              </a:r>
              <a:endParaRPr lang="en-US" sz="8000" b="1" dirty="0">
                <a:solidFill>
                  <a:schemeClr val="bg1"/>
                </a:solidFill>
                <a:latin typeface="Montserrat Black" pitchFamily="2" charset="77"/>
              </a:endParaRPr>
            </a:p>
          </p:txBody>
        </p:sp>
        <p:sp>
          <p:nvSpPr>
            <p:cNvPr id="9" name="TextBox 8">
              <a:extLst>
                <a:ext uri="{FF2B5EF4-FFF2-40B4-BE49-F238E27FC236}">
                  <a16:creationId xmlns:a16="http://schemas.microsoft.com/office/drawing/2014/main" id="{BE31B34C-F837-8090-585D-0741E58F73DB}"/>
                </a:ext>
              </a:extLst>
            </p:cNvPr>
            <p:cNvSpPr txBox="1"/>
            <p:nvPr/>
          </p:nvSpPr>
          <p:spPr>
            <a:xfrm>
              <a:off x="9481484" y="2242254"/>
              <a:ext cx="2823530" cy="2677656"/>
            </a:xfrm>
            <a:prstGeom prst="rect">
              <a:avLst/>
            </a:prstGeom>
            <a:noFill/>
          </p:spPr>
          <p:txBody>
            <a:bodyPr wrap="square" rtlCol="0">
              <a:spAutoFit/>
            </a:bodyPr>
            <a:lstStyle/>
            <a:p>
              <a:pPr algn="ctr"/>
              <a:r>
                <a:rPr lang="en-US" sz="2400" b="1" dirty="0">
                  <a:solidFill>
                    <a:schemeClr val="bg1"/>
                  </a:solidFill>
                  <a:latin typeface="Montserrat" pitchFamily="2" charset="77"/>
                </a:rPr>
                <a:t>Final Remarks</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As I have reached the end of this project there are some things I noticed I could have done to improve the final product if given more time to refine it.</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5" name="Group 14">
            <a:extLst>
              <a:ext uri="{FF2B5EF4-FFF2-40B4-BE49-F238E27FC236}">
                <a16:creationId xmlns:a16="http://schemas.microsoft.com/office/drawing/2014/main" id="{58644E2E-F4D8-6C5C-311C-3FFE8725F951}"/>
              </a:ext>
            </a:extLst>
          </p:cNvPr>
          <p:cNvGrpSpPr/>
          <p:nvPr/>
        </p:nvGrpSpPr>
        <p:grpSpPr>
          <a:xfrm>
            <a:off x="-2738915" y="0"/>
            <a:ext cx="3713593" cy="6858000"/>
            <a:chOff x="6362018" y="0"/>
            <a:chExt cx="3713593" cy="6858000"/>
          </a:xfrm>
        </p:grpSpPr>
        <p:sp>
          <p:nvSpPr>
            <p:cNvPr id="17" name="Rectangle 16">
              <a:extLst>
                <a:ext uri="{FF2B5EF4-FFF2-40B4-BE49-F238E27FC236}">
                  <a16:creationId xmlns:a16="http://schemas.microsoft.com/office/drawing/2014/main" id="{E8084CC6-2C5B-19CE-F496-6FC3DAF38B7C}"/>
                </a:ext>
              </a:extLst>
            </p:cNvPr>
            <p:cNvSpPr/>
            <p:nvPr/>
          </p:nvSpPr>
          <p:spPr>
            <a:xfrm>
              <a:off x="6362018" y="0"/>
              <a:ext cx="3188043" cy="6858000"/>
            </a:xfrm>
            <a:prstGeom prst="rect">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riangle 20">
              <a:extLst>
                <a:ext uri="{FF2B5EF4-FFF2-40B4-BE49-F238E27FC236}">
                  <a16:creationId xmlns:a16="http://schemas.microsoft.com/office/drawing/2014/main" id="{931B59E6-D18A-944C-030B-0C2295FED230}"/>
                </a:ext>
              </a:extLst>
            </p:cNvPr>
            <p:cNvSpPr/>
            <p:nvPr/>
          </p:nvSpPr>
          <p:spPr>
            <a:xfrm rot="5400000">
              <a:off x="9226084" y="1158670"/>
              <a:ext cx="1105930" cy="593125"/>
            </a:xfrm>
            <a:prstGeom prst="triangle">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40E653F2-8BC3-2F27-BEDB-2E69C7AFF0A0}"/>
                </a:ext>
              </a:extLst>
            </p:cNvPr>
            <p:cNvSpPr txBox="1"/>
            <p:nvPr/>
          </p:nvSpPr>
          <p:spPr>
            <a:xfrm>
              <a:off x="6491698"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C</a:t>
              </a:r>
              <a:endParaRPr lang="en-US" sz="8000" b="1" dirty="0">
                <a:solidFill>
                  <a:schemeClr val="bg1"/>
                </a:solidFill>
                <a:latin typeface="Montserrat Black" pitchFamily="2" charset="77"/>
              </a:endParaRPr>
            </a:p>
          </p:txBody>
        </p:sp>
        <p:sp>
          <p:nvSpPr>
            <p:cNvPr id="7" name="TextBox 6">
              <a:extLst>
                <a:ext uri="{FF2B5EF4-FFF2-40B4-BE49-F238E27FC236}">
                  <a16:creationId xmlns:a16="http://schemas.microsoft.com/office/drawing/2014/main" id="{E6DBD126-1D0E-74B1-2298-1B37C6710199}"/>
                </a:ext>
              </a:extLst>
            </p:cNvPr>
            <p:cNvSpPr txBox="1"/>
            <p:nvPr/>
          </p:nvSpPr>
          <p:spPr>
            <a:xfrm>
              <a:off x="6558341" y="2227640"/>
              <a:ext cx="2823530" cy="4278094"/>
            </a:xfrm>
            <a:prstGeom prst="rect">
              <a:avLst/>
            </a:prstGeom>
            <a:noFill/>
          </p:spPr>
          <p:txBody>
            <a:bodyPr wrap="square" rtlCol="0">
              <a:spAutoFit/>
            </a:bodyPr>
            <a:lstStyle/>
            <a:p>
              <a:pPr algn="ctr"/>
              <a:r>
                <a:rPr lang="en-US" sz="2000" b="1" dirty="0">
                  <a:solidFill>
                    <a:schemeClr val="bg1"/>
                  </a:solidFill>
                  <a:latin typeface="Montserrat" pitchFamily="2" charset="77"/>
                </a:rPr>
                <a:t>Inventory Manager</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Used machine learning models to help with creating an inventory manager tool. The tool is provided in an R Studio quarto document, where the customer only needs to upload the most recent csv file and update chunks in areas that are noted then run every chunk to receive a new csv file which provides a list of items each store should hold based on available SKU counts for each individual store, priority and parameters I have set for each tier of store.</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grpSp>
        <p:nvGrpSpPr>
          <p:cNvPr id="14" name="Group 13">
            <a:extLst>
              <a:ext uri="{FF2B5EF4-FFF2-40B4-BE49-F238E27FC236}">
                <a16:creationId xmlns:a16="http://schemas.microsoft.com/office/drawing/2014/main" id="{D9908C38-0A32-977C-DF82-7022DFD42547}"/>
              </a:ext>
            </a:extLst>
          </p:cNvPr>
          <p:cNvGrpSpPr/>
          <p:nvPr/>
        </p:nvGrpSpPr>
        <p:grpSpPr>
          <a:xfrm>
            <a:off x="-2983737" y="0"/>
            <a:ext cx="3721672" cy="6889681"/>
            <a:chOff x="3188043" y="-1"/>
            <a:chExt cx="3721672" cy="6889681"/>
          </a:xfrm>
        </p:grpSpPr>
        <p:sp>
          <p:nvSpPr>
            <p:cNvPr id="16" name="Rectangle 15">
              <a:extLst>
                <a:ext uri="{FF2B5EF4-FFF2-40B4-BE49-F238E27FC236}">
                  <a16:creationId xmlns:a16="http://schemas.microsoft.com/office/drawing/2014/main" id="{DEC0224B-3230-4A31-CFB1-6B67662CDBB1}"/>
                </a:ext>
              </a:extLst>
            </p:cNvPr>
            <p:cNvSpPr/>
            <p:nvPr/>
          </p:nvSpPr>
          <p:spPr>
            <a:xfrm>
              <a:off x="3188043" y="-1"/>
              <a:ext cx="3188043" cy="6858000"/>
            </a:xfrm>
            <a:prstGeom prst="rect">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riangle 19">
              <a:extLst>
                <a:ext uri="{FF2B5EF4-FFF2-40B4-BE49-F238E27FC236}">
                  <a16:creationId xmlns:a16="http://schemas.microsoft.com/office/drawing/2014/main" id="{BC0FD7B9-607C-EC89-4E4A-A343718BABB9}"/>
                </a:ext>
              </a:extLst>
            </p:cNvPr>
            <p:cNvSpPr/>
            <p:nvPr/>
          </p:nvSpPr>
          <p:spPr>
            <a:xfrm rot="5400000">
              <a:off x="6060188" y="1142339"/>
              <a:ext cx="1105930" cy="593125"/>
            </a:xfrm>
            <a:prstGeom prst="triangle">
              <a:avLst/>
            </a:prstGeom>
            <a:solidFill>
              <a:srgbClr val="D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CB6259F-ABD2-9B93-C818-D89E4ABA35BB}"/>
                </a:ext>
              </a:extLst>
            </p:cNvPr>
            <p:cNvSpPr txBox="1"/>
            <p:nvPr/>
          </p:nvSpPr>
          <p:spPr>
            <a:xfrm>
              <a:off x="3303655"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B</a:t>
              </a:r>
              <a:endParaRPr lang="en-US" sz="8000" b="1" dirty="0">
                <a:solidFill>
                  <a:schemeClr val="bg1"/>
                </a:solidFill>
                <a:latin typeface="Montserrat Black" pitchFamily="2" charset="77"/>
              </a:endParaRPr>
            </a:p>
          </p:txBody>
        </p:sp>
        <p:sp>
          <p:nvSpPr>
            <p:cNvPr id="5" name="TextBox 4">
              <a:extLst>
                <a:ext uri="{FF2B5EF4-FFF2-40B4-BE49-F238E27FC236}">
                  <a16:creationId xmlns:a16="http://schemas.microsoft.com/office/drawing/2014/main" id="{789680AC-3405-5DF9-1D85-628A9D6DC24C}"/>
                </a:ext>
              </a:extLst>
            </p:cNvPr>
            <p:cNvSpPr txBox="1"/>
            <p:nvPr/>
          </p:nvSpPr>
          <p:spPr>
            <a:xfrm>
              <a:off x="3370298" y="2242254"/>
              <a:ext cx="2823530" cy="4647426"/>
            </a:xfrm>
            <a:prstGeom prst="rect">
              <a:avLst/>
            </a:prstGeom>
            <a:noFill/>
          </p:spPr>
          <p:txBody>
            <a:bodyPr wrap="square" rtlCol="0">
              <a:spAutoFit/>
            </a:bodyPr>
            <a:lstStyle/>
            <a:p>
              <a:pPr algn="ctr"/>
              <a:r>
                <a:rPr lang="en-US" b="1" dirty="0">
                  <a:solidFill>
                    <a:schemeClr val="bg1"/>
                  </a:solidFill>
                  <a:latin typeface="Montserrat" pitchFamily="2" charset="77"/>
                </a:rPr>
                <a:t>Variable Engineering and Modeling</a:t>
              </a: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I created a new variable named “priority” by observing items in their dataset and separated items by three different tiers. High Priority items are the top 25% performing items globally, Medium priority the middle 50%, and low priority the lowest 25% performing items globally. The items are observed on a yearly basis. I then used priority as the main variable to create a formula for a machine learning model to help with predicting how items would perform in future years based on current performance. </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pic>
        <p:nvPicPr>
          <p:cNvPr id="3" name="Picture 2">
            <a:extLst>
              <a:ext uri="{FF2B5EF4-FFF2-40B4-BE49-F238E27FC236}">
                <a16:creationId xmlns:a16="http://schemas.microsoft.com/office/drawing/2014/main" id="{11892A80-D18B-69F4-E2E1-D0FAF5996C25}"/>
              </a:ext>
            </a:extLst>
          </p:cNvPr>
          <p:cNvPicPr>
            <a:picLocks noChangeAspect="1"/>
          </p:cNvPicPr>
          <p:nvPr/>
        </p:nvPicPr>
        <p:blipFill>
          <a:blip r:embed="rId3"/>
          <a:stretch>
            <a:fillRect/>
          </a:stretch>
        </p:blipFill>
        <p:spPr>
          <a:xfrm>
            <a:off x="1051287" y="604912"/>
            <a:ext cx="6631430" cy="2407100"/>
          </a:xfrm>
          <a:prstGeom prst="rect">
            <a:avLst/>
          </a:prstGeom>
        </p:spPr>
      </p:pic>
      <p:sp>
        <p:nvSpPr>
          <p:cNvPr id="12" name="TextBox 11">
            <a:extLst>
              <a:ext uri="{FF2B5EF4-FFF2-40B4-BE49-F238E27FC236}">
                <a16:creationId xmlns:a16="http://schemas.microsoft.com/office/drawing/2014/main" id="{7B008550-8E8F-B60C-0E53-3815EED8CE5C}"/>
              </a:ext>
            </a:extLst>
          </p:cNvPr>
          <p:cNvSpPr txBox="1"/>
          <p:nvPr/>
        </p:nvSpPr>
        <p:spPr>
          <a:xfrm>
            <a:off x="7759325" y="1208297"/>
            <a:ext cx="4642339" cy="1200329"/>
          </a:xfrm>
          <a:prstGeom prst="rect">
            <a:avLst/>
          </a:prstGeom>
          <a:noFill/>
        </p:spPr>
        <p:txBody>
          <a:bodyPr wrap="square" rtlCol="0">
            <a:spAutoFit/>
          </a:bodyPr>
          <a:lstStyle/>
          <a:p>
            <a:r>
              <a:rPr lang="en-US" dirty="0">
                <a:solidFill>
                  <a:schemeClr val="bg1"/>
                </a:solidFill>
                <a:latin typeface="Montserrat" pitchFamily="2" charset="77"/>
              </a:rPr>
              <a:t>Random Forest Model was the best choice for the data set by a landslide with a high accuracy score of 99.86% and F1 Score of 0.998 (out of 1)</a:t>
            </a:r>
          </a:p>
        </p:txBody>
      </p:sp>
      <p:sp>
        <p:nvSpPr>
          <p:cNvPr id="13" name="TextBox 12">
            <a:extLst>
              <a:ext uri="{FF2B5EF4-FFF2-40B4-BE49-F238E27FC236}">
                <a16:creationId xmlns:a16="http://schemas.microsoft.com/office/drawing/2014/main" id="{B9E29051-0DA1-8041-BEFB-5C65CECECD88}"/>
              </a:ext>
            </a:extLst>
          </p:cNvPr>
          <p:cNvSpPr txBox="1"/>
          <p:nvPr/>
        </p:nvSpPr>
        <p:spPr>
          <a:xfrm>
            <a:off x="1163507" y="3550305"/>
            <a:ext cx="9864986" cy="2031325"/>
          </a:xfrm>
          <a:prstGeom prst="rect">
            <a:avLst/>
          </a:prstGeom>
          <a:noFill/>
        </p:spPr>
        <p:txBody>
          <a:bodyPr wrap="square" rtlCol="0">
            <a:spAutoFit/>
          </a:bodyPr>
          <a:lstStyle/>
          <a:p>
            <a:pPr algn="ctr"/>
            <a:r>
              <a:rPr lang="en-US" dirty="0">
                <a:solidFill>
                  <a:schemeClr val="bg1"/>
                </a:solidFill>
                <a:latin typeface="Montserrat" pitchFamily="2" charset="77"/>
              </a:rPr>
              <a:t>To give a basic explanation on what a Random Forest Model does:</a:t>
            </a:r>
          </a:p>
          <a:p>
            <a:pPr algn="ctr"/>
            <a:endParaRPr lang="en-US" dirty="0">
              <a:solidFill>
                <a:schemeClr val="bg1"/>
              </a:solidFill>
              <a:latin typeface="Montserrat" pitchFamily="2" charset="77"/>
            </a:endParaRPr>
          </a:p>
          <a:p>
            <a:r>
              <a:rPr lang="en-US" dirty="0">
                <a:solidFill>
                  <a:schemeClr val="bg1"/>
                </a:solidFill>
                <a:latin typeface="Montserrat" pitchFamily="2" charset="77"/>
              </a:rPr>
              <a:t>A random forest is a method that makes predictions by combining many simple decision trees. Each tree looks at different pieces of the data and makes its own guess. The model then puts all the guesses together and chooses the answer that most trees agree on. By using many trees instead of just one, the random forest gives more stable and accurate results, even when the data is messy or unclear.</a:t>
            </a:r>
          </a:p>
        </p:txBody>
      </p:sp>
    </p:spTree>
    <p:extLst>
      <p:ext uri="{BB962C8B-B14F-4D97-AF65-F5344CB8AC3E}">
        <p14:creationId xmlns:p14="http://schemas.microsoft.com/office/powerpoint/2010/main" val="19884056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A30004"/>
        </a:solidFill>
        <a:effectLst/>
      </p:bgPr>
    </p:bg>
    <p:spTree>
      <p:nvGrpSpPr>
        <p:cNvPr id="1" name="">
          <a:extLst>
            <a:ext uri="{FF2B5EF4-FFF2-40B4-BE49-F238E27FC236}">
              <a16:creationId xmlns:a16="http://schemas.microsoft.com/office/drawing/2014/main" id="{0E4D78DD-BA0A-B2AF-5B88-90016F887F7E}"/>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D2F0DC8D-5743-869D-2714-5A834DFEF925}"/>
              </a:ext>
            </a:extLst>
          </p:cNvPr>
          <p:cNvGrpSpPr/>
          <p:nvPr/>
        </p:nvGrpSpPr>
        <p:grpSpPr>
          <a:xfrm>
            <a:off x="509719" y="0"/>
            <a:ext cx="3306512" cy="6858000"/>
            <a:chOff x="509727" y="0"/>
            <a:chExt cx="3306512" cy="6858000"/>
          </a:xfrm>
        </p:grpSpPr>
        <p:grpSp>
          <p:nvGrpSpPr>
            <p:cNvPr id="23" name="Group 22">
              <a:extLst>
                <a:ext uri="{FF2B5EF4-FFF2-40B4-BE49-F238E27FC236}">
                  <a16:creationId xmlns:a16="http://schemas.microsoft.com/office/drawing/2014/main" id="{07BBACDB-320A-4975-3C27-253B2E378F8A}"/>
                </a:ext>
              </a:extLst>
            </p:cNvPr>
            <p:cNvGrpSpPr/>
            <p:nvPr/>
          </p:nvGrpSpPr>
          <p:grpSpPr>
            <a:xfrm>
              <a:off x="509727" y="0"/>
              <a:ext cx="2823530" cy="6858000"/>
              <a:chOff x="9481484" y="0"/>
              <a:chExt cx="2823530" cy="6858000"/>
            </a:xfrm>
          </p:grpSpPr>
          <p:sp>
            <p:nvSpPr>
              <p:cNvPr id="18" name="Rectangle 17">
                <a:extLst>
                  <a:ext uri="{FF2B5EF4-FFF2-40B4-BE49-F238E27FC236}">
                    <a16:creationId xmlns:a16="http://schemas.microsoft.com/office/drawing/2014/main" id="{EF7848E5-D224-8A53-CAA7-C77D5BC1CA04}"/>
                  </a:ext>
                </a:extLst>
              </p:cNvPr>
              <p:cNvSpPr/>
              <p:nvPr/>
            </p:nvSpPr>
            <p:spPr>
              <a:xfrm>
                <a:off x="9564129" y="0"/>
                <a:ext cx="2627871" cy="6858000"/>
              </a:xfrm>
              <a:prstGeom prst="rect">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5214A599-DE44-CDB3-2805-A7B0CF57B691}"/>
                  </a:ext>
                </a:extLst>
              </p:cNvPr>
              <p:cNvSpPr txBox="1"/>
              <p:nvPr/>
            </p:nvSpPr>
            <p:spPr>
              <a:xfrm>
                <a:off x="9681072" y="444542"/>
                <a:ext cx="2610089"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D</a:t>
                </a:r>
                <a:endParaRPr lang="en-US" sz="8000" b="1" dirty="0">
                  <a:solidFill>
                    <a:schemeClr val="bg1"/>
                  </a:solidFill>
                  <a:latin typeface="Montserrat Black" pitchFamily="2" charset="77"/>
                </a:endParaRPr>
              </a:p>
            </p:txBody>
          </p:sp>
          <p:sp>
            <p:nvSpPr>
              <p:cNvPr id="9" name="TextBox 8">
                <a:extLst>
                  <a:ext uri="{FF2B5EF4-FFF2-40B4-BE49-F238E27FC236}">
                    <a16:creationId xmlns:a16="http://schemas.microsoft.com/office/drawing/2014/main" id="{9E276AC6-6FE7-2BB5-9CB5-5259CF2D669A}"/>
                  </a:ext>
                </a:extLst>
              </p:cNvPr>
              <p:cNvSpPr txBox="1"/>
              <p:nvPr/>
            </p:nvSpPr>
            <p:spPr>
              <a:xfrm>
                <a:off x="9481484" y="2242254"/>
                <a:ext cx="2823530" cy="2677656"/>
              </a:xfrm>
              <a:prstGeom prst="rect">
                <a:avLst/>
              </a:prstGeom>
              <a:noFill/>
            </p:spPr>
            <p:txBody>
              <a:bodyPr wrap="square" rtlCol="0">
                <a:spAutoFit/>
              </a:bodyPr>
              <a:lstStyle/>
              <a:p>
                <a:pPr algn="ctr"/>
                <a:r>
                  <a:rPr lang="en-US" sz="2400" b="1" dirty="0">
                    <a:solidFill>
                      <a:schemeClr val="bg1"/>
                    </a:solidFill>
                    <a:latin typeface="Montserrat" pitchFamily="2" charset="77"/>
                  </a:rPr>
                  <a:t>Final Remarks</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As I have reached the end of this project there are some things I noticed I could have done to improve the final product if given more time to refine it.</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sp>
          <p:nvSpPr>
            <p:cNvPr id="10" name="Triangle 9">
              <a:extLst>
                <a:ext uri="{FF2B5EF4-FFF2-40B4-BE49-F238E27FC236}">
                  <a16:creationId xmlns:a16="http://schemas.microsoft.com/office/drawing/2014/main" id="{7824DBF2-BFDB-C498-B92D-6D48D296AE4E}"/>
                </a:ext>
              </a:extLst>
            </p:cNvPr>
            <p:cNvSpPr/>
            <p:nvPr/>
          </p:nvSpPr>
          <p:spPr>
            <a:xfrm rot="5400000">
              <a:off x="2932110" y="1124069"/>
              <a:ext cx="1105931" cy="662327"/>
            </a:xfrm>
            <a:prstGeom prst="triangle">
              <a:avLst>
                <a:gd name="adj" fmla="val 49675"/>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 name="Group 14">
            <a:extLst>
              <a:ext uri="{FF2B5EF4-FFF2-40B4-BE49-F238E27FC236}">
                <a16:creationId xmlns:a16="http://schemas.microsoft.com/office/drawing/2014/main" id="{97DBFC62-26B6-C478-CA2C-98F6EF5E057E}"/>
              </a:ext>
            </a:extLst>
          </p:cNvPr>
          <p:cNvGrpSpPr/>
          <p:nvPr/>
        </p:nvGrpSpPr>
        <p:grpSpPr>
          <a:xfrm>
            <a:off x="-9786" y="0"/>
            <a:ext cx="3713593" cy="6858000"/>
            <a:chOff x="6362018" y="0"/>
            <a:chExt cx="3713593" cy="6858000"/>
          </a:xfrm>
        </p:grpSpPr>
        <p:sp>
          <p:nvSpPr>
            <p:cNvPr id="17" name="Rectangle 16">
              <a:extLst>
                <a:ext uri="{FF2B5EF4-FFF2-40B4-BE49-F238E27FC236}">
                  <a16:creationId xmlns:a16="http://schemas.microsoft.com/office/drawing/2014/main" id="{6AB84285-8FC4-F8CF-A044-F43BEDA7AD51}"/>
                </a:ext>
              </a:extLst>
            </p:cNvPr>
            <p:cNvSpPr/>
            <p:nvPr/>
          </p:nvSpPr>
          <p:spPr>
            <a:xfrm>
              <a:off x="6362018" y="0"/>
              <a:ext cx="3188043" cy="6858000"/>
            </a:xfrm>
            <a:prstGeom prst="rect">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riangle 20">
              <a:extLst>
                <a:ext uri="{FF2B5EF4-FFF2-40B4-BE49-F238E27FC236}">
                  <a16:creationId xmlns:a16="http://schemas.microsoft.com/office/drawing/2014/main" id="{4BA831D2-7A9B-2B1A-8F88-1AABE0F2EB9C}"/>
                </a:ext>
              </a:extLst>
            </p:cNvPr>
            <p:cNvSpPr/>
            <p:nvPr/>
          </p:nvSpPr>
          <p:spPr>
            <a:xfrm rot="5400000">
              <a:off x="9226084" y="1158670"/>
              <a:ext cx="1105930" cy="593125"/>
            </a:xfrm>
            <a:prstGeom prst="triangle">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2636ECE-B070-6554-1A61-AFCF3306EE9F}"/>
                </a:ext>
              </a:extLst>
            </p:cNvPr>
            <p:cNvSpPr txBox="1"/>
            <p:nvPr/>
          </p:nvSpPr>
          <p:spPr>
            <a:xfrm>
              <a:off x="6491698"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C</a:t>
              </a:r>
              <a:endParaRPr lang="en-US" sz="8000" b="1" dirty="0">
                <a:solidFill>
                  <a:schemeClr val="bg1"/>
                </a:solidFill>
                <a:latin typeface="Montserrat Black" pitchFamily="2" charset="77"/>
              </a:endParaRPr>
            </a:p>
          </p:txBody>
        </p:sp>
        <p:sp>
          <p:nvSpPr>
            <p:cNvPr id="7" name="TextBox 6">
              <a:extLst>
                <a:ext uri="{FF2B5EF4-FFF2-40B4-BE49-F238E27FC236}">
                  <a16:creationId xmlns:a16="http://schemas.microsoft.com/office/drawing/2014/main" id="{C2009DB7-AEE4-D520-226C-B4B3851DCF99}"/>
                </a:ext>
              </a:extLst>
            </p:cNvPr>
            <p:cNvSpPr txBox="1"/>
            <p:nvPr/>
          </p:nvSpPr>
          <p:spPr>
            <a:xfrm>
              <a:off x="6558341" y="2227640"/>
              <a:ext cx="2823530" cy="4278094"/>
            </a:xfrm>
            <a:prstGeom prst="rect">
              <a:avLst/>
            </a:prstGeom>
            <a:noFill/>
          </p:spPr>
          <p:txBody>
            <a:bodyPr wrap="square" rtlCol="0">
              <a:spAutoFit/>
            </a:bodyPr>
            <a:lstStyle/>
            <a:p>
              <a:pPr algn="ctr"/>
              <a:r>
                <a:rPr lang="en-US" sz="2000" b="1" dirty="0">
                  <a:solidFill>
                    <a:schemeClr val="bg1"/>
                  </a:solidFill>
                  <a:latin typeface="Montserrat" pitchFamily="2" charset="77"/>
                </a:rPr>
                <a:t>Inventory Manager</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Used machine learning models to help with creating an inventory manager tool. The tool is provided in an R Studio quarto document, where the customer only needs to upload the most recent csv file and update chunks in areas that are noted then run every chunk to receive a new csv file which provides a list of items each store should hold based on available SKU counts for each individual store, priority and parameters I have set for each tier of store.</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sp>
        <p:nvSpPr>
          <p:cNvPr id="19" name="TextBox 18">
            <a:extLst>
              <a:ext uri="{FF2B5EF4-FFF2-40B4-BE49-F238E27FC236}">
                <a16:creationId xmlns:a16="http://schemas.microsoft.com/office/drawing/2014/main" id="{999FD84F-99EE-2F69-8C30-B914F4C8388B}"/>
              </a:ext>
            </a:extLst>
          </p:cNvPr>
          <p:cNvSpPr txBox="1"/>
          <p:nvPr/>
        </p:nvSpPr>
        <p:spPr>
          <a:xfrm>
            <a:off x="4735345" y="3545197"/>
            <a:ext cx="5739619" cy="3139321"/>
          </a:xfrm>
          <a:prstGeom prst="rect">
            <a:avLst/>
          </a:prstGeom>
          <a:noFill/>
        </p:spPr>
        <p:txBody>
          <a:bodyPr wrap="square" rtlCol="0">
            <a:spAutoFit/>
          </a:bodyPr>
          <a:lstStyle/>
          <a:p>
            <a:pPr algn="ctr"/>
            <a:endParaRPr lang="en-US" dirty="0">
              <a:solidFill>
                <a:schemeClr val="bg1"/>
              </a:solidFill>
              <a:latin typeface="Montserrat" pitchFamily="2" charset="77"/>
            </a:endParaRPr>
          </a:p>
          <a:p>
            <a:pPr algn="ctr"/>
            <a:r>
              <a:rPr lang="en-US" dirty="0">
                <a:solidFill>
                  <a:schemeClr val="bg1"/>
                </a:solidFill>
                <a:latin typeface="Montserrat" pitchFamily="2" charset="77"/>
              </a:rPr>
              <a:t>Final CSV file provided the following:</a:t>
            </a:r>
          </a:p>
          <a:p>
            <a:pPr marL="285750" indent="-285750">
              <a:buFont typeface="Arial" panose="020B0604020202020204" pitchFamily="34" charset="0"/>
              <a:buChar char="•"/>
            </a:pPr>
            <a:endParaRPr lang="en-US" dirty="0">
              <a:solidFill>
                <a:schemeClr val="bg1"/>
              </a:solidFill>
              <a:latin typeface="Montserrat" pitchFamily="2" charset="77"/>
            </a:endParaRPr>
          </a:p>
          <a:p>
            <a:pPr marL="285750" indent="-285750">
              <a:buFont typeface="Arial" panose="020B0604020202020204" pitchFamily="34" charset="0"/>
              <a:buChar char="•"/>
            </a:pPr>
            <a:r>
              <a:rPr lang="en-US" dirty="0">
                <a:solidFill>
                  <a:schemeClr val="bg1"/>
                </a:solidFill>
                <a:latin typeface="Montserrat" pitchFamily="2" charset="77"/>
              </a:rPr>
              <a:t>Store Information (Store, Store tier, SKU count)</a:t>
            </a:r>
          </a:p>
          <a:p>
            <a:pPr marL="285750" indent="-285750">
              <a:buFont typeface="Arial" panose="020B0604020202020204" pitchFamily="34" charset="0"/>
              <a:buChar char="•"/>
            </a:pPr>
            <a:r>
              <a:rPr lang="en-US" dirty="0">
                <a:solidFill>
                  <a:schemeClr val="bg1"/>
                </a:solidFill>
                <a:latin typeface="Montserrat" pitchFamily="2" charset="77"/>
              </a:rPr>
              <a:t>Item Information (Item ID, Priority)</a:t>
            </a:r>
          </a:p>
          <a:p>
            <a:pPr marL="285750" indent="-285750">
              <a:buFont typeface="Arial" panose="020B0604020202020204" pitchFamily="34" charset="0"/>
              <a:buChar char="•"/>
            </a:pPr>
            <a:r>
              <a:rPr lang="en-US" dirty="0">
                <a:solidFill>
                  <a:schemeClr val="bg1"/>
                </a:solidFill>
                <a:latin typeface="Montserrat" pitchFamily="2" charset="77"/>
              </a:rPr>
              <a:t>Predictive Information (Recommended number of priority per store, fill rates and percentages per priority)</a:t>
            </a:r>
          </a:p>
          <a:p>
            <a:pPr marL="285750" indent="-285750">
              <a:buFont typeface="Arial" panose="020B0604020202020204" pitchFamily="34" charset="0"/>
              <a:buChar char="•"/>
            </a:pPr>
            <a:r>
              <a:rPr lang="en-US" dirty="0">
                <a:solidFill>
                  <a:schemeClr val="bg1"/>
                </a:solidFill>
                <a:latin typeface="Montserrat" pitchFamily="2" charset="77"/>
              </a:rPr>
              <a:t>Quotas (pass/fail for low, medium, and high and if store passes quota overall)</a:t>
            </a:r>
          </a:p>
        </p:txBody>
      </p:sp>
      <p:pic>
        <p:nvPicPr>
          <p:cNvPr id="12" name="Picture 11" descr="A graph of different colored bars&#10;&#10;AI-generated content may be incorrect.">
            <a:extLst>
              <a:ext uri="{FF2B5EF4-FFF2-40B4-BE49-F238E27FC236}">
                <a16:creationId xmlns:a16="http://schemas.microsoft.com/office/drawing/2014/main" id="{8E0EE8E6-10FE-98F7-3B96-740ED1C09F92}"/>
              </a:ext>
            </a:extLst>
          </p:cNvPr>
          <p:cNvPicPr>
            <a:picLocks noChangeAspect="1"/>
          </p:cNvPicPr>
          <p:nvPr/>
        </p:nvPicPr>
        <p:blipFill>
          <a:blip r:embed="rId3"/>
          <a:stretch>
            <a:fillRect/>
          </a:stretch>
        </p:blipFill>
        <p:spPr>
          <a:xfrm>
            <a:off x="4418381" y="173482"/>
            <a:ext cx="6373549" cy="3407600"/>
          </a:xfrm>
          <a:prstGeom prst="rect">
            <a:avLst/>
          </a:prstGeom>
        </p:spPr>
      </p:pic>
    </p:spTree>
    <p:extLst>
      <p:ext uri="{BB962C8B-B14F-4D97-AF65-F5344CB8AC3E}">
        <p14:creationId xmlns:p14="http://schemas.microsoft.com/office/powerpoint/2010/main" val="2442007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A30004"/>
        </a:solidFill>
        <a:effectLst/>
      </p:bgPr>
    </p:bg>
    <p:spTree>
      <p:nvGrpSpPr>
        <p:cNvPr id="1" name="">
          <a:extLst>
            <a:ext uri="{FF2B5EF4-FFF2-40B4-BE49-F238E27FC236}">
              <a16:creationId xmlns:a16="http://schemas.microsoft.com/office/drawing/2014/main" id="{3C811BFA-5FF7-57B9-51BC-5425A5168F3E}"/>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12522370-C55E-07DA-754C-3BBA555BAE2E}"/>
              </a:ext>
            </a:extLst>
          </p:cNvPr>
          <p:cNvGrpSpPr/>
          <p:nvPr/>
        </p:nvGrpSpPr>
        <p:grpSpPr>
          <a:xfrm>
            <a:off x="-2585177" y="0"/>
            <a:ext cx="3306512" cy="6858000"/>
            <a:chOff x="509727" y="0"/>
            <a:chExt cx="3306512" cy="6858000"/>
          </a:xfrm>
        </p:grpSpPr>
        <p:grpSp>
          <p:nvGrpSpPr>
            <p:cNvPr id="23" name="Group 22">
              <a:extLst>
                <a:ext uri="{FF2B5EF4-FFF2-40B4-BE49-F238E27FC236}">
                  <a16:creationId xmlns:a16="http://schemas.microsoft.com/office/drawing/2014/main" id="{D06A907A-8122-BF4E-E49E-3002DD08B79B}"/>
                </a:ext>
              </a:extLst>
            </p:cNvPr>
            <p:cNvGrpSpPr/>
            <p:nvPr/>
          </p:nvGrpSpPr>
          <p:grpSpPr>
            <a:xfrm>
              <a:off x="509727" y="0"/>
              <a:ext cx="2823530" cy="6858000"/>
              <a:chOff x="9481484" y="0"/>
              <a:chExt cx="2823530" cy="6858000"/>
            </a:xfrm>
          </p:grpSpPr>
          <p:sp>
            <p:nvSpPr>
              <p:cNvPr id="18" name="Rectangle 17">
                <a:extLst>
                  <a:ext uri="{FF2B5EF4-FFF2-40B4-BE49-F238E27FC236}">
                    <a16:creationId xmlns:a16="http://schemas.microsoft.com/office/drawing/2014/main" id="{88C9A56D-852A-9BB9-5598-B677101452E8}"/>
                  </a:ext>
                </a:extLst>
              </p:cNvPr>
              <p:cNvSpPr/>
              <p:nvPr/>
            </p:nvSpPr>
            <p:spPr>
              <a:xfrm>
                <a:off x="9564129" y="0"/>
                <a:ext cx="2627871" cy="6858000"/>
              </a:xfrm>
              <a:prstGeom prst="rect">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4BDA81C5-7FA9-B27E-3779-B584CCA9DADD}"/>
                  </a:ext>
                </a:extLst>
              </p:cNvPr>
              <p:cNvSpPr txBox="1"/>
              <p:nvPr/>
            </p:nvSpPr>
            <p:spPr>
              <a:xfrm>
                <a:off x="9681072" y="444542"/>
                <a:ext cx="2610089"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D</a:t>
                </a:r>
                <a:endParaRPr lang="en-US" sz="8000" b="1" dirty="0">
                  <a:solidFill>
                    <a:schemeClr val="bg1"/>
                  </a:solidFill>
                  <a:latin typeface="Montserrat Black" pitchFamily="2" charset="77"/>
                </a:endParaRPr>
              </a:p>
            </p:txBody>
          </p:sp>
          <p:sp>
            <p:nvSpPr>
              <p:cNvPr id="9" name="TextBox 8">
                <a:extLst>
                  <a:ext uri="{FF2B5EF4-FFF2-40B4-BE49-F238E27FC236}">
                    <a16:creationId xmlns:a16="http://schemas.microsoft.com/office/drawing/2014/main" id="{6A4F084D-C92B-4435-CF4C-9D233A75F103}"/>
                  </a:ext>
                </a:extLst>
              </p:cNvPr>
              <p:cNvSpPr txBox="1"/>
              <p:nvPr/>
            </p:nvSpPr>
            <p:spPr>
              <a:xfrm>
                <a:off x="9481484" y="2242254"/>
                <a:ext cx="2823530" cy="2677656"/>
              </a:xfrm>
              <a:prstGeom prst="rect">
                <a:avLst/>
              </a:prstGeom>
              <a:noFill/>
            </p:spPr>
            <p:txBody>
              <a:bodyPr wrap="square" rtlCol="0">
                <a:spAutoFit/>
              </a:bodyPr>
              <a:lstStyle/>
              <a:p>
                <a:pPr algn="ctr"/>
                <a:r>
                  <a:rPr lang="en-US" sz="2400" b="1" dirty="0">
                    <a:solidFill>
                      <a:schemeClr val="bg1"/>
                    </a:solidFill>
                    <a:latin typeface="Montserrat" pitchFamily="2" charset="77"/>
                  </a:rPr>
                  <a:t>Final Remarks</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As I have reached the end of this project there are some things I noticed I could have done to improve the final product if given more time to refine it.</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sp>
          <p:nvSpPr>
            <p:cNvPr id="10" name="Triangle 9">
              <a:extLst>
                <a:ext uri="{FF2B5EF4-FFF2-40B4-BE49-F238E27FC236}">
                  <a16:creationId xmlns:a16="http://schemas.microsoft.com/office/drawing/2014/main" id="{1CAAB527-9E61-16D8-12B1-91A7C7BD8749}"/>
                </a:ext>
              </a:extLst>
            </p:cNvPr>
            <p:cNvSpPr/>
            <p:nvPr/>
          </p:nvSpPr>
          <p:spPr>
            <a:xfrm rot="5400000">
              <a:off x="2932110" y="1124069"/>
              <a:ext cx="1105931" cy="662327"/>
            </a:xfrm>
            <a:prstGeom prst="triangle">
              <a:avLst>
                <a:gd name="adj" fmla="val 49675"/>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 name="Group 14">
            <a:extLst>
              <a:ext uri="{FF2B5EF4-FFF2-40B4-BE49-F238E27FC236}">
                <a16:creationId xmlns:a16="http://schemas.microsoft.com/office/drawing/2014/main" id="{D4DAD234-BB8E-5924-6355-C7AC4FAD448A}"/>
              </a:ext>
            </a:extLst>
          </p:cNvPr>
          <p:cNvGrpSpPr/>
          <p:nvPr/>
        </p:nvGrpSpPr>
        <p:grpSpPr>
          <a:xfrm>
            <a:off x="-3104681" y="0"/>
            <a:ext cx="3713593" cy="6858000"/>
            <a:chOff x="6362018" y="0"/>
            <a:chExt cx="3713593" cy="6858000"/>
          </a:xfrm>
        </p:grpSpPr>
        <p:sp>
          <p:nvSpPr>
            <p:cNvPr id="17" name="Rectangle 16">
              <a:extLst>
                <a:ext uri="{FF2B5EF4-FFF2-40B4-BE49-F238E27FC236}">
                  <a16:creationId xmlns:a16="http://schemas.microsoft.com/office/drawing/2014/main" id="{E7CBD3AE-20F5-A140-F073-2710104FE843}"/>
                </a:ext>
              </a:extLst>
            </p:cNvPr>
            <p:cNvSpPr/>
            <p:nvPr/>
          </p:nvSpPr>
          <p:spPr>
            <a:xfrm>
              <a:off x="6362018" y="0"/>
              <a:ext cx="3188043" cy="6858000"/>
            </a:xfrm>
            <a:prstGeom prst="rect">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riangle 20">
              <a:extLst>
                <a:ext uri="{FF2B5EF4-FFF2-40B4-BE49-F238E27FC236}">
                  <a16:creationId xmlns:a16="http://schemas.microsoft.com/office/drawing/2014/main" id="{44980304-98F7-0167-8BAC-842DD9E0ED6B}"/>
                </a:ext>
              </a:extLst>
            </p:cNvPr>
            <p:cNvSpPr/>
            <p:nvPr/>
          </p:nvSpPr>
          <p:spPr>
            <a:xfrm rot="5400000">
              <a:off x="9226084" y="1158670"/>
              <a:ext cx="1105930" cy="593125"/>
            </a:xfrm>
            <a:prstGeom prst="triangle">
              <a:avLst/>
            </a:prstGeom>
            <a:solidFill>
              <a:srgbClr val="A3000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BC9B4500-0335-B798-6DE5-AC467ACB9726}"/>
                </a:ext>
              </a:extLst>
            </p:cNvPr>
            <p:cNvSpPr txBox="1"/>
            <p:nvPr/>
          </p:nvSpPr>
          <p:spPr>
            <a:xfrm>
              <a:off x="6491698" y="477198"/>
              <a:ext cx="2956817"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C</a:t>
              </a:r>
              <a:endParaRPr lang="en-US" sz="8000" b="1" dirty="0">
                <a:solidFill>
                  <a:schemeClr val="bg1"/>
                </a:solidFill>
                <a:latin typeface="Montserrat Black" pitchFamily="2" charset="77"/>
              </a:endParaRPr>
            </a:p>
          </p:txBody>
        </p:sp>
        <p:sp>
          <p:nvSpPr>
            <p:cNvPr id="7" name="TextBox 6">
              <a:extLst>
                <a:ext uri="{FF2B5EF4-FFF2-40B4-BE49-F238E27FC236}">
                  <a16:creationId xmlns:a16="http://schemas.microsoft.com/office/drawing/2014/main" id="{D6C60C20-409E-DA38-F76C-99CFC8F4FA0D}"/>
                </a:ext>
              </a:extLst>
            </p:cNvPr>
            <p:cNvSpPr txBox="1"/>
            <p:nvPr/>
          </p:nvSpPr>
          <p:spPr>
            <a:xfrm>
              <a:off x="6558341" y="2227640"/>
              <a:ext cx="2823530" cy="4278094"/>
            </a:xfrm>
            <a:prstGeom prst="rect">
              <a:avLst/>
            </a:prstGeom>
            <a:noFill/>
          </p:spPr>
          <p:txBody>
            <a:bodyPr wrap="square" rtlCol="0">
              <a:spAutoFit/>
            </a:bodyPr>
            <a:lstStyle/>
            <a:p>
              <a:pPr algn="ctr"/>
              <a:r>
                <a:rPr lang="en-US" sz="2000" b="1" dirty="0">
                  <a:solidFill>
                    <a:schemeClr val="bg1"/>
                  </a:solidFill>
                  <a:latin typeface="Montserrat" pitchFamily="2" charset="77"/>
                </a:rPr>
                <a:t>Inventory Manager</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Used machine learning models to help with creating an inventory manager tool. The tool is provided in an R Studio quarto document, where the customer only needs to upload the most recent csv file and update chunks in areas that are noted then run every chunk to receive a new csv file which provides a list of items each store should hold based on available SKU counts for each individual store, priority and parameters I have set for each tier of store.</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pic>
        <p:nvPicPr>
          <p:cNvPr id="4" name="Picture 3" descr="A screenshot of a computer&#10;&#10;AI-generated content may be incorrect.">
            <a:extLst>
              <a:ext uri="{FF2B5EF4-FFF2-40B4-BE49-F238E27FC236}">
                <a16:creationId xmlns:a16="http://schemas.microsoft.com/office/drawing/2014/main" id="{0E5B415B-37AC-5FBD-0E93-BA41D1B999B8}"/>
              </a:ext>
            </a:extLst>
          </p:cNvPr>
          <p:cNvPicPr>
            <a:picLocks noChangeAspect="1"/>
          </p:cNvPicPr>
          <p:nvPr/>
        </p:nvPicPr>
        <p:blipFill>
          <a:blip r:embed="rId3"/>
          <a:stretch>
            <a:fillRect/>
          </a:stretch>
        </p:blipFill>
        <p:spPr>
          <a:xfrm>
            <a:off x="840502" y="1816218"/>
            <a:ext cx="10795719" cy="4542379"/>
          </a:xfrm>
          <a:prstGeom prst="rect">
            <a:avLst/>
          </a:prstGeom>
        </p:spPr>
      </p:pic>
      <p:sp>
        <p:nvSpPr>
          <p:cNvPr id="5" name="TextBox 4">
            <a:extLst>
              <a:ext uri="{FF2B5EF4-FFF2-40B4-BE49-F238E27FC236}">
                <a16:creationId xmlns:a16="http://schemas.microsoft.com/office/drawing/2014/main" id="{A1E449F6-8E96-7AE7-C036-474A5883469F}"/>
              </a:ext>
            </a:extLst>
          </p:cNvPr>
          <p:cNvSpPr txBox="1"/>
          <p:nvPr/>
        </p:nvSpPr>
        <p:spPr>
          <a:xfrm>
            <a:off x="2487636" y="1006234"/>
            <a:ext cx="7216727" cy="461665"/>
          </a:xfrm>
          <a:prstGeom prst="rect">
            <a:avLst/>
          </a:prstGeom>
          <a:noFill/>
        </p:spPr>
        <p:txBody>
          <a:bodyPr wrap="square" rtlCol="0">
            <a:spAutoFit/>
          </a:bodyPr>
          <a:lstStyle/>
          <a:p>
            <a:pPr algn="ctr"/>
            <a:r>
              <a:rPr lang="en-US" sz="2400" b="1" dirty="0">
                <a:solidFill>
                  <a:schemeClr val="bg1"/>
                </a:solidFill>
                <a:latin typeface="Montserrat" pitchFamily="2" charset="77"/>
              </a:rPr>
              <a:t>Sample of Final Output</a:t>
            </a:r>
          </a:p>
        </p:txBody>
      </p:sp>
    </p:spTree>
    <p:extLst>
      <p:ext uri="{BB962C8B-B14F-4D97-AF65-F5344CB8AC3E}">
        <p14:creationId xmlns:p14="http://schemas.microsoft.com/office/powerpoint/2010/main" val="23893030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920F00"/>
        </a:solidFill>
        <a:effectLst/>
      </p:bgPr>
    </p:bg>
    <p:spTree>
      <p:nvGrpSpPr>
        <p:cNvPr id="1" name="">
          <a:extLst>
            <a:ext uri="{FF2B5EF4-FFF2-40B4-BE49-F238E27FC236}">
              <a16:creationId xmlns:a16="http://schemas.microsoft.com/office/drawing/2014/main" id="{0AA49100-2DB0-7C7A-B396-DFC1D1098489}"/>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F404902-E443-3932-2F33-23D5D6054C4E}"/>
              </a:ext>
            </a:extLst>
          </p:cNvPr>
          <p:cNvGrpSpPr/>
          <p:nvPr/>
        </p:nvGrpSpPr>
        <p:grpSpPr>
          <a:xfrm>
            <a:off x="-67059" y="0"/>
            <a:ext cx="3306512" cy="6858000"/>
            <a:chOff x="509727" y="0"/>
            <a:chExt cx="3306512" cy="6858000"/>
          </a:xfrm>
        </p:grpSpPr>
        <p:grpSp>
          <p:nvGrpSpPr>
            <p:cNvPr id="23" name="Group 22">
              <a:extLst>
                <a:ext uri="{FF2B5EF4-FFF2-40B4-BE49-F238E27FC236}">
                  <a16:creationId xmlns:a16="http://schemas.microsoft.com/office/drawing/2014/main" id="{9FF7CE8E-5E7C-C682-7BC3-712ED21F3C7F}"/>
                </a:ext>
              </a:extLst>
            </p:cNvPr>
            <p:cNvGrpSpPr/>
            <p:nvPr/>
          </p:nvGrpSpPr>
          <p:grpSpPr>
            <a:xfrm>
              <a:off x="509727" y="0"/>
              <a:ext cx="2823530" cy="6858000"/>
              <a:chOff x="9481484" y="0"/>
              <a:chExt cx="2823530" cy="6858000"/>
            </a:xfrm>
          </p:grpSpPr>
          <p:sp>
            <p:nvSpPr>
              <p:cNvPr id="18" name="Rectangle 17">
                <a:extLst>
                  <a:ext uri="{FF2B5EF4-FFF2-40B4-BE49-F238E27FC236}">
                    <a16:creationId xmlns:a16="http://schemas.microsoft.com/office/drawing/2014/main" id="{33C07CB5-AAD8-5624-B387-A04B7534A2B5}"/>
                  </a:ext>
                </a:extLst>
              </p:cNvPr>
              <p:cNvSpPr/>
              <p:nvPr/>
            </p:nvSpPr>
            <p:spPr>
              <a:xfrm>
                <a:off x="9564129" y="0"/>
                <a:ext cx="2627871" cy="6858000"/>
              </a:xfrm>
              <a:prstGeom prst="rect">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7D4E9AC1-974E-B47C-39CD-4FED008DA48E}"/>
                  </a:ext>
                </a:extLst>
              </p:cNvPr>
              <p:cNvSpPr txBox="1"/>
              <p:nvPr/>
            </p:nvSpPr>
            <p:spPr>
              <a:xfrm>
                <a:off x="9681072" y="444542"/>
                <a:ext cx="2610089" cy="1862048"/>
              </a:xfrm>
              <a:prstGeom prst="rect">
                <a:avLst/>
              </a:prstGeom>
              <a:noFill/>
            </p:spPr>
            <p:txBody>
              <a:bodyPr wrap="square" rtlCol="0">
                <a:spAutoFit/>
              </a:bodyPr>
              <a:lstStyle/>
              <a:p>
                <a:pPr algn="ctr"/>
                <a:r>
                  <a:rPr lang="en-US" sz="11500" b="1" dirty="0">
                    <a:solidFill>
                      <a:schemeClr val="bg1"/>
                    </a:solidFill>
                    <a:latin typeface="Montserrat Black" pitchFamily="2" charset="77"/>
                  </a:rPr>
                  <a:t>D</a:t>
                </a:r>
                <a:endParaRPr lang="en-US" sz="8000" b="1" dirty="0">
                  <a:solidFill>
                    <a:schemeClr val="bg1"/>
                  </a:solidFill>
                  <a:latin typeface="Montserrat Black" pitchFamily="2" charset="77"/>
                </a:endParaRPr>
              </a:p>
            </p:txBody>
          </p:sp>
          <p:sp>
            <p:nvSpPr>
              <p:cNvPr id="9" name="TextBox 8">
                <a:extLst>
                  <a:ext uri="{FF2B5EF4-FFF2-40B4-BE49-F238E27FC236}">
                    <a16:creationId xmlns:a16="http://schemas.microsoft.com/office/drawing/2014/main" id="{9FC6F3D0-5894-9401-AE9C-7D2738599F7B}"/>
                  </a:ext>
                </a:extLst>
              </p:cNvPr>
              <p:cNvSpPr txBox="1"/>
              <p:nvPr/>
            </p:nvSpPr>
            <p:spPr>
              <a:xfrm>
                <a:off x="9481484" y="2242254"/>
                <a:ext cx="2823530" cy="2677656"/>
              </a:xfrm>
              <a:prstGeom prst="rect">
                <a:avLst/>
              </a:prstGeom>
              <a:noFill/>
            </p:spPr>
            <p:txBody>
              <a:bodyPr wrap="square" rtlCol="0">
                <a:spAutoFit/>
              </a:bodyPr>
              <a:lstStyle/>
              <a:p>
                <a:pPr algn="ctr"/>
                <a:r>
                  <a:rPr lang="en-US" sz="2400" b="1" dirty="0">
                    <a:solidFill>
                      <a:schemeClr val="bg1"/>
                    </a:solidFill>
                    <a:latin typeface="Montserrat" pitchFamily="2" charset="77"/>
                  </a:rPr>
                  <a:t>Final Remarks</a:t>
                </a:r>
              </a:p>
              <a:p>
                <a:pPr algn="ctr"/>
                <a:endParaRPr lang="en-US" sz="1600" dirty="0">
                  <a:solidFill>
                    <a:schemeClr val="bg1"/>
                  </a:solidFill>
                  <a:latin typeface="Montserrat" pitchFamily="2" charset="77"/>
                </a:endParaRPr>
              </a:p>
              <a:p>
                <a:pPr algn="ctr"/>
                <a:endParaRPr lang="en-US" sz="1600" dirty="0">
                  <a:solidFill>
                    <a:schemeClr val="bg1"/>
                  </a:solidFill>
                  <a:latin typeface="Montserrat" pitchFamily="2" charset="77"/>
                </a:endParaRPr>
              </a:p>
              <a:p>
                <a:pPr algn="ctr"/>
                <a:r>
                  <a:rPr lang="en-US" sz="1200" dirty="0">
                    <a:solidFill>
                      <a:schemeClr val="bg1"/>
                    </a:solidFill>
                    <a:latin typeface="Montserrat" pitchFamily="2" charset="77"/>
                  </a:rPr>
                  <a:t>As I have reached the end of this project there are some things I noticed I could have done to improve the final product if given more time to refine it.</a:t>
                </a:r>
              </a:p>
              <a:p>
                <a:pPr algn="ctr"/>
                <a:endParaRPr lang="en-US" b="1" dirty="0">
                  <a:solidFill>
                    <a:schemeClr val="bg1"/>
                  </a:solidFill>
                  <a:latin typeface="Montserrat" pitchFamily="2" charset="77"/>
                </a:endParaRPr>
              </a:p>
              <a:p>
                <a:pPr algn="ctr"/>
                <a:endParaRPr lang="en-US" b="1" dirty="0">
                  <a:solidFill>
                    <a:schemeClr val="bg1"/>
                  </a:solidFill>
                  <a:latin typeface="Montserrat" pitchFamily="2" charset="77"/>
                </a:endParaRPr>
              </a:p>
              <a:p>
                <a:pPr algn="ctr"/>
                <a:endParaRPr lang="en-US" sz="1600" b="1" dirty="0">
                  <a:solidFill>
                    <a:schemeClr val="bg1"/>
                  </a:solidFill>
                  <a:latin typeface="Montserrat" pitchFamily="2" charset="77"/>
                </a:endParaRPr>
              </a:p>
            </p:txBody>
          </p:sp>
        </p:grpSp>
        <p:sp>
          <p:nvSpPr>
            <p:cNvPr id="10" name="Triangle 9">
              <a:extLst>
                <a:ext uri="{FF2B5EF4-FFF2-40B4-BE49-F238E27FC236}">
                  <a16:creationId xmlns:a16="http://schemas.microsoft.com/office/drawing/2014/main" id="{A898233F-8C5E-DBDF-E42E-B074BD9A22C3}"/>
                </a:ext>
              </a:extLst>
            </p:cNvPr>
            <p:cNvSpPr/>
            <p:nvPr/>
          </p:nvSpPr>
          <p:spPr>
            <a:xfrm rot="5400000">
              <a:off x="2932110" y="1124069"/>
              <a:ext cx="1105931" cy="662327"/>
            </a:xfrm>
            <a:prstGeom prst="triangle">
              <a:avLst>
                <a:gd name="adj" fmla="val 49675"/>
              </a:avLst>
            </a:prstGeom>
            <a:solidFill>
              <a:srgbClr val="920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TextBox 3">
            <a:extLst>
              <a:ext uri="{FF2B5EF4-FFF2-40B4-BE49-F238E27FC236}">
                <a16:creationId xmlns:a16="http://schemas.microsoft.com/office/drawing/2014/main" id="{53B36E20-13AB-1F8F-CF32-7E83DCC42908}"/>
              </a:ext>
            </a:extLst>
          </p:cNvPr>
          <p:cNvSpPr txBox="1"/>
          <p:nvPr/>
        </p:nvSpPr>
        <p:spPr>
          <a:xfrm>
            <a:off x="5088054" y="1012954"/>
            <a:ext cx="4600135" cy="4832092"/>
          </a:xfrm>
          <a:prstGeom prst="rect">
            <a:avLst/>
          </a:prstGeom>
          <a:noFill/>
        </p:spPr>
        <p:txBody>
          <a:bodyPr wrap="square" rtlCol="0">
            <a:spAutoFit/>
          </a:bodyPr>
          <a:lstStyle/>
          <a:p>
            <a:endParaRPr lang="en-US" dirty="0">
              <a:solidFill>
                <a:schemeClr val="bg1"/>
              </a:solidFill>
              <a:latin typeface="Montserrat" pitchFamily="2" charset="77"/>
            </a:endParaRPr>
          </a:p>
          <a:p>
            <a:pPr marL="285750" indent="-285750">
              <a:buFont typeface="Arial" panose="020B0604020202020204" pitchFamily="34" charset="0"/>
              <a:buChar char="•"/>
            </a:pPr>
            <a:r>
              <a:rPr lang="en-US" sz="1600" dirty="0">
                <a:solidFill>
                  <a:schemeClr val="bg1"/>
                </a:solidFill>
                <a:latin typeface="Montserrat" pitchFamily="2" charset="77"/>
              </a:rPr>
              <a:t>Recalibrate the high priority variable and quotas I have created for all store tiers to a more realistic amount</a:t>
            </a:r>
          </a:p>
          <a:p>
            <a:pPr marL="742950" lvl="1" indent="-285750">
              <a:buFont typeface="Arial" panose="020B0604020202020204" pitchFamily="34" charset="0"/>
              <a:buChar char="•"/>
            </a:pPr>
            <a:r>
              <a:rPr lang="en-US" sz="1600" dirty="0">
                <a:solidFill>
                  <a:schemeClr val="bg1"/>
                </a:solidFill>
                <a:latin typeface="Montserrat" pitchFamily="2" charset="77"/>
              </a:rPr>
              <a:t>High Priority being top 33%, top 40% or potentially getting the model to assist with determining the parameters</a:t>
            </a:r>
          </a:p>
          <a:p>
            <a:pPr marL="285750" indent="-285750">
              <a:buFont typeface="Arial" panose="020B0604020202020204" pitchFamily="34" charset="0"/>
              <a:buChar char="•"/>
            </a:pPr>
            <a:r>
              <a:rPr lang="en-US" sz="1600" dirty="0">
                <a:solidFill>
                  <a:schemeClr val="bg1"/>
                </a:solidFill>
                <a:latin typeface="Montserrat" pitchFamily="2" charset="77"/>
              </a:rPr>
              <a:t>Include quantity counts for each recommended item instead of only mentioning items that should be stocked</a:t>
            </a:r>
          </a:p>
          <a:p>
            <a:pPr marL="285750" indent="-285750">
              <a:buFont typeface="Arial" panose="020B0604020202020204" pitchFamily="34" charset="0"/>
              <a:buChar char="•"/>
            </a:pPr>
            <a:r>
              <a:rPr lang="en-US" sz="1600" dirty="0">
                <a:solidFill>
                  <a:schemeClr val="bg1"/>
                </a:solidFill>
                <a:latin typeface="Montserrat" pitchFamily="2" charset="77"/>
              </a:rPr>
              <a:t>Adjust the model to observe data on a shorter cycle that is both more accurate and beneficial to ABS team, including either a monthly cycle or a timeframe ABS currently performs inventory fulfillment (if not monthly)</a:t>
            </a:r>
          </a:p>
          <a:p>
            <a:endParaRPr lang="en-US" dirty="0">
              <a:solidFill>
                <a:schemeClr val="bg1"/>
              </a:solidFill>
              <a:latin typeface="Montserrat" pitchFamily="2" charset="77"/>
            </a:endParaRPr>
          </a:p>
        </p:txBody>
      </p:sp>
    </p:spTree>
    <p:extLst>
      <p:ext uri="{BB962C8B-B14F-4D97-AF65-F5344CB8AC3E}">
        <p14:creationId xmlns:p14="http://schemas.microsoft.com/office/powerpoint/2010/main" val="197631928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920F00"/>
        </a:solidFill>
        <a:effectLst/>
      </p:bgPr>
    </p:bg>
    <p:spTree>
      <p:nvGrpSpPr>
        <p:cNvPr id="1" name="">
          <a:extLst>
            <a:ext uri="{FF2B5EF4-FFF2-40B4-BE49-F238E27FC236}">
              <a16:creationId xmlns:a16="http://schemas.microsoft.com/office/drawing/2014/main" id="{226CB30D-1716-1CA4-23DC-9CFB91930DE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5805E58-D322-4A6C-44BB-F2943A6B71E4}"/>
              </a:ext>
            </a:extLst>
          </p:cNvPr>
          <p:cNvSpPr txBox="1"/>
          <p:nvPr/>
        </p:nvSpPr>
        <p:spPr>
          <a:xfrm>
            <a:off x="3446585" y="633046"/>
            <a:ext cx="5430129" cy="584775"/>
          </a:xfrm>
          <a:prstGeom prst="rect">
            <a:avLst/>
          </a:prstGeom>
          <a:noFill/>
        </p:spPr>
        <p:txBody>
          <a:bodyPr wrap="square" rtlCol="0">
            <a:spAutoFit/>
          </a:bodyPr>
          <a:lstStyle/>
          <a:p>
            <a:pPr algn="ctr"/>
            <a:r>
              <a:rPr lang="en-US" sz="3200" b="1" dirty="0">
                <a:solidFill>
                  <a:schemeClr val="bg1"/>
                </a:solidFill>
                <a:latin typeface="Montserrat Black" pitchFamily="2" charset="77"/>
              </a:rPr>
              <a:t>Acknowledgments</a:t>
            </a:r>
          </a:p>
        </p:txBody>
      </p:sp>
      <p:sp>
        <p:nvSpPr>
          <p:cNvPr id="5" name="TextBox 4">
            <a:extLst>
              <a:ext uri="{FF2B5EF4-FFF2-40B4-BE49-F238E27FC236}">
                <a16:creationId xmlns:a16="http://schemas.microsoft.com/office/drawing/2014/main" id="{FCBE2F3D-74BB-111B-00F2-187397CFF725}"/>
              </a:ext>
            </a:extLst>
          </p:cNvPr>
          <p:cNvSpPr txBox="1"/>
          <p:nvPr/>
        </p:nvSpPr>
        <p:spPr>
          <a:xfrm>
            <a:off x="665871" y="2037470"/>
            <a:ext cx="10911840" cy="2862322"/>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latin typeface="Montserrat" pitchFamily="2" charset="77"/>
              </a:rPr>
              <a:t>ABS team for keeping me on track and assisting me every week with understanding the data set they have provided and stopping me from going the wrong direction with my research whenever it was needed</a:t>
            </a:r>
          </a:p>
          <a:p>
            <a:pPr marL="342900" indent="-342900">
              <a:buFont typeface="Arial" panose="020B0604020202020204" pitchFamily="34" charset="0"/>
              <a:buChar char="•"/>
            </a:pPr>
            <a:r>
              <a:rPr lang="en-US" sz="2000" dirty="0">
                <a:solidFill>
                  <a:schemeClr val="bg1"/>
                </a:solidFill>
                <a:latin typeface="Montserrat" pitchFamily="2" charset="77"/>
              </a:rPr>
              <a:t>Data Montgomery team for helping with organizing meetings, and all communication and also helping with finding supplementary data even if we never ended up using it</a:t>
            </a:r>
          </a:p>
          <a:p>
            <a:pPr marL="342900" indent="-342900">
              <a:buFont typeface="Arial" panose="020B0604020202020204" pitchFamily="34" charset="0"/>
              <a:buChar char="•"/>
            </a:pPr>
            <a:r>
              <a:rPr lang="en-US" sz="2000" dirty="0">
                <a:solidFill>
                  <a:schemeClr val="bg1"/>
                </a:solidFill>
                <a:latin typeface="Montserrat" pitchFamily="2" charset="77"/>
              </a:rPr>
              <a:t>Prof. Lori Perine for advising me on how to move forward with my machine learning models </a:t>
            </a:r>
          </a:p>
          <a:p>
            <a:pPr marL="342900" indent="-342900">
              <a:buFont typeface="Arial" panose="020B0604020202020204" pitchFamily="34" charset="0"/>
              <a:buChar char="•"/>
            </a:pPr>
            <a:r>
              <a:rPr lang="en-US" sz="2000" dirty="0">
                <a:solidFill>
                  <a:schemeClr val="bg1"/>
                </a:solidFill>
                <a:latin typeface="Montserrat" pitchFamily="2" charset="77"/>
              </a:rPr>
              <a:t>My fellow teammate Arash as his research also helped sharpen my approach </a:t>
            </a:r>
          </a:p>
        </p:txBody>
      </p:sp>
    </p:spTree>
    <p:extLst>
      <p:ext uri="{BB962C8B-B14F-4D97-AF65-F5344CB8AC3E}">
        <p14:creationId xmlns:p14="http://schemas.microsoft.com/office/powerpoint/2010/main" val="38570283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920F00"/>
        </a:solidFill>
        <a:effectLst/>
      </p:bgPr>
    </p:bg>
    <p:spTree>
      <p:nvGrpSpPr>
        <p:cNvPr id="1" name="">
          <a:extLst>
            <a:ext uri="{FF2B5EF4-FFF2-40B4-BE49-F238E27FC236}">
              <a16:creationId xmlns:a16="http://schemas.microsoft.com/office/drawing/2014/main" id="{64F43A98-D604-20F2-CA7B-E897567CDBA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BBDF725-4E88-EAEA-7FDD-D52E39811D81}"/>
              </a:ext>
            </a:extLst>
          </p:cNvPr>
          <p:cNvSpPr txBox="1"/>
          <p:nvPr/>
        </p:nvSpPr>
        <p:spPr>
          <a:xfrm>
            <a:off x="3446585" y="633046"/>
            <a:ext cx="5430129" cy="584775"/>
          </a:xfrm>
          <a:prstGeom prst="rect">
            <a:avLst/>
          </a:prstGeom>
          <a:noFill/>
        </p:spPr>
        <p:txBody>
          <a:bodyPr wrap="square" rtlCol="0">
            <a:spAutoFit/>
          </a:bodyPr>
          <a:lstStyle/>
          <a:p>
            <a:pPr algn="ctr"/>
            <a:r>
              <a:rPr lang="en-US" sz="3200" b="1" dirty="0">
                <a:solidFill>
                  <a:schemeClr val="bg1"/>
                </a:solidFill>
                <a:latin typeface="Montserrat Black" pitchFamily="2" charset="77"/>
              </a:rPr>
              <a:t>Link to Research</a:t>
            </a:r>
          </a:p>
        </p:txBody>
      </p:sp>
      <p:sp>
        <p:nvSpPr>
          <p:cNvPr id="5" name="TextBox 4">
            <a:extLst>
              <a:ext uri="{FF2B5EF4-FFF2-40B4-BE49-F238E27FC236}">
                <a16:creationId xmlns:a16="http://schemas.microsoft.com/office/drawing/2014/main" id="{916E3E96-F15E-CB38-9EC4-AA79D406029B}"/>
              </a:ext>
            </a:extLst>
          </p:cNvPr>
          <p:cNvSpPr txBox="1"/>
          <p:nvPr/>
        </p:nvSpPr>
        <p:spPr>
          <a:xfrm>
            <a:off x="640080" y="2065605"/>
            <a:ext cx="10911840" cy="400110"/>
          </a:xfrm>
          <a:prstGeom prst="rect">
            <a:avLst/>
          </a:prstGeom>
          <a:noFill/>
        </p:spPr>
        <p:txBody>
          <a:bodyPr wrap="square" rtlCol="0">
            <a:spAutoFit/>
          </a:bodyPr>
          <a:lstStyle/>
          <a:p>
            <a:pPr algn="ctr"/>
            <a:r>
              <a:rPr lang="en-US" sz="2000" dirty="0">
                <a:solidFill>
                  <a:schemeClr val="bg1"/>
                </a:solidFill>
                <a:latin typeface="Montserrat" pitchFamily="2" charset="77"/>
              </a:rPr>
              <a:t>https://</a:t>
            </a:r>
            <a:r>
              <a:rPr lang="en-US" sz="2000" dirty="0" err="1">
                <a:solidFill>
                  <a:schemeClr val="bg1"/>
                </a:solidFill>
                <a:latin typeface="Montserrat" pitchFamily="2" charset="77"/>
              </a:rPr>
              <a:t>github.com</a:t>
            </a:r>
            <a:r>
              <a:rPr lang="en-US" sz="2000" dirty="0">
                <a:solidFill>
                  <a:schemeClr val="bg1"/>
                </a:solidFill>
                <a:latin typeface="Montserrat" pitchFamily="2" charset="77"/>
              </a:rPr>
              <a:t>/</a:t>
            </a:r>
            <a:r>
              <a:rPr lang="en-US" sz="2000" dirty="0" err="1">
                <a:solidFill>
                  <a:schemeClr val="bg1"/>
                </a:solidFill>
                <a:latin typeface="Montserrat" pitchFamily="2" charset="77"/>
              </a:rPr>
              <a:t>andrewarsaw</a:t>
            </a:r>
            <a:r>
              <a:rPr lang="en-US" sz="2000" dirty="0">
                <a:solidFill>
                  <a:schemeClr val="bg1"/>
                </a:solidFill>
                <a:latin typeface="Montserrat" pitchFamily="2" charset="77"/>
              </a:rPr>
              <a:t>/DATA-205</a:t>
            </a:r>
          </a:p>
        </p:txBody>
      </p:sp>
    </p:spTree>
    <p:extLst>
      <p:ext uri="{BB962C8B-B14F-4D97-AF65-F5344CB8AC3E}">
        <p14:creationId xmlns:p14="http://schemas.microsoft.com/office/powerpoint/2010/main" val="42092109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920F00"/>
        </a:solidFill>
        <a:effectLst/>
      </p:bgPr>
    </p:bg>
    <p:spTree>
      <p:nvGrpSpPr>
        <p:cNvPr id="1" name="">
          <a:extLst>
            <a:ext uri="{FF2B5EF4-FFF2-40B4-BE49-F238E27FC236}">
              <a16:creationId xmlns:a16="http://schemas.microsoft.com/office/drawing/2014/main" id="{39ED8BBB-E61A-0D94-7CEF-37240FA7DAE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F281823-D9E9-09B4-20B2-97D6B794B9F8}"/>
              </a:ext>
            </a:extLst>
          </p:cNvPr>
          <p:cNvSpPr txBox="1"/>
          <p:nvPr/>
        </p:nvSpPr>
        <p:spPr>
          <a:xfrm>
            <a:off x="3380935" y="3136612"/>
            <a:ext cx="5430129" cy="584775"/>
          </a:xfrm>
          <a:prstGeom prst="rect">
            <a:avLst/>
          </a:prstGeom>
          <a:noFill/>
        </p:spPr>
        <p:txBody>
          <a:bodyPr wrap="square" rtlCol="0">
            <a:spAutoFit/>
          </a:bodyPr>
          <a:lstStyle/>
          <a:p>
            <a:pPr algn="ctr"/>
            <a:r>
              <a:rPr lang="en-US" sz="3200" b="1" dirty="0">
                <a:solidFill>
                  <a:schemeClr val="bg1"/>
                </a:solidFill>
                <a:latin typeface="Montserrat Black" pitchFamily="2" charset="77"/>
              </a:rPr>
              <a:t>THANK YOU!</a:t>
            </a:r>
          </a:p>
        </p:txBody>
      </p:sp>
    </p:spTree>
    <p:extLst>
      <p:ext uri="{BB962C8B-B14F-4D97-AF65-F5344CB8AC3E}">
        <p14:creationId xmlns:p14="http://schemas.microsoft.com/office/powerpoint/2010/main" val="28755395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c5b7859c-cd3e-47bd-a10a-72c7e0897abc">
      <Terms xmlns="http://schemas.microsoft.com/office/infopath/2007/PartnerControls"/>
    </lcf76f155ced4ddcb4097134ff3c332f>
    <TaxCatchAll xmlns="ddf5e2c5-0468-470a-a2ed-29ebfe52fc9f"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55C841D57BE5B8409AE1CDBAD9B44B84" ma:contentTypeVersion="12" ma:contentTypeDescription="Create a new document." ma:contentTypeScope="" ma:versionID="8de65bd6742f187d60d2bf4f19cf509e">
  <xsd:schema xmlns:xsd="http://www.w3.org/2001/XMLSchema" xmlns:xs="http://www.w3.org/2001/XMLSchema" xmlns:p="http://schemas.microsoft.com/office/2006/metadata/properties" xmlns:ns2="c5b7859c-cd3e-47bd-a10a-72c7e0897abc" xmlns:ns3="ddf5e2c5-0468-470a-a2ed-29ebfe52fc9f" targetNamespace="http://schemas.microsoft.com/office/2006/metadata/properties" ma:root="true" ma:fieldsID="fa3bde16f4a628f8368cfb56b56834a1" ns2:_="" ns3:_="">
    <xsd:import namespace="c5b7859c-cd3e-47bd-a10a-72c7e0897abc"/>
    <xsd:import namespace="ddf5e2c5-0468-470a-a2ed-29ebfe52fc9f"/>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5b7859c-cd3e-47bd-a10a-72c7e0897ab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d3d9b174-7e47-4f28-abd7-41f0d2dcc11f"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df5e2c5-0468-470a-a2ed-29ebfe52fc9f"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f8ae0300-b805-465c-b265-b806d2ceae69}" ma:internalName="TaxCatchAll" ma:showField="CatchAllData" ma:web="ddf5e2c5-0468-470a-a2ed-29ebfe52fc9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457E7DA-BF07-4F59-A61A-7409E4187FEF}">
  <ds:schemaRefs>
    <ds:schemaRef ds:uri="http://schemas.microsoft.com/sharepoint/v3/contenttype/forms"/>
  </ds:schemaRefs>
</ds:datastoreItem>
</file>

<file path=customXml/itemProps2.xml><?xml version="1.0" encoding="utf-8"?>
<ds:datastoreItem xmlns:ds="http://schemas.openxmlformats.org/officeDocument/2006/customXml" ds:itemID="{DF7F656B-71DB-444F-A425-3C27E580672A}">
  <ds:schemaRefs>
    <ds:schemaRef ds:uri="c5b7859c-cd3e-47bd-a10a-72c7e0897abc"/>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http://schemas.microsoft.com/office/infopath/2007/PartnerControls"/>
    <ds:schemaRef ds:uri="http://schemas.openxmlformats.org/package/2006/metadata/core-properties"/>
    <ds:schemaRef ds:uri="ddf5e2c5-0468-470a-a2ed-29ebfe52fc9f"/>
  </ds:schemaRefs>
</ds:datastoreItem>
</file>

<file path=customXml/itemProps3.xml><?xml version="1.0" encoding="utf-8"?>
<ds:datastoreItem xmlns:ds="http://schemas.openxmlformats.org/officeDocument/2006/customXml" ds:itemID="{6C07D343-654C-4BD0-8555-D65B6250FF6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5b7859c-cd3e-47bd-a10a-72c7e0897abc"/>
    <ds:schemaRef ds:uri="ddf5e2c5-0468-470a-a2ed-29ebfe52fc9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4277</TotalTime>
  <Words>2499</Words>
  <Application>Microsoft Macintosh PowerPoint</Application>
  <PresentationFormat>Widescreen</PresentationFormat>
  <Paragraphs>231</Paragraphs>
  <Slides>13</Slides>
  <Notes>12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vt:i4>
      </vt:variant>
    </vt:vector>
  </HeadingPairs>
  <TitlesOfParts>
    <vt:vector size="20" baseType="lpstr">
      <vt:lpstr>Aptos</vt:lpstr>
      <vt:lpstr>Aptos Display</vt:lpstr>
      <vt:lpstr>Arial</vt:lpstr>
      <vt:lpstr>Montserrat</vt:lpstr>
      <vt:lpstr>Montserrat Black</vt:lpstr>
      <vt:lpstr>Montserrat Medium</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Warsaw, Andre</dc:creator>
  <cp:lastModifiedBy>Warsaw, Andre</cp:lastModifiedBy>
  <cp:revision>6</cp:revision>
  <dcterms:created xsi:type="dcterms:W3CDTF">2025-12-10T01:04:12Z</dcterms:created>
  <dcterms:modified xsi:type="dcterms:W3CDTF">2025-12-27T05:38:35Z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0x01010055C841D57BE5B8409AE1CDBAD9B44B84</vt:lpwstr>
  </property>
  <property fmtid="{D5CDD505-2E9C-101B-9397-08002B2CF9AE}" pid="4" name="MSIP_Label_db55589f-69af-4b8f-bb7e-f33b2c49fdb7_Enabled">
    <vt:lpwstr>true</vt:lpwstr>
  </property>
  <property fmtid="{D5CDD505-2E9C-101B-9397-08002B2CF9AE}" pid="5" name="MSIP_Label_db55589f-69af-4b8f-bb7e-f33b2c49fdb7_Provider">
    <vt:lpwstr>Varonis.Labeling</vt:lpwstr>
  </property>
  <property fmtid="{D5CDD505-2E9C-101B-9397-08002B2CF9AE}" pid="6" name="MSIP_Label_db55589f-69af-4b8f-bb7e-f33b2c49fdb7_SiteId">
    <vt:lpwstr>4d401e0b-6552-4e08-bd38-a8d15ca0ddd9</vt:lpwstr>
  </property>
  <property fmtid="{D5CDD505-2E9C-101B-9397-08002B2CF9AE}" pid="7" name="MSIP_Label_db55589f-69af-4b8f-bb7e-f33b2c49fdb7_Method">
    <vt:lpwstr>Standard</vt:lpwstr>
  </property>
  <property fmtid="{D5CDD505-2E9C-101B-9397-08002B2CF9AE}" pid="8" name="MSIP_Label_db55589f-69af-4b8f-bb7e-f33b2c49fdb7_ContentBits">
    <vt:lpwstr>0</vt:lpwstr>
  </property>
  <property fmtid="{D5CDD505-2E9C-101B-9397-08002B2CF9AE}" pid="9" name="MSIP_Label_db55589f-69af-4b8f-bb7e-f33b2c49fdb7_SetDate">
    <vt:lpwstr>2025-12-11T04:13:43Z</vt:lpwstr>
  </property>
  <property fmtid="{D5CDD505-2E9C-101B-9397-08002B2CF9AE}" pid="10" name="MSIP_Label_db55589f-69af-4b8f-bb7e-f33b2c49fdb7_ActionId">
    <vt:lpwstr>038727a7-82f3-45ba-ba12-455ffe1da24c</vt:lpwstr>
  </property>
  <property fmtid="{D5CDD505-2E9C-101B-9397-08002B2CF9AE}" pid="11" name="MSIP_Label_db55589f-69af-4b8f-bb7e-f33b2c49fdb7_Name">
    <vt:lpwstr>Sensitive (Internal)</vt:lpwstr>
  </property>
</Properties>
</file>