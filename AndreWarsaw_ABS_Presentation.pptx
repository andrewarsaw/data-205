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0F00"/>
    <a:srgbClr val="A30004"/>
    <a:srgbClr val="D00000"/>
    <a:srgbClr val="FE0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8"/>
    <p:restoredTop sz="94694"/>
  </p:normalViewPr>
  <p:slideViewPr>
    <p:cSldViewPr snapToGrid="0">
      <p:cViewPr varScale="1">
        <p:scale>
          <a:sx n="121" d="100"/>
          <a:sy n="121" d="100"/>
        </p:scale>
        <p:origin x="8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A9BE7E-21B2-394D-80EA-DD3C0CE12F78}"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9E90D-8FD9-4946-B96D-09C040477199}" type="slidenum">
              <a:rPr lang="en-US" smtClean="0"/>
              <a:t>‹#›</a:t>
            </a:fld>
            <a:endParaRPr lang="en-US"/>
          </a:p>
        </p:txBody>
      </p:sp>
    </p:spTree>
    <p:extLst>
      <p:ext uri="{BB962C8B-B14F-4D97-AF65-F5344CB8AC3E}">
        <p14:creationId xmlns:p14="http://schemas.microsoft.com/office/powerpoint/2010/main" val="139744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A9E90D-8FD9-4946-B96D-09C040477199}" type="slidenum">
              <a:rPr lang="en-US" smtClean="0"/>
              <a:t>2</a:t>
            </a:fld>
            <a:endParaRPr lang="en-US"/>
          </a:p>
        </p:txBody>
      </p:sp>
    </p:spTree>
    <p:extLst>
      <p:ext uri="{BB962C8B-B14F-4D97-AF65-F5344CB8AC3E}">
        <p14:creationId xmlns:p14="http://schemas.microsoft.com/office/powerpoint/2010/main" val="127033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1F1D-FF5B-1296-DA79-D13D1B2E2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1D1C6-80BA-595E-EAC3-920790FE6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8837A-8193-43C6-5988-B3F31BADB3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B15DA3-E6D2-5FC8-1D31-87F2D9BBE7D3}"/>
              </a:ext>
            </a:extLst>
          </p:cNvPr>
          <p:cNvSpPr>
            <a:spLocks noGrp="1"/>
          </p:cNvSpPr>
          <p:nvPr>
            <p:ph type="sldNum" sz="quarter" idx="5"/>
          </p:nvPr>
        </p:nvSpPr>
        <p:spPr/>
        <p:txBody>
          <a:bodyPr/>
          <a:lstStyle/>
          <a:p>
            <a:fld id="{8FA9E90D-8FD9-4946-B96D-09C040477199}" type="slidenum">
              <a:rPr lang="en-US" smtClean="0"/>
              <a:t>3</a:t>
            </a:fld>
            <a:endParaRPr lang="en-US"/>
          </a:p>
        </p:txBody>
      </p:sp>
    </p:spTree>
    <p:extLst>
      <p:ext uri="{BB962C8B-B14F-4D97-AF65-F5344CB8AC3E}">
        <p14:creationId xmlns:p14="http://schemas.microsoft.com/office/powerpoint/2010/main" val="689614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3565F-53AF-DF94-DB62-CEFCFB3D4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3127A-AA12-D7A6-2ED5-F7E928130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F5AED-FC3E-EEE0-72C9-39C459DD4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E16E25-49D1-0B0C-5B17-3EE1C5B95364}"/>
              </a:ext>
            </a:extLst>
          </p:cNvPr>
          <p:cNvSpPr>
            <a:spLocks noGrp="1"/>
          </p:cNvSpPr>
          <p:nvPr>
            <p:ph type="sldNum" sz="quarter" idx="5"/>
          </p:nvPr>
        </p:nvSpPr>
        <p:spPr/>
        <p:txBody>
          <a:bodyPr/>
          <a:lstStyle/>
          <a:p>
            <a:fld id="{8FA9E90D-8FD9-4946-B96D-09C040477199}" type="slidenum">
              <a:rPr lang="en-US" smtClean="0"/>
              <a:t>4</a:t>
            </a:fld>
            <a:endParaRPr lang="en-US"/>
          </a:p>
        </p:txBody>
      </p:sp>
    </p:spTree>
    <p:extLst>
      <p:ext uri="{BB962C8B-B14F-4D97-AF65-F5344CB8AC3E}">
        <p14:creationId xmlns:p14="http://schemas.microsoft.com/office/powerpoint/2010/main" val="2945825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D2B7-2A83-9CD9-D726-24DFF16B9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D2942-4CC4-6283-3876-F9A7D54A1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43CD1-55DC-AC3A-7148-4EF47F719E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50A4E9-285F-3289-57FE-423E571B09F2}"/>
              </a:ext>
            </a:extLst>
          </p:cNvPr>
          <p:cNvSpPr>
            <a:spLocks noGrp="1"/>
          </p:cNvSpPr>
          <p:nvPr>
            <p:ph type="sldNum" sz="quarter" idx="5"/>
          </p:nvPr>
        </p:nvSpPr>
        <p:spPr/>
        <p:txBody>
          <a:bodyPr/>
          <a:lstStyle/>
          <a:p>
            <a:fld id="{8FA9E90D-8FD9-4946-B96D-09C040477199}" type="slidenum">
              <a:rPr lang="en-US" smtClean="0"/>
              <a:t>5</a:t>
            </a:fld>
            <a:endParaRPr lang="en-US"/>
          </a:p>
        </p:txBody>
      </p:sp>
    </p:spTree>
    <p:extLst>
      <p:ext uri="{BB962C8B-B14F-4D97-AF65-F5344CB8AC3E}">
        <p14:creationId xmlns:p14="http://schemas.microsoft.com/office/powerpoint/2010/main" val="3845327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5A575-2855-5556-E590-36E52122B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8C83F-6B58-5973-6A27-99E095839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0E48F-786B-1900-DE4D-C2825EE1C4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DA8E3E-ACCA-70DF-B110-311302471F9C}"/>
              </a:ext>
            </a:extLst>
          </p:cNvPr>
          <p:cNvSpPr>
            <a:spLocks noGrp="1"/>
          </p:cNvSpPr>
          <p:nvPr>
            <p:ph type="sldNum" sz="quarter" idx="5"/>
          </p:nvPr>
        </p:nvSpPr>
        <p:spPr/>
        <p:txBody>
          <a:bodyPr/>
          <a:lstStyle/>
          <a:p>
            <a:fld id="{8FA9E90D-8FD9-4946-B96D-09C040477199}" type="slidenum">
              <a:rPr lang="en-US" smtClean="0"/>
              <a:t>6</a:t>
            </a:fld>
            <a:endParaRPr lang="en-US"/>
          </a:p>
        </p:txBody>
      </p:sp>
    </p:spTree>
    <p:extLst>
      <p:ext uri="{BB962C8B-B14F-4D97-AF65-F5344CB8AC3E}">
        <p14:creationId xmlns:p14="http://schemas.microsoft.com/office/powerpoint/2010/main" val="3679435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1ED73-5429-EF90-5C68-BD99D8868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5BE07-1C4E-3885-24D7-FE741691E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47AFC-5DEF-DD7B-665D-3B3DC2614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4F7CC1-5141-A040-57E2-C63300E866D6}"/>
              </a:ext>
            </a:extLst>
          </p:cNvPr>
          <p:cNvSpPr>
            <a:spLocks noGrp="1"/>
          </p:cNvSpPr>
          <p:nvPr>
            <p:ph type="sldNum" sz="quarter" idx="5"/>
          </p:nvPr>
        </p:nvSpPr>
        <p:spPr/>
        <p:txBody>
          <a:bodyPr/>
          <a:lstStyle/>
          <a:p>
            <a:fld id="{8FA9E90D-8FD9-4946-B96D-09C040477199}" type="slidenum">
              <a:rPr lang="en-US" smtClean="0"/>
              <a:t>7</a:t>
            </a:fld>
            <a:endParaRPr lang="en-US"/>
          </a:p>
        </p:txBody>
      </p:sp>
    </p:spTree>
    <p:extLst>
      <p:ext uri="{BB962C8B-B14F-4D97-AF65-F5344CB8AC3E}">
        <p14:creationId xmlns:p14="http://schemas.microsoft.com/office/powerpoint/2010/main" val="215322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3636F-2F3D-DD83-72D0-8FE2631AE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65947-984F-2DDF-B1F2-6A34FA1AD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9F1BD-1CF2-3ACF-4853-40F42E5D6D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56FA53-FC57-2D6B-9A67-426221F2F5BD}"/>
              </a:ext>
            </a:extLst>
          </p:cNvPr>
          <p:cNvSpPr>
            <a:spLocks noGrp="1"/>
          </p:cNvSpPr>
          <p:nvPr>
            <p:ph type="sldNum" sz="quarter" idx="5"/>
          </p:nvPr>
        </p:nvSpPr>
        <p:spPr/>
        <p:txBody>
          <a:bodyPr/>
          <a:lstStyle/>
          <a:p>
            <a:fld id="{8FA9E90D-8FD9-4946-B96D-09C040477199}" type="slidenum">
              <a:rPr lang="en-US" smtClean="0"/>
              <a:t>8</a:t>
            </a:fld>
            <a:endParaRPr lang="en-US"/>
          </a:p>
        </p:txBody>
      </p:sp>
    </p:spTree>
    <p:extLst>
      <p:ext uri="{BB962C8B-B14F-4D97-AF65-F5344CB8AC3E}">
        <p14:creationId xmlns:p14="http://schemas.microsoft.com/office/powerpoint/2010/main" val="1055969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8D105-40F1-E3A5-BF4A-75A932456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41787-607A-FCBE-F2C6-4CD06DEA9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9C964-AF2A-F247-8425-7613382142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2E002-EC2E-0B07-66A3-06ACAC757804}"/>
              </a:ext>
            </a:extLst>
          </p:cNvPr>
          <p:cNvSpPr>
            <a:spLocks noGrp="1"/>
          </p:cNvSpPr>
          <p:nvPr>
            <p:ph type="sldNum" sz="quarter" idx="5"/>
          </p:nvPr>
        </p:nvSpPr>
        <p:spPr/>
        <p:txBody>
          <a:bodyPr/>
          <a:lstStyle/>
          <a:p>
            <a:fld id="{8FA9E90D-8FD9-4946-B96D-09C040477199}" type="slidenum">
              <a:rPr lang="en-US" smtClean="0"/>
              <a:t>9</a:t>
            </a:fld>
            <a:endParaRPr lang="en-US"/>
          </a:p>
        </p:txBody>
      </p:sp>
    </p:spTree>
    <p:extLst>
      <p:ext uri="{BB962C8B-B14F-4D97-AF65-F5344CB8AC3E}">
        <p14:creationId xmlns:p14="http://schemas.microsoft.com/office/powerpoint/2010/main" val="2456424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A985E-0A81-CA1C-FE0F-E18462D84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B9EA9-1649-B91F-1081-6F6CAB00D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E91EA-5B2D-F723-9150-635992B183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D5D12F-81E7-609D-832A-8A1BFCBDC58D}"/>
              </a:ext>
            </a:extLst>
          </p:cNvPr>
          <p:cNvSpPr>
            <a:spLocks noGrp="1"/>
          </p:cNvSpPr>
          <p:nvPr>
            <p:ph type="sldNum" sz="quarter" idx="5"/>
          </p:nvPr>
        </p:nvSpPr>
        <p:spPr/>
        <p:txBody>
          <a:bodyPr/>
          <a:lstStyle/>
          <a:p>
            <a:fld id="{8FA9E90D-8FD9-4946-B96D-09C040477199}" type="slidenum">
              <a:rPr lang="en-US" smtClean="0"/>
              <a:t>10</a:t>
            </a:fld>
            <a:endParaRPr lang="en-US"/>
          </a:p>
        </p:txBody>
      </p:sp>
    </p:spTree>
    <p:extLst>
      <p:ext uri="{BB962C8B-B14F-4D97-AF65-F5344CB8AC3E}">
        <p14:creationId xmlns:p14="http://schemas.microsoft.com/office/powerpoint/2010/main" val="4185572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AE602-BB3F-A96A-33EA-82043A973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2CE94-0232-D638-568C-6A0D05015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F143D-339E-472E-3A0E-056E9235DB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A29EA4-CDE9-7261-CE0F-14674FCBA818}"/>
              </a:ext>
            </a:extLst>
          </p:cNvPr>
          <p:cNvSpPr>
            <a:spLocks noGrp="1"/>
          </p:cNvSpPr>
          <p:nvPr>
            <p:ph type="sldNum" sz="quarter" idx="5"/>
          </p:nvPr>
        </p:nvSpPr>
        <p:spPr/>
        <p:txBody>
          <a:bodyPr/>
          <a:lstStyle/>
          <a:p>
            <a:fld id="{8FA9E90D-8FD9-4946-B96D-09C040477199}" type="slidenum">
              <a:rPr lang="en-US" smtClean="0"/>
              <a:t>11</a:t>
            </a:fld>
            <a:endParaRPr lang="en-US"/>
          </a:p>
        </p:txBody>
      </p:sp>
    </p:spTree>
    <p:extLst>
      <p:ext uri="{BB962C8B-B14F-4D97-AF65-F5344CB8AC3E}">
        <p14:creationId xmlns:p14="http://schemas.microsoft.com/office/powerpoint/2010/main" val="2772183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93CE-3F7C-21C1-B80B-5B2CD1FF2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0FC4E-849B-A8F2-ABB0-CA60091462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3081F-4AA1-B5D8-314F-4A818BE66B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89BC46-FB73-ED95-B1B2-B3B1055ACEF3}"/>
              </a:ext>
            </a:extLst>
          </p:cNvPr>
          <p:cNvSpPr>
            <a:spLocks noGrp="1"/>
          </p:cNvSpPr>
          <p:nvPr>
            <p:ph type="sldNum" sz="quarter" idx="5"/>
          </p:nvPr>
        </p:nvSpPr>
        <p:spPr/>
        <p:txBody>
          <a:bodyPr/>
          <a:lstStyle/>
          <a:p>
            <a:fld id="{8FA9E90D-8FD9-4946-B96D-09C040477199}" type="slidenum">
              <a:rPr lang="en-US" smtClean="0"/>
              <a:t>12</a:t>
            </a:fld>
            <a:endParaRPr lang="en-US"/>
          </a:p>
        </p:txBody>
      </p:sp>
    </p:spTree>
    <p:extLst>
      <p:ext uri="{BB962C8B-B14F-4D97-AF65-F5344CB8AC3E}">
        <p14:creationId xmlns:p14="http://schemas.microsoft.com/office/powerpoint/2010/main" val="970151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9E80-1977-6C99-C43D-5F686FF914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F0FD7D3-71E0-244C-5A87-4CA3D6D8E4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FC0E76D-0DC5-5FD6-8B65-042596DB7E81}"/>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AB325CCB-BC62-F998-F24E-675900514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BF7B5-683F-B2E9-B465-10EFF62A36CB}"/>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334833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A082-8F08-EB1D-5EB4-F5EAF11D7F1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2F18A3-BF56-E91F-807C-71C5103A308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B5ABFB-EC66-6E52-7D42-9EC03257BA6A}"/>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74FFA7F5-7C8F-CF38-6EFD-B28D793B05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47396-E15C-FB49-75FE-C1F1C23094F3}"/>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124962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7FDD2-82D5-DA37-31CF-F1E250A9700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510ECFE-39CD-7CDD-2B83-0E095DB7CF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B67CD76-E0E4-2722-B85F-77F2B0C9B9C1}"/>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0AFBB3D7-DFB7-B2FC-B079-4530EEEF3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F2105-0728-3C9E-D9F4-31F3BEF0F004}"/>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4045885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1E3B-3AC6-1D95-A966-DDCC88F385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3D4C4A1-09F7-406F-5E55-60DF1D931C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5718D4B-7895-C5A4-D27A-98F3C3B5CD0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288189C-80BE-F39C-ACBC-B0DF3F79C96D}"/>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6" name="Footer Placeholder 5">
            <a:extLst>
              <a:ext uri="{FF2B5EF4-FFF2-40B4-BE49-F238E27FC236}">
                <a16:creationId xmlns:a16="http://schemas.microsoft.com/office/drawing/2014/main" id="{E88CF972-9739-5D7F-41BA-DE98401E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205AFA-F5A1-BE33-41A3-245AF98F561D}"/>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52338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B54EF-C273-4894-DEA5-5A9A51C401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5A673A-0DB2-04AE-00C3-AD9006285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57DB821-42BB-0DD0-EE06-8AAC41B163D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3E13A62-1461-7554-2570-706CA77D2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32B9494-E770-2C44-15B4-FBB7DAB3C7E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6356FB8-F46B-A865-2F8D-CA10BB8963EA}"/>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8" name="Footer Placeholder 7">
            <a:extLst>
              <a:ext uri="{FF2B5EF4-FFF2-40B4-BE49-F238E27FC236}">
                <a16:creationId xmlns:a16="http://schemas.microsoft.com/office/drawing/2014/main" id="{C940750C-8FC8-13E3-DD8D-A2A15BEC11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C8D531-DB47-07A3-B518-202E67201E06}"/>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98423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22CF-6E43-6420-4D87-B123FDCB177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6228B08-0D63-128E-B2EB-4E51C39C00B7}"/>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4" name="Footer Placeholder 3">
            <a:extLst>
              <a:ext uri="{FF2B5EF4-FFF2-40B4-BE49-F238E27FC236}">
                <a16:creationId xmlns:a16="http://schemas.microsoft.com/office/drawing/2014/main" id="{D681D015-5ADA-5CA8-D045-4928FAE339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822889-E5FF-E5C1-E3E0-5AF25B8562EC}"/>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3170561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498EE-0458-C814-6A59-D0CEA45683FC}"/>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3" name="Footer Placeholder 2">
            <a:extLst>
              <a:ext uri="{FF2B5EF4-FFF2-40B4-BE49-F238E27FC236}">
                <a16:creationId xmlns:a16="http://schemas.microsoft.com/office/drawing/2014/main" id="{B5699398-B14E-A031-AF4E-7616EDF372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63B13E-23ED-C44E-18A9-C65B0C37348E}"/>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289612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70F1F-CC0E-75A2-15B3-54572B3E5F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777C1FA-5BB3-4A86-F71B-3311F5BE17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9DDF7F5-DADD-287A-2A2E-81AFFD080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67A101-913C-BE32-A905-85493F66E3E8}"/>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6" name="Footer Placeholder 5">
            <a:extLst>
              <a:ext uri="{FF2B5EF4-FFF2-40B4-BE49-F238E27FC236}">
                <a16:creationId xmlns:a16="http://schemas.microsoft.com/office/drawing/2014/main" id="{661BBF5A-F04C-FC37-0A46-BBB825235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680A3B-BC95-8D2C-B203-D1D55D089B32}"/>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2069843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E0D23-D64B-3852-C634-FB02DAFD07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DC1E509-F167-66AC-60B8-7D768BBF83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0AF27C-9CE8-61C7-BA7A-37C12E780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F9F257-B08C-C4CA-8D2A-5BBAE93A5479}"/>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6" name="Footer Placeholder 5">
            <a:extLst>
              <a:ext uri="{FF2B5EF4-FFF2-40B4-BE49-F238E27FC236}">
                <a16:creationId xmlns:a16="http://schemas.microsoft.com/office/drawing/2014/main" id="{2459D1EF-B0AB-A11B-9E58-3B5C21503B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6F1243-87C3-1944-3822-A221D65AF901}"/>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2183826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F6D-913D-60B3-56CD-B92375F9D58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02E8E39-A48A-A543-9868-BD0160DE3DC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D5B3119-C5D3-6D0F-948A-5C39EE9F615B}"/>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6776750C-0600-F45A-5A99-9F6C37ACD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4C51A-EDB6-EA9E-3E33-ED95354F74E5}"/>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2789124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2D6E13-CE0A-A9CA-FB97-9C8C9801C36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61D511C-C2B2-6F23-1627-57BE49572C2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E6956AC-F6F5-41D3-8BBC-D51308AFD26D}"/>
              </a:ext>
            </a:extLst>
          </p:cNvPr>
          <p:cNvSpPr>
            <a:spLocks noGrp="1"/>
          </p:cNvSpPr>
          <p:nvPr>
            <p:ph type="dt" sz="half" idx="10"/>
          </p:nvPr>
        </p:nvSpPr>
        <p:spPr/>
        <p:txBody>
          <a:body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F7F84579-A842-479A-A15D-D23713A27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0E89E-A9B3-FFAC-5481-EDA6CF937CDB}"/>
              </a:ext>
            </a:extLst>
          </p:cNvPr>
          <p:cNvSpPr>
            <a:spLocks noGrp="1"/>
          </p:cNvSpPr>
          <p:nvPr>
            <p:ph type="sldNum" sz="quarter" idx="12"/>
          </p:nvPr>
        </p:nvSpPr>
        <p:spPr/>
        <p:txBody>
          <a:bodyPr/>
          <a:lstStyle/>
          <a:p>
            <a:fld id="{FA05F46D-7F92-0942-83CC-8C4F0EACEE1B}" type="slidenum">
              <a:rPr lang="en-US" smtClean="0"/>
              <a:t>‹#›</a:t>
            </a:fld>
            <a:endParaRPr lang="en-US"/>
          </a:p>
        </p:txBody>
      </p:sp>
    </p:spTree>
    <p:extLst>
      <p:ext uri="{BB962C8B-B14F-4D97-AF65-F5344CB8AC3E}">
        <p14:creationId xmlns:p14="http://schemas.microsoft.com/office/powerpoint/2010/main" val="4139569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2D1734-A7F1-C3B9-AAC7-7AD0AA8F6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CBBD48E-3F3A-A1EF-5E2C-AE392D8F1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48B160-59B0-645C-F49B-C7989CAB88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554AB3-FD2C-484A-88CE-2EEEC0C7C8A1}" type="datetimeFigureOut">
              <a:rPr lang="en-US" smtClean="0"/>
              <a:t>12/10/25</a:t>
            </a:fld>
            <a:endParaRPr lang="en-US"/>
          </a:p>
        </p:txBody>
      </p:sp>
      <p:sp>
        <p:nvSpPr>
          <p:cNvPr id="5" name="Footer Placeholder 4">
            <a:extLst>
              <a:ext uri="{FF2B5EF4-FFF2-40B4-BE49-F238E27FC236}">
                <a16:creationId xmlns:a16="http://schemas.microsoft.com/office/drawing/2014/main" id="{640A4E3C-B3A9-9BC3-7531-C502EBF50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CE6A9F-BE38-E982-7C41-E020DBE9F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05F46D-7F92-0942-83CC-8C4F0EACEE1B}" type="slidenum">
              <a:rPr lang="en-US" smtClean="0"/>
              <a:t>‹#›</a:t>
            </a:fld>
            <a:endParaRPr lang="en-US"/>
          </a:p>
        </p:txBody>
      </p:sp>
    </p:spTree>
    <p:extLst>
      <p:ext uri="{BB962C8B-B14F-4D97-AF65-F5344CB8AC3E}">
        <p14:creationId xmlns:p14="http://schemas.microsoft.com/office/powerpoint/2010/main" val="189688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74A477-F98E-6B15-D1D7-4F4F4EE7B342}"/>
              </a:ext>
            </a:extLst>
          </p:cNvPr>
          <p:cNvPicPr>
            <a:picLocks noChangeAspect="1"/>
          </p:cNvPicPr>
          <p:nvPr/>
        </p:nvPicPr>
        <p:blipFill rotWithShape="1">
          <a:blip r:embed="rId2">
            <a:alphaModFix amt="94000"/>
            <a:extLst>
              <a:ext uri="{BEBA8EAE-BF5A-486C-A8C5-ECC9F3942E4B}">
                <a14:imgProps xmlns:a14="http://schemas.microsoft.com/office/drawing/2010/main">
                  <a14:imgLayer r:embed="rId3">
                    <a14:imgEffect>
                      <a14:sharpenSoften amount="-100000"/>
                    </a14:imgEffect>
                    <a14:imgEffect>
                      <a14:brightnessContrast bright="-15000" contrast="-31000"/>
                    </a14:imgEffect>
                  </a14:imgLayer>
                </a14:imgProps>
              </a:ext>
            </a:extLst>
          </a:blip>
          <a:srcRect t="7707" b="7707"/>
          <a:stretch>
            <a:fillRect/>
          </a:stretch>
        </p:blipFill>
        <p:spPr>
          <a:xfrm>
            <a:off x="-1" y="-1"/>
            <a:ext cx="12192000" cy="6858000"/>
          </a:xfrm>
          <a:prstGeom prst="rect">
            <a:avLst/>
          </a:prstGeom>
          <a:effectLst>
            <a:outerShdw blurRad="262008" sx="1000" sy="1000" algn="ctr" rotWithShape="0">
              <a:srgbClr val="000000"/>
            </a:outerShdw>
          </a:effectLst>
        </p:spPr>
      </p:pic>
      <p:sp>
        <p:nvSpPr>
          <p:cNvPr id="10" name="Freeform 9">
            <a:extLst>
              <a:ext uri="{FF2B5EF4-FFF2-40B4-BE49-F238E27FC236}">
                <a16:creationId xmlns:a16="http://schemas.microsoft.com/office/drawing/2014/main" id="{1BAF1F08-7E22-D87D-91D6-9A2EE4B5E080}"/>
              </a:ext>
            </a:extLst>
          </p:cNvPr>
          <p:cNvSpPr/>
          <p:nvPr/>
        </p:nvSpPr>
        <p:spPr>
          <a:xfrm>
            <a:off x="1146460" y="1"/>
            <a:ext cx="10656657" cy="6857999"/>
          </a:xfrm>
          <a:custGeom>
            <a:avLst/>
            <a:gdLst/>
            <a:ahLst/>
            <a:cxnLst/>
            <a:rect l="l" t="t" r="r" b="b"/>
            <a:pathLst>
              <a:path w="10656657" h="6857999">
                <a:moveTo>
                  <a:pt x="2123380" y="3487264"/>
                </a:moveTo>
                <a:lnTo>
                  <a:pt x="2123380" y="3605489"/>
                </a:lnTo>
                <a:lnTo>
                  <a:pt x="2147840" y="3605489"/>
                </a:lnTo>
                <a:cubicBezTo>
                  <a:pt x="2199479" y="3605489"/>
                  <a:pt x="2225298" y="3585785"/>
                  <a:pt x="2225298" y="3546377"/>
                </a:cubicBezTo>
                <a:cubicBezTo>
                  <a:pt x="2225298" y="3506968"/>
                  <a:pt x="2199479" y="3487264"/>
                  <a:pt x="2147840" y="3487264"/>
                </a:cubicBezTo>
                <a:close/>
                <a:moveTo>
                  <a:pt x="904180" y="3487264"/>
                </a:moveTo>
                <a:lnTo>
                  <a:pt x="904180" y="3605489"/>
                </a:lnTo>
                <a:lnTo>
                  <a:pt x="928640" y="3605489"/>
                </a:lnTo>
                <a:cubicBezTo>
                  <a:pt x="980278" y="3605489"/>
                  <a:pt x="1006098" y="3585785"/>
                  <a:pt x="1006098" y="3546377"/>
                </a:cubicBezTo>
                <a:cubicBezTo>
                  <a:pt x="1006098" y="3506968"/>
                  <a:pt x="980278" y="3487264"/>
                  <a:pt x="928640" y="3487264"/>
                </a:cubicBezTo>
                <a:close/>
                <a:moveTo>
                  <a:pt x="6435386" y="3435286"/>
                </a:moveTo>
                <a:lnTo>
                  <a:pt x="6481248" y="3554530"/>
                </a:lnTo>
                <a:lnTo>
                  <a:pt x="6389523" y="3554530"/>
                </a:lnTo>
                <a:close/>
                <a:moveTo>
                  <a:pt x="339386" y="3435286"/>
                </a:moveTo>
                <a:lnTo>
                  <a:pt x="293523" y="3554530"/>
                </a:lnTo>
                <a:lnTo>
                  <a:pt x="385249" y="3554530"/>
                </a:lnTo>
                <a:close/>
                <a:moveTo>
                  <a:pt x="8426539" y="3269161"/>
                </a:moveTo>
                <a:lnTo>
                  <a:pt x="8437750" y="3269161"/>
                </a:lnTo>
                <a:cubicBezTo>
                  <a:pt x="8463569" y="3269161"/>
                  <a:pt x="8485481" y="3274936"/>
                  <a:pt x="8503486" y="3286487"/>
                </a:cubicBezTo>
                <a:cubicBezTo>
                  <a:pt x="8521492" y="3298038"/>
                  <a:pt x="8530495" y="3317402"/>
                  <a:pt x="8530495" y="3344580"/>
                </a:cubicBezTo>
                <a:cubicBezTo>
                  <a:pt x="8530495" y="3371758"/>
                  <a:pt x="8521492" y="3391122"/>
                  <a:pt x="8503486" y="3402673"/>
                </a:cubicBezTo>
                <a:cubicBezTo>
                  <a:pt x="8485481" y="3414224"/>
                  <a:pt x="8463569" y="3419999"/>
                  <a:pt x="8437750" y="3419999"/>
                </a:cubicBezTo>
                <a:lnTo>
                  <a:pt x="8426539" y="3419999"/>
                </a:lnTo>
                <a:close/>
                <a:moveTo>
                  <a:pt x="5788114" y="3269161"/>
                </a:moveTo>
                <a:lnTo>
                  <a:pt x="5797287" y="3269161"/>
                </a:lnTo>
                <a:cubicBezTo>
                  <a:pt x="5825824" y="3269161"/>
                  <a:pt x="5846377" y="3275786"/>
                  <a:pt x="5858947" y="3289035"/>
                </a:cubicBezTo>
                <a:cubicBezTo>
                  <a:pt x="5871517" y="3302284"/>
                  <a:pt x="5877802" y="3320799"/>
                  <a:pt x="5877802" y="3344580"/>
                </a:cubicBezTo>
                <a:cubicBezTo>
                  <a:pt x="5877802" y="3368361"/>
                  <a:pt x="5871517" y="3386876"/>
                  <a:pt x="5858947" y="3400125"/>
                </a:cubicBezTo>
                <a:cubicBezTo>
                  <a:pt x="5846377" y="3413374"/>
                  <a:pt x="5825824" y="3419999"/>
                  <a:pt x="5797287" y="3419999"/>
                </a:cubicBezTo>
                <a:lnTo>
                  <a:pt x="5788114" y="3419999"/>
                </a:lnTo>
                <a:close/>
                <a:moveTo>
                  <a:pt x="2123380" y="3245720"/>
                </a:moveTo>
                <a:lnTo>
                  <a:pt x="2123380" y="3339484"/>
                </a:lnTo>
                <a:lnTo>
                  <a:pt x="2147840" y="3339484"/>
                </a:lnTo>
                <a:cubicBezTo>
                  <a:pt x="2181813" y="3339484"/>
                  <a:pt x="2198799" y="3323857"/>
                  <a:pt x="2198799" y="3292602"/>
                </a:cubicBezTo>
                <a:cubicBezTo>
                  <a:pt x="2198799" y="3261348"/>
                  <a:pt x="2181813" y="3245720"/>
                  <a:pt x="2147840" y="3245720"/>
                </a:cubicBezTo>
                <a:close/>
                <a:moveTo>
                  <a:pt x="904180" y="3245720"/>
                </a:moveTo>
                <a:lnTo>
                  <a:pt x="904180" y="3339484"/>
                </a:lnTo>
                <a:lnTo>
                  <a:pt x="928640" y="3339484"/>
                </a:lnTo>
                <a:cubicBezTo>
                  <a:pt x="962613" y="3339484"/>
                  <a:pt x="979599" y="3323857"/>
                  <a:pt x="979599" y="3292602"/>
                </a:cubicBezTo>
                <a:cubicBezTo>
                  <a:pt x="979599" y="3261348"/>
                  <a:pt x="962613" y="3245720"/>
                  <a:pt x="928640" y="3245720"/>
                </a:cubicBezTo>
                <a:close/>
                <a:moveTo>
                  <a:pt x="8800004" y="3085709"/>
                </a:moveTo>
                <a:lnTo>
                  <a:pt x="8800004" y="3765499"/>
                </a:lnTo>
                <a:lnTo>
                  <a:pt x="9013012" y="3765499"/>
                </a:lnTo>
                <a:lnTo>
                  <a:pt x="9013012" y="3504590"/>
                </a:lnTo>
                <a:lnTo>
                  <a:pt x="9199521" y="3765499"/>
                </a:lnTo>
                <a:lnTo>
                  <a:pt x="9378896" y="3765499"/>
                </a:lnTo>
                <a:lnTo>
                  <a:pt x="9378896" y="3085709"/>
                </a:lnTo>
                <a:lnTo>
                  <a:pt x="9165888" y="3085709"/>
                </a:lnTo>
                <a:lnTo>
                  <a:pt x="9165888" y="3347637"/>
                </a:lnTo>
                <a:lnTo>
                  <a:pt x="8978360" y="3085709"/>
                </a:lnTo>
                <a:close/>
                <a:moveTo>
                  <a:pt x="8209454" y="3085709"/>
                </a:moveTo>
                <a:lnTo>
                  <a:pt x="8209454" y="3765499"/>
                </a:lnTo>
                <a:lnTo>
                  <a:pt x="8426539" y="3765499"/>
                </a:lnTo>
                <a:lnTo>
                  <a:pt x="8426539" y="3593259"/>
                </a:lnTo>
                <a:lnTo>
                  <a:pt x="8528456" y="3765499"/>
                </a:lnTo>
                <a:lnTo>
                  <a:pt x="8783250" y="3765499"/>
                </a:lnTo>
                <a:lnTo>
                  <a:pt x="8655853" y="3541281"/>
                </a:lnTo>
                <a:cubicBezTo>
                  <a:pt x="8672839" y="3529051"/>
                  <a:pt x="8688127" y="3514103"/>
                  <a:pt x="8701716" y="3496437"/>
                </a:cubicBezTo>
                <a:cubicBezTo>
                  <a:pt x="8713266" y="3480810"/>
                  <a:pt x="8723798" y="3461106"/>
                  <a:pt x="8733310" y="3437325"/>
                </a:cubicBezTo>
                <a:cubicBezTo>
                  <a:pt x="8742822" y="3413544"/>
                  <a:pt x="8747579" y="3384667"/>
                  <a:pt x="8747579" y="3350695"/>
                </a:cubicBezTo>
                <a:cubicBezTo>
                  <a:pt x="8747579" y="3307890"/>
                  <a:pt x="8739935" y="3270010"/>
                  <a:pt x="8724647" y="3237057"/>
                </a:cubicBezTo>
                <a:cubicBezTo>
                  <a:pt x="8709360" y="3204104"/>
                  <a:pt x="8688127" y="3176416"/>
                  <a:pt x="8660949" y="3153994"/>
                </a:cubicBezTo>
                <a:cubicBezTo>
                  <a:pt x="8633771" y="3131572"/>
                  <a:pt x="8601667" y="3114586"/>
                  <a:pt x="8564637" y="3103036"/>
                </a:cubicBezTo>
                <a:cubicBezTo>
                  <a:pt x="8527607" y="3091485"/>
                  <a:pt x="8487350" y="3085709"/>
                  <a:pt x="8443864" y="3085709"/>
                </a:cubicBezTo>
                <a:close/>
                <a:moveTo>
                  <a:pt x="7742730" y="3085709"/>
                </a:moveTo>
                <a:lnTo>
                  <a:pt x="7742730" y="3765499"/>
                </a:lnTo>
                <a:lnTo>
                  <a:pt x="8150400" y="3765499"/>
                </a:lnTo>
                <a:lnTo>
                  <a:pt x="8150400" y="3587144"/>
                </a:lnTo>
                <a:lnTo>
                  <a:pt x="7959814" y="3587144"/>
                </a:lnTo>
                <a:lnTo>
                  <a:pt x="7959814" y="3508667"/>
                </a:lnTo>
                <a:lnTo>
                  <a:pt x="8140208" y="3508667"/>
                </a:lnTo>
                <a:lnTo>
                  <a:pt x="8140208" y="3339484"/>
                </a:lnTo>
                <a:lnTo>
                  <a:pt x="7959814" y="3339484"/>
                </a:lnTo>
                <a:lnTo>
                  <a:pt x="7959814" y="3264065"/>
                </a:lnTo>
                <a:lnTo>
                  <a:pt x="8143266" y="3264065"/>
                </a:lnTo>
                <a:lnTo>
                  <a:pt x="8143266" y="3085709"/>
                </a:lnTo>
                <a:close/>
                <a:moveTo>
                  <a:pt x="7230809" y="3085709"/>
                </a:moveTo>
                <a:lnTo>
                  <a:pt x="7230809" y="3264065"/>
                </a:lnTo>
                <a:lnTo>
                  <a:pt x="7356167" y="3264065"/>
                </a:lnTo>
                <a:lnTo>
                  <a:pt x="7356167" y="3765499"/>
                </a:lnTo>
                <a:lnTo>
                  <a:pt x="7580386" y="3765499"/>
                </a:lnTo>
                <a:lnTo>
                  <a:pt x="7580386" y="3264065"/>
                </a:lnTo>
                <a:lnTo>
                  <a:pt x="7705744" y="3264065"/>
                </a:lnTo>
                <a:lnTo>
                  <a:pt x="7705744" y="3085709"/>
                </a:lnTo>
                <a:close/>
                <a:moveTo>
                  <a:pt x="6754559" y="3085709"/>
                </a:moveTo>
                <a:lnTo>
                  <a:pt x="6754559" y="3264065"/>
                </a:lnTo>
                <a:lnTo>
                  <a:pt x="6879917" y="3264065"/>
                </a:lnTo>
                <a:lnTo>
                  <a:pt x="6879917" y="3765499"/>
                </a:lnTo>
                <a:lnTo>
                  <a:pt x="7104136" y="3765499"/>
                </a:lnTo>
                <a:lnTo>
                  <a:pt x="7104136" y="3264065"/>
                </a:lnTo>
                <a:lnTo>
                  <a:pt x="7229494" y="3264065"/>
                </a:lnTo>
                <a:lnTo>
                  <a:pt x="7229494" y="3085709"/>
                </a:lnTo>
                <a:close/>
                <a:moveTo>
                  <a:pt x="6353852" y="3085709"/>
                </a:moveTo>
                <a:lnTo>
                  <a:pt x="6096000" y="3765499"/>
                </a:lnTo>
                <a:lnTo>
                  <a:pt x="6310027" y="3765499"/>
                </a:lnTo>
                <a:lnTo>
                  <a:pt x="6332449" y="3704349"/>
                </a:lnTo>
                <a:lnTo>
                  <a:pt x="6538322" y="3704349"/>
                </a:lnTo>
                <a:lnTo>
                  <a:pt x="6560744" y="3765499"/>
                </a:lnTo>
                <a:lnTo>
                  <a:pt x="6774771" y="3765499"/>
                </a:lnTo>
                <a:lnTo>
                  <a:pt x="6516920" y="3085709"/>
                </a:lnTo>
                <a:close/>
                <a:moveTo>
                  <a:pt x="5571030" y="3085709"/>
                </a:moveTo>
                <a:lnTo>
                  <a:pt x="5571030" y="3765499"/>
                </a:lnTo>
                <a:lnTo>
                  <a:pt x="5788114" y="3765499"/>
                </a:lnTo>
                <a:lnTo>
                  <a:pt x="5788114" y="3603450"/>
                </a:lnTo>
                <a:cubicBezTo>
                  <a:pt x="5831599" y="3603450"/>
                  <a:pt x="5872196" y="3598694"/>
                  <a:pt x="5909905" y="3589182"/>
                </a:cubicBezTo>
                <a:cubicBezTo>
                  <a:pt x="5947615" y="3579670"/>
                  <a:pt x="5980569" y="3564722"/>
                  <a:pt x="6008766" y="3544338"/>
                </a:cubicBezTo>
                <a:cubicBezTo>
                  <a:pt x="6036963" y="3523955"/>
                  <a:pt x="6059215" y="3497286"/>
                  <a:pt x="6075522" y="3464333"/>
                </a:cubicBezTo>
                <a:cubicBezTo>
                  <a:pt x="6091828" y="3431380"/>
                  <a:pt x="6099982" y="3391462"/>
                  <a:pt x="6099982" y="3344580"/>
                </a:cubicBezTo>
                <a:cubicBezTo>
                  <a:pt x="6099982" y="3297698"/>
                  <a:pt x="6091828" y="3257780"/>
                  <a:pt x="6075522" y="3224827"/>
                </a:cubicBezTo>
                <a:cubicBezTo>
                  <a:pt x="6059215" y="3191874"/>
                  <a:pt x="6036963" y="3165205"/>
                  <a:pt x="6008766" y="3144822"/>
                </a:cubicBezTo>
                <a:cubicBezTo>
                  <a:pt x="5980569" y="3124438"/>
                  <a:pt x="5947615" y="3109490"/>
                  <a:pt x="5909905" y="3099978"/>
                </a:cubicBezTo>
                <a:cubicBezTo>
                  <a:pt x="5872196" y="3090466"/>
                  <a:pt x="5831599" y="3085709"/>
                  <a:pt x="5788114" y="3085709"/>
                </a:cubicBezTo>
                <a:close/>
                <a:moveTo>
                  <a:pt x="4018454" y="3085709"/>
                </a:moveTo>
                <a:lnTo>
                  <a:pt x="4196810" y="3085709"/>
                </a:lnTo>
                <a:lnTo>
                  <a:pt x="4384338" y="3347637"/>
                </a:lnTo>
                <a:lnTo>
                  <a:pt x="4384338" y="3085709"/>
                </a:lnTo>
                <a:lnTo>
                  <a:pt x="4597346" y="3085709"/>
                </a:lnTo>
                <a:lnTo>
                  <a:pt x="4597346" y="3765499"/>
                </a:lnTo>
                <a:lnTo>
                  <a:pt x="4417971" y="3765499"/>
                </a:lnTo>
                <a:lnTo>
                  <a:pt x="4231462" y="3504590"/>
                </a:lnTo>
                <a:lnTo>
                  <a:pt x="4231462" y="3765499"/>
                </a:lnTo>
                <a:lnTo>
                  <a:pt x="4018454" y="3765499"/>
                </a:lnTo>
                <a:close/>
                <a:moveTo>
                  <a:pt x="3713654" y="3085709"/>
                </a:moveTo>
                <a:lnTo>
                  <a:pt x="3943988" y="3085709"/>
                </a:lnTo>
                <a:lnTo>
                  <a:pt x="3943988" y="3765499"/>
                </a:lnTo>
                <a:lnTo>
                  <a:pt x="3713654" y="3765499"/>
                </a:lnTo>
                <a:close/>
                <a:moveTo>
                  <a:pt x="3057525" y="3085709"/>
                </a:moveTo>
                <a:lnTo>
                  <a:pt x="3299069" y="3085709"/>
                </a:lnTo>
                <a:lnTo>
                  <a:pt x="3377546" y="3229413"/>
                </a:lnTo>
                <a:lnTo>
                  <a:pt x="3455003" y="3085709"/>
                </a:lnTo>
                <a:lnTo>
                  <a:pt x="3696547" y="3085709"/>
                </a:lnTo>
                <a:lnTo>
                  <a:pt x="3485578" y="3472996"/>
                </a:lnTo>
                <a:lnTo>
                  <a:pt x="3485578" y="3765499"/>
                </a:lnTo>
                <a:lnTo>
                  <a:pt x="3268494" y="3765499"/>
                </a:lnTo>
                <a:lnTo>
                  <a:pt x="3268494" y="3472996"/>
                </a:lnTo>
                <a:close/>
                <a:moveTo>
                  <a:pt x="2481872" y="3085709"/>
                </a:moveTo>
                <a:lnTo>
                  <a:pt x="2698957" y="3085709"/>
                </a:lnTo>
                <a:lnTo>
                  <a:pt x="2698957" y="3508667"/>
                </a:lnTo>
                <a:cubicBezTo>
                  <a:pt x="2698957" y="3532448"/>
                  <a:pt x="2703883" y="3550623"/>
                  <a:pt x="2713734" y="3563193"/>
                </a:cubicBezTo>
                <a:cubicBezTo>
                  <a:pt x="2723587" y="3575763"/>
                  <a:pt x="2740064" y="3582048"/>
                  <a:pt x="2763164" y="3582048"/>
                </a:cubicBezTo>
                <a:cubicBezTo>
                  <a:pt x="2786266" y="3582048"/>
                  <a:pt x="2802742" y="3575763"/>
                  <a:pt x="2812595" y="3563193"/>
                </a:cubicBezTo>
                <a:cubicBezTo>
                  <a:pt x="2822447" y="3550623"/>
                  <a:pt x="2827373" y="3532448"/>
                  <a:pt x="2827373" y="3508667"/>
                </a:cubicBezTo>
                <a:lnTo>
                  <a:pt x="2827373" y="3085709"/>
                </a:lnTo>
                <a:lnTo>
                  <a:pt x="3045476" y="3085709"/>
                </a:lnTo>
                <a:lnTo>
                  <a:pt x="3045476" y="3517840"/>
                </a:lnTo>
                <a:cubicBezTo>
                  <a:pt x="3045476" y="3562683"/>
                  <a:pt x="3038851" y="3601752"/>
                  <a:pt x="3025602" y="3635045"/>
                </a:cubicBezTo>
                <a:cubicBezTo>
                  <a:pt x="3012353" y="3668338"/>
                  <a:pt x="2993328" y="3695856"/>
                  <a:pt x="2968528" y="3717598"/>
                </a:cubicBezTo>
                <a:cubicBezTo>
                  <a:pt x="2943728" y="3739340"/>
                  <a:pt x="2914002" y="3755647"/>
                  <a:pt x="2879351" y="3766518"/>
                </a:cubicBezTo>
                <a:cubicBezTo>
                  <a:pt x="2844699" y="3777390"/>
                  <a:pt x="2805970" y="3782825"/>
                  <a:pt x="2763164" y="3782825"/>
                </a:cubicBezTo>
                <a:cubicBezTo>
                  <a:pt x="2720360" y="3782825"/>
                  <a:pt x="2681631" y="3777390"/>
                  <a:pt x="2646979" y="3766518"/>
                </a:cubicBezTo>
                <a:cubicBezTo>
                  <a:pt x="2612327" y="3755647"/>
                  <a:pt x="2582771" y="3739340"/>
                  <a:pt x="2558310" y="3717598"/>
                </a:cubicBezTo>
                <a:cubicBezTo>
                  <a:pt x="2533850" y="3695856"/>
                  <a:pt x="2514995" y="3668338"/>
                  <a:pt x="2501746" y="3635045"/>
                </a:cubicBezTo>
                <a:cubicBezTo>
                  <a:pt x="2488497" y="3601752"/>
                  <a:pt x="2481872" y="3562683"/>
                  <a:pt x="2481872" y="3517840"/>
                </a:cubicBezTo>
                <a:close/>
                <a:moveTo>
                  <a:pt x="1913430" y="3085709"/>
                </a:moveTo>
                <a:lnTo>
                  <a:pt x="2179435" y="3085709"/>
                </a:lnTo>
                <a:cubicBezTo>
                  <a:pt x="2213407" y="3085709"/>
                  <a:pt x="2244492" y="3089616"/>
                  <a:pt x="2272689" y="3097430"/>
                </a:cubicBezTo>
                <a:cubicBezTo>
                  <a:pt x="2300886" y="3105244"/>
                  <a:pt x="2325007" y="3116794"/>
                  <a:pt x="2345051" y="3132082"/>
                </a:cubicBezTo>
                <a:cubicBezTo>
                  <a:pt x="2365094" y="3147370"/>
                  <a:pt x="2380722" y="3166394"/>
                  <a:pt x="2391933" y="3189156"/>
                </a:cubicBezTo>
                <a:cubicBezTo>
                  <a:pt x="2403143" y="3211917"/>
                  <a:pt x="2408749" y="3238586"/>
                  <a:pt x="2408749" y="3269161"/>
                </a:cubicBezTo>
                <a:cubicBezTo>
                  <a:pt x="2408749" y="3290904"/>
                  <a:pt x="2406032" y="3309418"/>
                  <a:pt x="2400596" y="3324706"/>
                </a:cubicBezTo>
                <a:cubicBezTo>
                  <a:pt x="2395160" y="3339994"/>
                  <a:pt x="2389385" y="3352733"/>
                  <a:pt x="2383270" y="3362925"/>
                </a:cubicBezTo>
                <a:cubicBezTo>
                  <a:pt x="2375796" y="3375155"/>
                  <a:pt x="2367303" y="3385347"/>
                  <a:pt x="2357791" y="3393500"/>
                </a:cubicBezTo>
                <a:cubicBezTo>
                  <a:pt x="2372738" y="3403013"/>
                  <a:pt x="2386328" y="3415243"/>
                  <a:pt x="2398557" y="3430191"/>
                </a:cubicBezTo>
                <a:cubicBezTo>
                  <a:pt x="2408749" y="3443100"/>
                  <a:pt x="2418091" y="3459407"/>
                  <a:pt x="2426585" y="3479111"/>
                </a:cubicBezTo>
                <a:cubicBezTo>
                  <a:pt x="2435078" y="3498815"/>
                  <a:pt x="2439324" y="3522936"/>
                  <a:pt x="2439324" y="3551472"/>
                </a:cubicBezTo>
                <a:cubicBezTo>
                  <a:pt x="2439324" y="3584086"/>
                  <a:pt x="2433549" y="3613642"/>
                  <a:pt x="2421998" y="3640141"/>
                </a:cubicBezTo>
                <a:cubicBezTo>
                  <a:pt x="2410448" y="3666639"/>
                  <a:pt x="2393971" y="3689231"/>
                  <a:pt x="2372568" y="3707916"/>
                </a:cubicBezTo>
                <a:cubicBezTo>
                  <a:pt x="2351166" y="3726601"/>
                  <a:pt x="2325007" y="3740869"/>
                  <a:pt x="2294092" y="3750721"/>
                </a:cubicBezTo>
                <a:cubicBezTo>
                  <a:pt x="2263177" y="3760573"/>
                  <a:pt x="2228695" y="3765499"/>
                  <a:pt x="2190646" y="3765499"/>
                </a:cubicBezTo>
                <a:lnTo>
                  <a:pt x="1913430" y="3765499"/>
                </a:lnTo>
                <a:close/>
                <a:moveTo>
                  <a:pt x="694230" y="3085709"/>
                </a:moveTo>
                <a:lnTo>
                  <a:pt x="960235" y="3085709"/>
                </a:lnTo>
                <a:cubicBezTo>
                  <a:pt x="994207" y="3085709"/>
                  <a:pt x="1025292" y="3089616"/>
                  <a:pt x="1053489" y="3097430"/>
                </a:cubicBezTo>
                <a:cubicBezTo>
                  <a:pt x="1081686" y="3105244"/>
                  <a:pt x="1105807" y="3116794"/>
                  <a:pt x="1125850" y="3132082"/>
                </a:cubicBezTo>
                <a:cubicBezTo>
                  <a:pt x="1145895" y="3147370"/>
                  <a:pt x="1161522" y="3166394"/>
                  <a:pt x="1172732" y="3189156"/>
                </a:cubicBezTo>
                <a:cubicBezTo>
                  <a:pt x="1183944" y="3211917"/>
                  <a:pt x="1189549" y="3238586"/>
                  <a:pt x="1189549" y="3269161"/>
                </a:cubicBezTo>
                <a:cubicBezTo>
                  <a:pt x="1189549" y="3290904"/>
                  <a:pt x="1186831" y="3309418"/>
                  <a:pt x="1181395" y="3324706"/>
                </a:cubicBezTo>
                <a:cubicBezTo>
                  <a:pt x="1175960" y="3339994"/>
                  <a:pt x="1170185" y="3352733"/>
                  <a:pt x="1164069" y="3362925"/>
                </a:cubicBezTo>
                <a:cubicBezTo>
                  <a:pt x="1156596" y="3375155"/>
                  <a:pt x="1148102" y="3385347"/>
                  <a:pt x="1138590" y="3393500"/>
                </a:cubicBezTo>
                <a:cubicBezTo>
                  <a:pt x="1153538" y="3403013"/>
                  <a:pt x="1167127" y="3415243"/>
                  <a:pt x="1179357" y="3430191"/>
                </a:cubicBezTo>
                <a:cubicBezTo>
                  <a:pt x="1189549" y="3443100"/>
                  <a:pt x="1198891" y="3459407"/>
                  <a:pt x="1207385" y="3479111"/>
                </a:cubicBezTo>
                <a:cubicBezTo>
                  <a:pt x="1215878" y="3498815"/>
                  <a:pt x="1220124" y="3522936"/>
                  <a:pt x="1220124" y="3551472"/>
                </a:cubicBezTo>
                <a:cubicBezTo>
                  <a:pt x="1220124" y="3584086"/>
                  <a:pt x="1214349" y="3613642"/>
                  <a:pt x="1202798" y="3640141"/>
                </a:cubicBezTo>
                <a:cubicBezTo>
                  <a:pt x="1191247" y="3666639"/>
                  <a:pt x="1174771" y="3689231"/>
                  <a:pt x="1153369" y="3707916"/>
                </a:cubicBezTo>
                <a:cubicBezTo>
                  <a:pt x="1131965" y="3726601"/>
                  <a:pt x="1105807" y="3740869"/>
                  <a:pt x="1074892" y="3750721"/>
                </a:cubicBezTo>
                <a:cubicBezTo>
                  <a:pt x="1043977" y="3760573"/>
                  <a:pt x="1009495" y="3765499"/>
                  <a:pt x="971445" y="3765499"/>
                </a:cubicBezTo>
                <a:lnTo>
                  <a:pt x="694230" y="3765499"/>
                </a:lnTo>
                <a:close/>
                <a:moveTo>
                  <a:pt x="257852" y="3085709"/>
                </a:moveTo>
                <a:lnTo>
                  <a:pt x="420920" y="3085709"/>
                </a:lnTo>
                <a:lnTo>
                  <a:pt x="678771" y="3765499"/>
                </a:lnTo>
                <a:lnTo>
                  <a:pt x="464744" y="3765499"/>
                </a:lnTo>
                <a:lnTo>
                  <a:pt x="442323" y="3704349"/>
                </a:lnTo>
                <a:lnTo>
                  <a:pt x="236449" y="3704349"/>
                </a:lnTo>
                <a:lnTo>
                  <a:pt x="214027" y="3765499"/>
                </a:lnTo>
                <a:lnTo>
                  <a:pt x="0" y="3765499"/>
                </a:lnTo>
                <a:close/>
                <a:moveTo>
                  <a:pt x="9652559" y="3069403"/>
                </a:moveTo>
                <a:cubicBezTo>
                  <a:pt x="9621304" y="3069403"/>
                  <a:pt x="9591918" y="3073649"/>
                  <a:pt x="9564400" y="3082142"/>
                </a:cubicBezTo>
                <a:cubicBezTo>
                  <a:pt x="9536882" y="3090636"/>
                  <a:pt x="9512932" y="3103036"/>
                  <a:pt x="9492548" y="3119342"/>
                </a:cubicBezTo>
                <a:cubicBezTo>
                  <a:pt x="9472165" y="3135649"/>
                  <a:pt x="9456197" y="3156033"/>
                  <a:pt x="9444647" y="3180493"/>
                </a:cubicBezTo>
                <a:cubicBezTo>
                  <a:pt x="9433097" y="3204953"/>
                  <a:pt x="9427321" y="3233150"/>
                  <a:pt x="9427321" y="3265084"/>
                </a:cubicBezTo>
                <a:cubicBezTo>
                  <a:pt x="9427321" y="3293621"/>
                  <a:pt x="9432077" y="3318931"/>
                  <a:pt x="9441590" y="3341013"/>
                </a:cubicBezTo>
                <a:cubicBezTo>
                  <a:pt x="9451102" y="3363095"/>
                  <a:pt x="9463162" y="3382969"/>
                  <a:pt x="9477771" y="3400635"/>
                </a:cubicBezTo>
                <a:cubicBezTo>
                  <a:pt x="9492378" y="3418300"/>
                  <a:pt x="9508006" y="3433928"/>
                  <a:pt x="9524653" y="3447517"/>
                </a:cubicBezTo>
                <a:cubicBezTo>
                  <a:pt x="9541299" y="3461106"/>
                  <a:pt x="9556926" y="3473506"/>
                  <a:pt x="9571535" y="3484716"/>
                </a:cubicBezTo>
                <a:cubicBezTo>
                  <a:pt x="9586143" y="3495927"/>
                  <a:pt x="9598203" y="3506119"/>
                  <a:pt x="9607715" y="3515292"/>
                </a:cubicBezTo>
                <a:cubicBezTo>
                  <a:pt x="9617227" y="3524464"/>
                  <a:pt x="9621984" y="3533467"/>
                  <a:pt x="9621984" y="3542300"/>
                </a:cubicBezTo>
                <a:cubicBezTo>
                  <a:pt x="9621984" y="3565401"/>
                  <a:pt x="9606356" y="3576952"/>
                  <a:pt x="9575102" y="3576952"/>
                </a:cubicBezTo>
                <a:cubicBezTo>
                  <a:pt x="9557435" y="3576952"/>
                  <a:pt x="9539940" y="3575933"/>
                  <a:pt x="9522614" y="3573894"/>
                </a:cubicBezTo>
                <a:cubicBezTo>
                  <a:pt x="9505288" y="3571856"/>
                  <a:pt x="9489830" y="3569138"/>
                  <a:pt x="9476242" y="3565741"/>
                </a:cubicBezTo>
                <a:cubicBezTo>
                  <a:pt x="9459934" y="3563023"/>
                  <a:pt x="9444307" y="3559286"/>
                  <a:pt x="9429360" y="3554530"/>
                </a:cubicBezTo>
                <a:lnTo>
                  <a:pt x="9429360" y="3758365"/>
                </a:lnTo>
                <a:cubicBezTo>
                  <a:pt x="9445666" y="3763121"/>
                  <a:pt x="9463671" y="3767198"/>
                  <a:pt x="9483376" y="3770595"/>
                </a:cubicBezTo>
                <a:cubicBezTo>
                  <a:pt x="9500362" y="3773992"/>
                  <a:pt x="9519896" y="3776880"/>
                  <a:pt x="9541978" y="3779258"/>
                </a:cubicBezTo>
                <a:cubicBezTo>
                  <a:pt x="9564061" y="3781636"/>
                  <a:pt x="9588012" y="3782825"/>
                  <a:pt x="9613830" y="3782825"/>
                </a:cubicBezTo>
                <a:cubicBezTo>
                  <a:pt x="9656635" y="3782825"/>
                  <a:pt x="9693666" y="3777220"/>
                  <a:pt x="9724921" y="3766009"/>
                </a:cubicBezTo>
                <a:cubicBezTo>
                  <a:pt x="9756175" y="3754798"/>
                  <a:pt x="9781824" y="3739510"/>
                  <a:pt x="9801868" y="3720146"/>
                </a:cubicBezTo>
                <a:cubicBezTo>
                  <a:pt x="9821911" y="3700782"/>
                  <a:pt x="9836689" y="3678020"/>
                  <a:pt x="9846202" y="3651861"/>
                </a:cubicBezTo>
                <a:cubicBezTo>
                  <a:pt x="9855714" y="3625702"/>
                  <a:pt x="9860470" y="3597675"/>
                  <a:pt x="9860470" y="3567779"/>
                </a:cubicBezTo>
                <a:cubicBezTo>
                  <a:pt x="9860470" y="3539242"/>
                  <a:pt x="9855885" y="3513423"/>
                  <a:pt x="9846712" y="3490322"/>
                </a:cubicBezTo>
                <a:cubicBezTo>
                  <a:pt x="9837539" y="3467221"/>
                  <a:pt x="9826328" y="3446497"/>
                  <a:pt x="9813079" y="3428152"/>
                </a:cubicBezTo>
                <a:cubicBezTo>
                  <a:pt x="9799830" y="3409807"/>
                  <a:pt x="9785222" y="3393500"/>
                  <a:pt x="9769254" y="3379232"/>
                </a:cubicBezTo>
                <a:cubicBezTo>
                  <a:pt x="9753287" y="3364963"/>
                  <a:pt x="9738679" y="3352394"/>
                  <a:pt x="9725430" y="3341522"/>
                </a:cubicBezTo>
                <a:cubicBezTo>
                  <a:pt x="9712181" y="3330651"/>
                  <a:pt x="9700970" y="3321139"/>
                  <a:pt x="9691797" y="3312985"/>
                </a:cubicBezTo>
                <a:cubicBezTo>
                  <a:pt x="9682624" y="3304832"/>
                  <a:pt x="9678039" y="3298038"/>
                  <a:pt x="9678039" y="3292602"/>
                </a:cubicBezTo>
                <a:cubicBezTo>
                  <a:pt x="9678039" y="3286487"/>
                  <a:pt x="9680077" y="3281731"/>
                  <a:pt x="9684153" y="3278334"/>
                </a:cubicBezTo>
                <a:cubicBezTo>
                  <a:pt x="9688230" y="3274936"/>
                  <a:pt x="9692986" y="3272558"/>
                  <a:pt x="9698422" y="3271199"/>
                </a:cubicBezTo>
                <a:cubicBezTo>
                  <a:pt x="9703857" y="3269840"/>
                  <a:pt x="9709633" y="3268991"/>
                  <a:pt x="9715748" y="3268651"/>
                </a:cubicBezTo>
                <a:cubicBezTo>
                  <a:pt x="9721863" y="3268312"/>
                  <a:pt x="9726959" y="3268142"/>
                  <a:pt x="9731035" y="3268142"/>
                </a:cubicBezTo>
                <a:cubicBezTo>
                  <a:pt x="9738509" y="3268142"/>
                  <a:pt x="9745644" y="3268482"/>
                  <a:pt x="9752438" y="3269161"/>
                </a:cubicBezTo>
                <a:cubicBezTo>
                  <a:pt x="9759232" y="3269840"/>
                  <a:pt x="9765347" y="3270520"/>
                  <a:pt x="9770783" y="3271199"/>
                </a:cubicBezTo>
                <a:cubicBezTo>
                  <a:pt x="9777578" y="3271879"/>
                  <a:pt x="9783693" y="3272558"/>
                  <a:pt x="9789128" y="3273238"/>
                </a:cubicBezTo>
                <a:lnTo>
                  <a:pt x="9789128" y="3082652"/>
                </a:lnTo>
                <a:cubicBezTo>
                  <a:pt x="9774859" y="3080614"/>
                  <a:pt x="9760252" y="3078575"/>
                  <a:pt x="9745304" y="3076537"/>
                </a:cubicBezTo>
                <a:cubicBezTo>
                  <a:pt x="9732395" y="3075178"/>
                  <a:pt x="9717786" y="3073649"/>
                  <a:pt x="9701479" y="3071951"/>
                </a:cubicBezTo>
                <a:cubicBezTo>
                  <a:pt x="9685172" y="3070252"/>
                  <a:pt x="9668866" y="3069403"/>
                  <a:pt x="9652559" y="3069403"/>
                </a:cubicBezTo>
                <a:close/>
                <a:moveTo>
                  <a:pt x="4997387" y="3069403"/>
                </a:moveTo>
                <a:cubicBezTo>
                  <a:pt x="5035436" y="3069403"/>
                  <a:pt x="5068389" y="3073140"/>
                  <a:pt x="5096246" y="3080614"/>
                </a:cubicBezTo>
                <a:cubicBezTo>
                  <a:pt x="5124103" y="3088088"/>
                  <a:pt x="5147544" y="3096581"/>
                  <a:pt x="5166569" y="3106093"/>
                </a:cubicBezTo>
                <a:cubicBezTo>
                  <a:pt x="5188991" y="3116964"/>
                  <a:pt x="5207676" y="3128855"/>
                  <a:pt x="5222624" y="3141764"/>
                </a:cubicBezTo>
                <a:lnTo>
                  <a:pt x="5099304" y="3317062"/>
                </a:lnTo>
                <a:cubicBezTo>
                  <a:pt x="5087074" y="3306191"/>
                  <a:pt x="5071786" y="3297868"/>
                  <a:pt x="5053441" y="3292093"/>
                </a:cubicBezTo>
                <a:cubicBezTo>
                  <a:pt x="5035096" y="3286317"/>
                  <a:pt x="5017090" y="3283429"/>
                  <a:pt x="4999425" y="3283429"/>
                </a:cubicBezTo>
                <a:cubicBezTo>
                  <a:pt x="4979720" y="3283429"/>
                  <a:pt x="4961716" y="3286997"/>
                  <a:pt x="4945409" y="3294131"/>
                </a:cubicBezTo>
                <a:cubicBezTo>
                  <a:pt x="4929102" y="3301265"/>
                  <a:pt x="4915003" y="3311117"/>
                  <a:pt x="4903113" y="3323687"/>
                </a:cubicBezTo>
                <a:cubicBezTo>
                  <a:pt x="4891222" y="3336257"/>
                  <a:pt x="4881880" y="3351374"/>
                  <a:pt x="4875085" y="3369040"/>
                </a:cubicBezTo>
                <a:cubicBezTo>
                  <a:pt x="4868291" y="3386706"/>
                  <a:pt x="4864894" y="3405730"/>
                  <a:pt x="4864894" y="3426114"/>
                </a:cubicBezTo>
                <a:cubicBezTo>
                  <a:pt x="4864894" y="3446497"/>
                  <a:pt x="4868631" y="3465522"/>
                  <a:pt x="4876105" y="3483188"/>
                </a:cubicBezTo>
                <a:cubicBezTo>
                  <a:pt x="4883579" y="3500853"/>
                  <a:pt x="4893770" y="3515971"/>
                  <a:pt x="4906680" y="3528541"/>
                </a:cubicBezTo>
                <a:cubicBezTo>
                  <a:pt x="4919589" y="3541111"/>
                  <a:pt x="4934707" y="3550963"/>
                  <a:pt x="4952033" y="3558097"/>
                </a:cubicBezTo>
                <a:cubicBezTo>
                  <a:pt x="4969359" y="3565231"/>
                  <a:pt x="4987874" y="3568798"/>
                  <a:pt x="5007578" y="3568798"/>
                </a:cubicBezTo>
                <a:cubicBezTo>
                  <a:pt x="5030679" y="3568798"/>
                  <a:pt x="5051742" y="3563872"/>
                  <a:pt x="5070767" y="3554020"/>
                </a:cubicBezTo>
                <a:cubicBezTo>
                  <a:pt x="5089792" y="3544168"/>
                  <a:pt x="5106098" y="3530749"/>
                  <a:pt x="5119687" y="3513763"/>
                </a:cubicBezTo>
                <a:lnTo>
                  <a:pt x="5058537" y="3513763"/>
                </a:lnTo>
                <a:lnTo>
                  <a:pt x="5058537" y="3371078"/>
                </a:lnTo>
                <a:lnTo>
                  <a:pt x="5320465" y="3371078"/>
                </a:lnTo>
                <a:lnTo>
                  <a:pt x="5320465" y="3597335"/>
                </a:lnTo>
                <a:cubicBezTo>
                  <a:pt x="5304837" y="3625193"/>
                  <a:pt x="5286152" y="3650502"/>
                  <a:pt x="5264411" y="3673264"/>
                </a:cubicBezTo>
                <a:cubicBezTo>
                  <a:pt x="5242668" y="3696025"/>
                  <a:pt x="5218377" y="3715560"/>
                  <a:pt x="5191539" y="3731866"/>
                </a:cubicBezTo>
                <a:cubicBezTo>
                  <a:pt x="5164701" y="3748173"/>
                  <a:pt x="5135654" y="3760743"/>
                  <a:pt x="5104400" y="3769576"/>
                </a:cubicBezTo>
                <a:cubicBezTo>
                  <a:pt x="5073145" y="3778409"/>
                  <a:pt x="5040871" y="3782825"/>
                  <a:pt x="5007578" y="3782825"/>
                </a:cubicBezTo>
                <a:cubicBezTo>
                  <a:pt x="4958658" y="3782825"/>
                  <a:pt x="4912455" y="3773653"/>
                  <a:pt x="4868971" y="3755307"/>
                </a:cubicBezTo>
                <a:cubicBezTo>
                  <a:pt x="4825486" y="3736962"/>
                  <a:pt x="4787606" y="3711823"/>
                  <a:pt x="4755332" y="3679888"/>
                </a:cubicBezTo>
                <a:cubicBezTo>
                  <a:pt x="4723059" y="3647954"/>
                  <a:pt x="4697578" y="3610245"/>
                  <a:pt x="4678894" y="3566760"/>
                </a:cubicBezTo>
                <a:cubicBezTo>
                  <a:pt x="4660209" y="3523275"/>
                  <a:pt x="4650867" y="3476393"/>
                  <a:pt x="4650867" y="3426114"/>
                </a:cubicBezTo>
                <a:cubicBezTo>
                  <a:pt x="4650867" y="3377194"/>
                  <a:pt x="4659699" y="3330991"/>
                  <a:pt x="4677365" y="3287506"/>
                </a:cubicBezTo>
                <a:cubicBezTo>
                  <a:pt x="4695031" y="3244021"/>
                  <a:pt x="4719321" y="3206142"/>
                  <a:pt x="4750237" y="3173868"/>
                </a:cubicBezTo>
                <a:cubicBezTo>
                  <a:pt x="4781152" y="3141594"/>
                  <a:pt x="4817842" y="3116115"/>
                  <a:pt x="4860307" y="3097430"/>
                </a:cubicBezTo>
                <a:cubicBezTo>
                  <a:pt x="4902773" y="3078745"/>
                  <a:pt x="4948466" y="3069403"/>
                  <a:pt x="4997387" y="3069403"/>
                </a:cubicBezTo>
                <a:close/>
                <a:moveTo>
                  <a:pt x="1461059" y="3069403"/>
                </a:moveTo>
                <a:cubicBezTo>
                  <a:pt x="1477366" y="3069403"/>
                  <a:pt x="1493672" y="3070252"/>
                  <a:pt x="1509979" y="3071951"/>
                </a:cubicBezTo>
                <a:cubicBezTo>
                  <a:pt x="1526286" y="3073649"/>
                  <a:pt x="1540895" y="3075178"/>
                  <a:pt x="1553804" y="3076537"/>
                </a:cubicBezTo>
                <a:cubicBezTo>
                  <a:pt x="1568752" y="3078575"/>
                  <a:pt x="1583360" y="3080614"/>
                  <a:pt x="1597629" y="3082652"/>
                </a:cubicBezTo>
                <a:lnTo>
                  <a:pt x="1597629" y="3273238"/>
                </a:lnTo>
                <a:cubicBezTo>
                  <a:pt x="1592193" y="3272558"/>
                  <a:pt x="1586078" y="3271879"/>
                  <a:pt x="1579284" y="3271199"/>
                </a:cubicBezTo>
                <a:cubicBezTo>
                  <a:pt x="1573848" y="3270520"/>
                  <a:pt x="1567732" y="3269840"/>
                  <a:pt x="1560938" y="3269161"/>
                </a:cubicBezTo>
                <a:cubicBezTo>
                  <a:pt x="1554143" y="3268482"/>
                  <a:pt x="1547009" y="3268142"/>
                  <a:pt x="1539535" y="3268142"/>
                </a:cubicBezTo>
                <a:cubicBezTo>
                  <a:pt x="1535459" y="3268142"/>
                  <a:pt x="1530363" y="3268312"/>
                  <a:pt x="1524248" y="3268651"/>
                </a:cubicBezTo>
                <a:cubicBezTo>
                  <a:pt x="1518133" y="3268991"/>
                  <a:pt x="1512358" y="3269840"/>
                  <a:pt x="1506922" y="3271199"/>
                </a:cubicBezTo>
                <a:cubicBezTo>
                  <a:pt x="1501486" y="3272558"/>
                  <a:pt x="1496730" y="3274936"/>
                  <a:pt x="1492653" y="3278334"/>
                </a:cubicBezTo>
                <a:cubicBezTo>
                  <a:pt x="1488577" y="3281731"/>
                  <a:pt x="1486538" y="3286487"/>
                  <a:pt x="1486538" y="3292602"/>
                </a:cubicBezTo>
                <a:cubicBezTo>
                  <a:pt x="1486538" y="3298038"/>
                  <a:pt x="1491125" y="3304832"/>
                  <a:pt x="1500298" y="3312985"/>
                </a:cubicBezTo>
                <a:cubicBezTo>
                  <a:pt x="1509470" y="3321139"/>
                  <a:pt x="1520681" y="3330651"/>
                  <a:pt x="1533930" y="3341522"/>
                </a:cubicBezTo>
                <a:cubicBezTo>
                  <a:pt x="1547180" y="3352394"/>
                  <a:pt x="1561787" y="3364963"/>
                  <a:pt x="1577755" y="3379232"/>
                </a:cubicBezTo>
                <a:cubicBezTo>
                  <a:pt x="1593722" y="3393500"/>
                  <a:pt x="1608330" y="3409807"/>
                  <a:pt x="1621579" y="3428152"/>
                </a:cubicBezTo>
                <a:cubicBezTo>
                  <a:pt x="1634829" y="3446497"/>
                  <a:pt x="1646040" y="3467221"/>
                  <a:pt x="1655212" y="3490322"/>
                </a:cubicBezTo>
                <a:cubicBezTo>
                  <a:pt x="1664384" y="3513423"/>
                  <a:pt x="1668971" y="3539242"/>
                  <a:pt x="1668971" y="3567779"/>
                </a:cubicBezTo>
                <a:cubicBezTo>
                  <a:pt x="1668971" y="3597675"/>
                  <a:pt x="1664214" y="3625702"/>
                  <a:pt x="1654702" y="3651861"/>
                </a:cubicBezTo>
                <a:cubicBezTo>
                  <a:pt x="1645190" y="3678020"/>
                  <a:pt x="1630412" y="3700782"/>
                  <a:pt x="1610368" y="3720146"/>
                </a:cubicBezTo>
                <a:cubicBezTo>
                  <a:pt x="1590324" y="3739510"/>
                  <a:pt x="1564675" y="3754798"/>
                  <a:pt x="1533420" y="3766009"/>
                </a:cubicBezTo>
                <a:cubicBezTo>
                  <a:pt x="1502165" y="3777220"/>
                  <a:pt x="1465136" y="3782825"/>
                  <a:pt x="1422330" y="3782825"/>
                </a:cubicBezTo>
                <a:cubicBezTo>
                  <a:pt x="1396511" y="3782825"/>
                  <a:pt x="1372560" y="3781636"/>
                  <a:pt x="1350479" y="3779258"/>
                </a:cubicBezTo>
                <a:cubicBezTo>
                  <a:pt x="1328396" y="3776880"/>
                  <a:pt x="1308862" y="3773992"/>
                  <a:pt x="1291876" y="3770595"/>
                </a:cubicBezTo>
                <a:cubicBezTo>
                  <a:pt x="1272172" y="3767198"/>
                  <a:pt x="1254167" y="3763121"/>
                  <a:pt x="1237860" y="3758365"/>
                </a:cubicBezTo>
                <a:lnTo>
                  <a:pt x="1237860" y="3554530"/>
                </a:lnTo>
                <a:cubicBezTo>
                  <a:pt x="1252808" y="3559286"/>
                  <a:pt x="1268435" y="3563023"/>
                  <a:pt x="1284742" y="3565741"/>
                </a:cubicBezTo>
                <a:cubicBezTo>
                  <a:pt x="1298331" y="3569138"/>
                  <a:pt x="1313788" y="3571856"/>
                  <a:pt x="1331114" y="3573894"/>
                </a:cubicBezTo>
                <a:cubicBezTo>
                  <a:pt x="1348440" y="3575933"/>
                  <a:pt x="1365936" y="3576952"/>
                  <a:pt x="1383602" y="3576952"/>
                </a:cubicBezTo>
                <a:cubicBezTo>
                  <a:pt x="1414856" y="3576952"/>
                  <a:pt x="1430484" y="3565401"/>
                  <a:pt x="1430484" y="3542300"/>
                </a:cubicBezTo>
                <a:cubicBezTo>
                  <a:pt x="1430484" y="3533467"/>
                  <a:pt x="1425727" y="3524464"/>
                  <a:pt x="1416215" y="3515292"/>
                </a:cubicBezTo>
                <a:cubicBezTo>
                  <a:pt x="1406703" y="3506119"/>
                  <a:pt x="1394643" y="3495927"/>
                  <a:pt x="1380034" y="3484716"/>
                </a:cubicBezTo>
                <a:cubicBezTo>
                  <a:pt x="1365426" y="3473506"/>
                  <a:pt x="1349799" y="3461106"/>
                  <a:pt x="1333152" y="3447517"/>
                </a:cubicBezTo>
                <a:cubicBezTo>
                  <a:pt x="1316505" y="3433928"/>
                  <a:pt x="1300879" y="3418300"/>
                  <a:pt x="1286271" y="3400635"/>
                </a:cubicBezTo>
                <a:cubicBezTo>
                  <a:pt x="1271662" y="3382969"/>
                  <a:pt x="1259602" y="3363095"/>
                  <a:pt x="1250090" y="3341013"/>
                </a:cubicBezTo>
                <a:cubicBezTo>
                  <a:pt x="1240578" y="3318931"/>
                  <a:pt x="1235821" y="3293621"/>
                  <a:pt x="1235821" y="3265084"/>
                </a:cubicBezTo>
                <a:cubicBezTo>
                  <a:pt x="1235821" y="3233150"/>
                  <a:pt x="1241597" y="3204953"/>
                  <a:pt x="1253148" y="3180493"/>
                </a:cubicBezTo>
                <a:cubicBezTo>
                  <a:pt x="1264698" y="3156033"/>
                  <a:pt x="1280665" y="3135649"/>
                  <a:pt x="1301048" y="3119342"/>
                </a:cubicBezTo>
                <a:cubicBezTo>
                  <a:pt x="1321432" y="3103036"/>
                  <a:pt x="1345383" y="3090636"/>
                  <a:pt x="1372900" y="3082142"/>
                </a:cubicBezTo>
                <a:cubicBezTo>
                  <a:pt x="1400418" y="3073649"/>
                  <a:pt x="1429804" y="3069403"/>
                  <a:pt x="1461059" y="3069403"/>
                </a:cubicBezTo>
                <a:close/>
                <a:moveTo>
                  <a:pt x="6202898" y="0"/>
                </a:moveTo>
                <a:lnTo>
                  <a:pt x="10656657" y="0"/>
                </a:lnTo>
                <a:lnTo>
                  <a:pt x="9172071" y="6857999"/>
                </a:lnTo>
                <a:lnTo>
                  <a:pt x="4718312" y="6857999"/>
                </a:lnTo>
                <a:close/>
              </a:path>
            </a:pathLst>
          </a:custGeom>
          <a:solidFill>
            <a:srgbClr val="920F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noFill/>
            </a:endParaRPr>
          </a:p>
        </p:txBody>
      </p:sp>
      <p:sp>
        <p:nvSpPr>
          <p:cNvPr id="2" name="TextBox 1">
            <a:extLst>
              <a:ext uri="{FF2B5EF4-FFF2-40B4-BE49-F238E27FC236}">
                <a16:creationId xmlns:a16="http://schemas.microsoft.com/office/drawing/2014/main" id="{2179ED4A-681F-D7EE-A13D-8B01593B524B}"/>
              </a:ext>
            </a:extLst>
          </p:cNvPr>
          <p:cNvSpPr txBox="1"/>
          <p:nvPr/>
        </p:nvSpPr>
        <p:spPr>
          <a:xfrm>
            <a:off x="7061982" y="4712677"/>
            <a:ext cx="3094892" cy="400110"/>
          </a:xfrm>
          <a:prstGeom prst="rect">
            <a:avLst/>
          </a:prstGeom>
          <a:noFill/>
        </p:spPr>
        <p:txBody>
          <a:bodyPr wrap="square" rtlCol="0">
            <a:spAutoFit/>
          </a:bodyPr>
          <a:lstStyle/>
          <a:p>
            <a:pPr algn="ctr"/>
            <a:r>
              <a:rPr lang="en-US" sz="2000" dirty="0">
                <a:solidFill>
                  <a:schemeClr val="bg1"/>
                </a:solidFill>
                <a:latin typeface="Montserrat Medium" pitchFamily="2" charset="77"/>
              </a:rPr>
              <a:t>Andre Warsaw</a:t>
            </a:r>
          </a:p>
        </p:txBody>
      </p:sp>
    </p:spTree>
    <p:extLst>
      <p:ext uri="{BB962C8B-B14F-4D97-AF65-F5344CB8AC3E}">
        <p14:creationId xmlns:p14="http://schemas.microsoft.com/office/powerpoint/2010/main" val="302095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0F00"/>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F03D6128-FF12-AA01-5C68-11281CDF8CD7}"/>
              </a:ext>
            </a:extLst>
          </p:cNvPr>
          <p:cNvGrpSpPr/>
          <p:nvPr/>
        </p:nvGrpSpPr>
        <p:grpSpPr>
          <a:xfrm>
            <a:off x="-2013845" y="0"/>
            <a:ext cx="2823530" cy="6858000"/>
            <a:chOff x="9481484" y="0"/>
            <a:chExt cx="2823530" cy="6858000"/>
          </a:xfrm>
        </p:grpSpPr>
        <p:sp>
          <p:nvSpPr>
            <p:cNvPr id="18" name="Rectangle 17">
              <a:extLst>
                <a:ext uri="{FF2B5EF4-FFF2-40B4-BE49-F238E27FC236}">
                  <a16:creationId xmlns:a16="http://schemas.microsoft.com/office/drawing/2014/main" id="{B0060C13-ED8A-FEB8-5FDE-A379D607F281}"/>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C498303-2942-8908-BF0E-55C74A4E77D3}"/>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0D06E502-59AF-03E2-D2C1-4E7B8A837717}"/>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0785A232-C6C5-3202-9E80-F1763082BB5C}"/>
              </a:ext>
            </a:extLst>
          </p:cNvPr>
          <p:cNvGrpSpPr/>
          <p:nvPr/>
        </p:nvGrpSpPr>
        <p:grpSpPr>
          <a:xfrm>
            <a:off x="-2531162" y="0"/>
            <a:ext cx="3699525" cy="6858000"/>
            <a:chOff x="6376086" y="0"/>
            <a:chExt cx="3699525" cy="6858000"/>
          </a:xfrm>
        </p:grpSpPr>
        <p:sp>
          <p:nvSpPr>
            <p:cNvPr id="17" name="Rectangle 16">
              <a:extLst>
                <a:ext uri="{FF2B5EF4-FFF2-40B4-BE49-F238E27FC236}">
                  <a16:creationId xmlns:a16="http://schemas.microsoft.com/office/drawing/2014/main" id="{314A0242-8181-8B62-337F-32D3499293E3}"/>
                </a:ext>
              </a:extLst>
            </p:cNvPr>
            <p:cNvSpPr/>
            <p:nvPr/>
          </p:nvSpPr>
          <p:spPr>
            <a:xfrm>
              <a:off x="6376086"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868675E6-8602-FF00-D218-C7720F3E5676}"/>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2EE2F-C2B7-3889-9BE2-FC4DA942BB14}"/>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707C8105-01BB-AB0E-6393-7A0107B43070}"/>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F1188796-1853-C15B-508F-2FE953276CAD}"/>
              </a:ext>
            </a:extLst>
          </p:cNvPr>
          <p:cNvGrpSpPr/>
          <p:nvPr/>
        </p:nvGrpSpPr>
        <p:grpSpPr>
          <a:xfrm>
            <a:off x="-2804548" y="-1"/>
            <a:ext cx="3721672" cy="6889681"/>
            <a:chOff x="3188043" y="-1"/>
            <a:chExt cx="3721672" cy="6889681"/>
          </a:xfrm>
        </p:grpSpPr>
        <p:sp>
          <p:nvSpPr>
            <p:cNvPr id="16" name="Rectangle 15">
              <a:extLst>
                <a:ext uri="{FF2B5EF4-FFF2-40B4-BE49-F238E27FC236}">
                  <a16:creationId xmlns:a16="http://schemas.microsoft.com/office/drawing/2014/main" id="{BE73A84E-820E-C308-82A2-BE908F49CB53}"/>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50731671-F3A2-B0DB-CD29-002AC22F6C1F}"/>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F87F7A-66F1-A658-A651-2DCDB4D04BB1}"/>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FE606385-07B6-15EB-5E12-0B840350A3A4}"/>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3" name="Group 12">
            <a:extLst>
              <a:ext uri="{FF2B5EF4-FFF2-40B4-BE49-F238E27FC236}">
                <a16:creationId xmlns:a16="http://schemas.microsoft.com/office/drawing/2014/main" id="{E5FDC5B7-FB54-9BBC-799B-5E48DD757DAE}"/>
              </a:ext>
            </a:extLst>
          </p:cNvPr>
          <p:cNvGrpSpPr/>
          <p:nvPr/>
        </p:nvGrpSpPr>
        <p:grpSpPr>
          <a:xfrm>
            <a:off x="-3082720" y="-3"/>
            <a:ext cx="3746164" cy="6858002"/>
            <a:chOff x="0" y="-1"/>
            <a:chExt cx="3746164" cy="6858002"/>
          </a:xfrm>
        </p:grpSpPr>
        <p:sp>
          <p:nvSpPr>
            <p:cNvPr id="2" name="Rectangle 1">
              <a:extLst>
                <a:ext uri="{FF2B5EF4-FFF2-40B4-BE49-F238E27FC236}">
                  <a16:creationId xmlns:a16="http://schemas.microsoft.com/office/drawing/2014/main" id="{4101F35A-CE8A-62A2-80A2-4FE67958A8A2}"/>
                </a:ext>
              </a:extLst>
            </p:cNvPr>
            <p:cNvSpPr/>
            <p:nvPr/>
          </p:nvSpPr>
          <p:spPr>
            <a:xfrm>
              <a:off x="0" y="-1"/>
              <a:ext cx="3188043" cy="6858002"/>
            </a:xfrm>
            <a:prstGeom prst="rect">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0" dirty="0">
                <a:latin typeface=""/>
              </a:endParaRPr>
            </a:p>
          </p:txBody>
        </p:sp>
        <p:sp>
          <p:nvSpPr>
            <p:cNvPr id="19" name="Triangle 18">
              <a:extLst>
                <a:ext uri="{FF2B5EF4-FFF2-40B4-BE49-F238E27FC236}">
                  <a16:creationId xmlns:a16="http://schemas.microsoft.com/office/drawing/2014/main" id="{9A59E2A7-B00D-B5D2-DFB6-B6EFB0890D7D}"/>
                </a:ext>
              </a:extLst>
            </p:cNvPr>
            <p:cNvSpPr/>
            <p:nvPr/>
          </p:nvSpPr>
          <p:spPr>
            <a:xfrm rot="5400000">
              <a:off x="2896637" y="1134837"/>
              <a:ext cx="1105930" cy="593125"/>
            </a:xfrm>
            <a:prstGeom prst="triangle">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95C0D0F-3B69-010C-6169-6BC31BB27718}"/>
                </a:ext>
              </a:extLst>
            </p:cNvPr>
            <p:cNvSpPr txBox="1"/>
            <p:nvPr/>
          </p:nvSpPr>
          <p:spPr>
            <a:xfrm>
              <a:off x="115612"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A</a:t>
              </a:r>
              <a:endParaRPr lang="en-US" sz="8000" b="1" dirty="0">
                <a:solidFill>
                  <a:schemeClr val="bg1"/>
                </a:solidFill>
                <a:latin typeface="Montserrat Black" pitchFamily="2" charset="77"/>
              </a:endParaRPr>
            </a:p>
          </p:txBody>
        </p:sp>
        <p:sp>
          <p:nvSpPr>
            <p:cNvPr id="3" name="TextBox 2">
              <a:extLst>
                <a:ext uri="{FF2B5EF4-FFF2-40B4-BE49-F238E27FC236}">
                  <a16:creationId xmlns:a16="http://schemas.microsoft.com/office/drawing/2014/main" id="{9251F5BE-7692-5ABA-8404-1495C0D115E2}"/>
                </a:ext>
              </a:extLst>
            </p:cNvPr>
            <p:cNvSpPr txBox="1"/>
            <p:nvPr/>
          </p:nvSpPr>
          <p:spPr>
            <a:xfrm>
              <a:off x="179910" y="2206072"/>
              <a:ext cx="2823530" cy="3785652"/>
            </a:xfrm>
            <a:prstGeom prst="rect">
              <a:avLst/>
            </a:prstGeom>
            <a:noFill/>
          </p:spPr>
          <p:txBody>
            <a:bodyPr wrap="square" rtlCol="0">
              <a:spAutoFit/>
            </a:bodyPr>
            <a:lstStyle/>
            <a:p>
              <a:pPr algn="ctr"/>
              <a:r>
                <a:rPr lang="en-US" sz="2400" b="1">
                  <a:solidFill>
                    <a:schemeClr val="bg1"/>
                  </a:solidFill>
                  <a:latin typeface="Montserrat" pitchFamily="2" charset="77"/>
                </a:rPr>
                <a:t>Current Method</a:t>
              </a:r>
            </a:p>
            <a:p>
              <a:pPr algn="ctr"/>
              <a:endParaRPr lang="en-US" sz="1600">
                <a:solidFill>
                  <a:schemeClr val="bg1"/>
                </a:solidFill>
                <a:latin typeface="Montserrat" pitchFamily="2" charset="77"/>
              </a:endParaRPr>
            </a:p>
            <a:p>
              <a:pPr algn="ctr"/>
              <a:endParaRPr lang="en-US" sz="1600">
                <a:solidFill>
                  <a:schemeClr val="bg1"/>
                </a:solidFill>
                <a:latin typeface="Montserrat" pitchFamily="2" charset="77"/>
              </a:endParaRPr>
            </a:p>
            <a:p>
              <a:pPr algn="ctr"/>
              <a:r>
                <a:rPr lang="en-US" sz="1200">
                  <a:solidFill>
                    <a:schemeClr val="bg1"/>
                  </a:solidFill>
                  <a:latin typeface="Montserrat" pitchFamily="2" charset="77"/>
                </a:rPr>
                <a:t>ABS team currently observes their buying patterns through two observations including store size and store performance. For my project I have included two variables named “storesizecat” which includes their ranking of store sizes and “storetiercat” which includes their financial performance rankings based on ABS preset parameters. </a:t>
              </a:r>
            </a:p>
            <a:p>
              <a:pPr algn="ctr"/>
              <a:endParaRPr lang="en-US" b="1">
                <a:solidFill>
                  <a:schemeClr val="bg1"/>
                </a:solidFill>
                <a:latin typeface="Montserrat" pitchFamily="2" charset="77"/>
              </a:endParaRPr>
            </a:p>
            <a:p>
              <a:pPr algn="ctr"/>
              <a:endParaRPr lang="en-US" b="1">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24" name="TextBox 23">
            <a:extLst>
              <a:ext uri="{FF2B5EF4-FFF2-40B4-BE49-F238E27FC236}">
                <a16:creationId xmlns:a16="http://schemas.microsoft.com/office/drawing/2014/main" id="{5FA35640-27C2-3418-4226-448DD1BA8EEF}"/>
              </a:ext>
            </a:extLst>
          </p:cNvPr>
          <p:cNvSpPr txBox="1"/>
          <p:nvPr/>
        </p:nvSpPr>
        <p:spPr>
          <a:xfrm>
            <a:off x="1945240" y="532935"/>
            <a:ext cx="8301519" cy="923330"/>
          </a:xfrm>
          <a:prstGeom prst="rect">
            <a:avLst/>
          </a:prstGeom>
          <a:noFill/>
        </p:spPr>
        <p:txBody>
          <a:bodyPr wrap="square" rtlCol="0">
            <a:spAutoFit/>
          </a:bodyPr>
          <a:lstStyle/>
          <a:p>
            <a:pPr algn="ctr"/>
            <a:r>
              <a:rPr lang="en-US" sz="5400" b="1" dirty="0">
                <a:solidFill>
                  <a:schemeClr val="bg1"/>
                </a:solidFill>
                <a:latin typeface="Montserrat Black" pitchFamily="2" charset="77"/>
              </a:rPr>
              <a:t>Purpose</a:t>
            </a:r>
            <a:endParaRPr lang="en-US" b="1" dirty="0">
              <a:solidFill>
                <a:schemeClr val="bg1"/>
              </a:solidFill>
              <a:latin typeface="Montserrat Black" pitchFamily="2" charset="77"/>
            </a:endParaRPr>
          </a:p>
        </p:txBody>
      </p:sp>
      <p:sp>
        <p:nvSpPr>
          <p:cNvPr id="26" name="TextBox 25">
            <a:extLst>
              <a:ext uri="{FF2B5EF4-FFF2-40B4-BE49-F238E27FC236}">
                <a16:creationId xmlns:a16="http://schemas.microsoft.com/office/drawing/2014/main" id="{8684162C-D7AD-6862-A3EB-B6DA215818FF}"/>
              </a:ext>
            </a:extLst>
          </p:cNvPr>
          <p:cNvSpPr txBox="1"/>
          <p:nvPr/>
        </p:nvSpPr>
        <p:spPr>
          <a:xfrm>
            <a:off x="1945240" y="2828833"/>
            <a:ext cx="8352890" cy="1200329"/>
          </a:xfrm>
          <a:prstGeom prst="rect">
            <a:avLst/>
          </a:prstGeom>
          <a:noFill/>
        </p:spPr>
        <p:txBody>
          <a:bodyPr wrap="square" rtlCol="0">
            <a:spAutoFit/>
          </a:bodyPr>
          <a:lstStyle/>
          <a:p>
            <a:pPr algn="ctr"/>
            <a:r>
              <a:rPr lang="en-US" dirty="0">
                <a:solidFill>
                  <a:schemeClr val="bg1"/>
                </a:solidFill>
                <a:latin typeface="Montserrat" pitchFamily="2" charset="77"/>
              </a:rPr>
              <a:t>To help the Montgomery County Alcohol and Beverage Services team with optimizing their method of observing buying patterns between all 27 locations. The final goal is to help ABS save money by using research and analysis to determine best practices for future operations.</a:t>
            </a:r>
          </a:p>
        </p:txBody>
      </p:sp>
    </p:spTree>
    <p:extLst>
      <p:ext uri="{BB962C8B-B14F-4D97-AF65-F5344CB8AC3E}">
        <p14:creationId xmlns:p14="http://schemas.microsoft.com/office/powerpoint/2010/main" val="1331739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30004"/>
        </a:solidFill>
        <a:effectLst/>
      </p:bgPr>
    </p:bg>
    <p:spTree>
      <p:nvGrpSpPr>
        <p:cNvPr id="1" name="">
          <a:extLst>
            <a:ext uri="{FF2B5EF4-FFF2-40B4-BE49-F238E27FC236}">
              <a16:creationId xmlns:a16="http://schemas.microsoft.com/office/drawing/2014/main" id="{6C91E266-AE8D-BA0D-1CD8-DF8BAB20FBBD}"/>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A356E93-5677-529F-96CB-747D06851B63}"/>
              </a:ext>
            </a:extLst>
          </p:cNvPr>
          <p:cNvGrpSpPr/>
          <p:nvPr/>
        </p:nvGrpSpPr>
        <p:grpSpPr>
          <a:xfrm>
            <a:off x="9481484" y="0"/>
            <a:ext cx="2823530" cy="6858000"/>
            <a:chOff x="9481484" y="0"/>
            <a:chExt cx="2823530" cy="6858000"/>
          </a:xfrm>
        </p:grpSpPr>
        <p:sp>
          <p:nvSpPr>
            <p:cNvPr id="18" name="Rectangle 17">
              <a:extLst>
                <a:ext uri="{FF2B5EF4-FFF2-40B4-BE49-F238E27FC236}">
                  <a16:creationId xmlns:a16="http://schemas.microsoft.com/office/drawing/2014/main" id="{2485B0D4-B08D-6B17-D7CA-A989A05E662E}"/>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DB41AA3-6737-2E18-B6A9-286B0AC7AB7E}"/>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641935F6-3CEE-7C0B-3A64-4C8044C95048}"/>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15AAE335-4A70-9F7A-570E-447BC66A1996}"/>
              </a:ext>
            </a:extLst>
          </p:cNvPr>
          <p:cNvGrpSpPr/>
          <p:nvPr/>
        </p:nvGrpSpPr>
        <p:grpSpPr>
          <a:xfrm>
            <a:off x="6376086" y="0"/>
            <a:ext cx="3699525" cy="6858000"/>
            <a:chOff x="6376086" y="0"/>
            <a:chExt cx="3699525" cy="6858000"/>
          </a:xfrm>
        </p:grpSpPr>
        <p:sp>
          <p:nvSpPr>
            <p:cNvPr id="17" name="Rectangle 16">
              <a:extLst>
                <a:ext uri="{FF2B5EF4-FFF2-40B4-BE49-F238E27FC236}">
                  <a16:creationId xmlns:a16="http://schemas.microsoft.com/office/drawing/2014/main" id="{EAE7F3B9-7B49-FD06-0036-F157891E4589}"/>
                </a:ext>
              </a:extLst>
            </p:cNvPr>
            <p:cNvSpPr/>
            <p:nvPr/>
          </p:nvSpPr>
          <p:spPr>
            <a:xfrm>
              <a:off x="6376086"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FA0BDC8C-DA67-A525-F36B-72F69DE895DC}"/>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9387550-54AC-BE3F-17AF-3F5B29B8674D}"/>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E2E2A900-D8CF-44CE-3521-4B5DF4523064}"/>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B125B1BD-F8AB-3BEC-986B-FF78296D5ED6}"/>
              </a:ext>
            </a:extLst>
          </p:cNvPr>
          <p:cNvGrpSpPr/>
          <p:nvPr/>
        </p:nvGrpSpPr>
        <p:grpSpPr>
          <a:xfrm>
            <a:off x="3188043" y="-1"/>
            <a:ext cx="3721672" cy="6889681"/>
            <a:chOff x="3188043" y="-1"/>
            <a:chExt cx="3721672" cy="6889681"/>
          </a:xfrm>
        </p:grpSpPr>
        <p:sp>
          <p:nvSpPr>
            <p:cNvPr id="16" name="Rectangle 15">
              <a:extLst>
                <a:ext uri="{FF2B5EF4-FFF2-40B4-BE49-F238E27FC236}">
                  <a16:creationId xmlns:a16="http://schemas.microsoft.com/office/drawing/2014/main" id="{F3816744-C19D-37FF-9B44-CAE70933D65B}"/>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95C06F88-4B24-CFB1-D358-1D8EDF81B295}"/>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B905384-2C28-77F8-F59C-69D93351338C}"/>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A0132E7E-EBF5-C330-8F19-4407AADB4CB3}"/>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3" name="Group 12">
            <a:extLst>
              <a:ext uri="{FF2B5EF4-FFF2-40B4-BE49-F238E27FC236}">
                <a16:creationId xmlns:a16="http://schemas.microsoft.com/office/drawing/2014/main" id="{B87A770C-5DC3-B4ED-7D81-DC1A106F78A4}"/>
              </a:ext>
            </a:extLst>
          </p:cNvPr>
          <p:cNvGrpSpPr/>
          <p:nvPr/>
        </p:nvGrpSpPr>
        <p:grpSpPr>
          <a:xfrm>
            <a:off x="0" y="-1"/>
            <a:ext cx="3746164" cy="6858002"/>
            <a:chOff x="0" y="-1"/>
            <a:chExt cx="3746164" cy="6858002"/>
          </a:xfrm>
        </p:grpSpPr>
        <p:sp>
          <p:nvSpPr>
            <p:cNvPr id="2" name="Rectangle 1">
              <a:extLst>
                <a:ext uri="{FF2B5EF4-FFF2-40B4-BE49-F238E27FC236}">
                  <a16:creationId xmlns:a16="http://schemas.microsoft.com/office/drawing/2014/main" id="{A9BC6C5A-2E23-15BD-5965-5B7C36EFAEC8}"/>
                </a:ext>
              </a:extLst>
            </p:cNvPr>
            <p:cNvSpPr/>
            <p:nvPr/>
          </p:nvSpPr>
          <p:spPr>
            <a:xfrm>
              <a:off x="0" y="-1"/>
              <a:ext cx="3188043" cy="6858002"/>
            </a:xfrm>
            <a:prstGeom prst="rect">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0" dirty="0">
                <a:latin typeface=""/>
              </a:endParaRPr>
            </a:p>
          </p:txBody>
        </p:sp>
        <p:sp>
          <p:nvSpPr>
            <p:cNvPr id="19" name="Triangle 18">
              <a:extLst>
                <a:ext uri="{FF2B5EF4-FFF2-40B4-BE49-F238E27FC236}">
                  <a16:creationId xmlns:a16="http://schemas.microsoft.com/office/drawing/2014/main" id="{5FC4A30D-6A5C-9DF4-6059-F630A2365DA3}"/>
                </a:ext>
              </a:extLst>
            </p:cNvPr>
            <p:cNvSpPr/>
            <p:nvPr/>
          </p:nvSpPr>
          <p:spPr>
            <a:xfrm rot="5400000">
              <a:off x="2896637" y="1134837"/>
              <a:ext cx="1105930" cy="593125"/>
            </a:xfrm>
            <a:prstGeom prst="triangle">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F458D96-E09C-E6FF-86CB-58C50400B264}"/>
                </a:ext>
              </a:extLst>
            </p:cNvPr>
            <p:cNvSpPr txBox="1"/>
            <p:nvPr/>
          </p:nvSpPr>
          <p:spPr>
            <a:xfrm>
              <a:off x="115612"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A</a:t>
              </a:r>
              <a:endParaRPr lang="en-US" sz="8000" b="1" dirty="0">
                <a:solidFill>
                  <a:schemeClr val="bg1"/>
                </a:solidFill>
                <a:latin typeface="Montserrat Black" pitchFamily="2" charset="77"/>
              </a:endParaRPr>
            </a:p>
          </p:txBody>
        </p:sp>
        <p:sp>
          <p:nvSpPr>
            <p:cNvPr id="3" name="TextBox 2">
              <a:extLst>
                <a:ext uri="{FF2B5EF4-FFF2-40B4-BE49-F238E27FC236}">
                  <a16:creationId xmlns:a16="http://schemas.microsoft.com/office/drawing/2014/main" id="{A1B979BA-A0F8-11FC-E751-00A703D0B7EB}"/>
                </a:ext>
              </a:extLst>
            </p:cNvPr>
            <p:cNvSpPr txBox="1"/>
            <p:nvPr/>
          </p:nvSpPr>
          <p:spPr>
            <a:xfrm>
              <a:off x="179910" y="2206072"/>
              <a:ext cx="2823530" cy="3785652"/>
            </a:xfrm>
            <a:prstGeom prst="rect">
              <a:avLst/>
            </a:prstGeom>
            <a:noFill/>
          </p:spPr>
          <p:txBody>
            <a:bodyPr wrap="square" rtlCol="0">
              <a:spAutoFit/>
            </a:bodyPr>
            <a:lstStyle/>
            <a:p>
              <a:pPr algn="ctr"/>
              <a:r>
                <a:rPr lang="en-US" sz="2400" b="1">
                  <a:solidFill>
                    <a:schemeClr val="bg1"/>
                  </a:solidFill>
                  <a:latin typeface="Montserrat" pitchFamily="2" charset="77"/>
                </a:rPr>
                <a:t>Current Method</a:t>
              </a:r>
            </a:p>
            <a:p>
              <a:pPr algn="ctr"/>
              <a:endParaRPr lang="en-US" sz="1600">
                <a:solidFill>
                  <a:schemeClr val="bg1"/>
                </a:solidFill>
                <a:latin typeface="Montserrat" pitchFamily="2" charset="77"/>
              </a:endParaRPr>
            </a:p>
            <a:p>
              <a:pPr algn="ctr"/>
              <a:endParaRPr lang="en-US" sz="1600">
                <a:solidFill>
                  <a:schemeClr val="bg1"/>
                </a:solidFill>
                <a:latin typeface="Montserrat" pitchFamily="2" charset="77"/>
              </a:endParaRPr>
            </a:p>
            <a:p>
              <a:pPr algn="ctr"/>
              <a:r>
                <a:rPr lang="en-US" sz="1200">
                  <a:solidFill>
                    <a:schemeClr val="bg1"/>
                  </a:solidFill>
                  <a:latin typeface="Montserrat" pitchFamily="2" charset="77"/>
                </a:rPr>
                <a:t>ABS team currently observes their buying patterns through two observations including store size and store performance. For my project I have included two variables named “storesizecat” which includes their ranking of store sizes and “storetiercat” which includes their financial performance rankings based on ABS preset parameters. </a:t>
              </a:r>
            </a:p>
            <a:p>
              <a:pPr algn="ctr"/>
              <a:endParaRPr lang="en-US" b="1">
                <a:solidFill>
                  <a:schemeClr val="bg1"/>
                </a:solidFill>
                <a:latin typeface="Montserrat" pitchFamily="2" charset="77"/>
              </a:endParaRPr>
            </a:p>
            <a:p>
              <a:pPr algn="ctr"/>
              <a:endParaRPr lang="en-US" b="1">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Tree>
    <p:extLst>
      <p:ext uri="{BB962C8B-B14F-4D97-AF65-F5344CB8AC3E}">
        <p14:creationId xmlns:p14="http://schemas.microsoft.com/office/powerpoint/2010/main" val="3551045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001B"/>
        </a:solidFill>
        <a:effectLst/>
      </p:bgPr>
    </p:bg>
    <p:spTree>
      <p:nvGrpSpPr>
        <p:cNvPr id="1" name="">
          <a:extLst>
            <a:ext uri="{FF2B5EF4-FFF2-40B4-BE49-F238E27FC236}">
              <a16:creationId xmlns:a16="http://schemas.microsoft.com/office/drawing/2014/main" id="{D628DAC5-000D-43B2-944E-14C66FF02219}"/>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7F74E658-783D-6908-6EC6-A390051E6D9A}"/>
              </a:ext>
            </a:extLst>
          </p:cNvPr>
          <p:cNvGrpSpPr/>
          <p:nvPr/>
        </p:nvGrpSpPr>
        <p:grpSpPr>
          <a:xfrm>
            <a:off x="861442" y="0"/>
            <a:ext cx="2823530" cy="6858000"/>
            <a:chOff x="9481484" y="0"/>
            <a:chExt cx="2823530" cy="6858000"/>
          </a:xfrm>
        </p:grpSpPr>
        <p:sp>
          <p:nvSpPr>
            <p:cNvPr id="18" name="Rectangle 17">
              <a:extLst>
                <a:ext uri="{FF2B5EF4-FFF2-40B4-BE49-F238E27FC236}">
                  <a16:creationId xmlns:a16="http://schemas.microsoft.com/office/drawing/2014/main" id="{E464DF3F-6018-F254-A26A-CAF01722A8DB}"/>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A07A9E1-CD43-66D2-9662-7270DDD4554E}"/>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168BF151-CDB4-F7AE-CAA6-BCE589D53016}"/>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C85C9CF3-48B0-5EEC-5BA1-6703F51230A3}"/>
              </a:ext>
            </a:extLst>
          </p:cNvPr>
          <p:cNvGrpSpPr/>
          <p:nvPr/>
        </p:nvGrpSpPr>
        <p:grpSpPr>
          <a:xfrm>
            <a:off x="345140" y="0"/>
            <a:ext cx="3699525" cy="6858000"/>
            <a:chOff x="6376086" y="0"/>
            <a:chExt cx="3699525" cy="6858000"/>
          </a:xfrm>
        </p:grpSpPr>
        <p:sp>
          <p:nvSpPr>
            <p:cNvPr id="17" name="Rectangle 16">
              <a:extLst>
                <a:ext uri="{FF2B5EF4-FFF2-40B4-BE49-F238E27FC236}">
                  <a16:creationId xmlns:a16="http://schemas.microsoft.com/office/drawing/2014/main" id="{D497B0AA-FAE8-8CD1-BA79-A5A81037F4EA}"/>
                </a:ext>
              </a:extLst>
            </p:cNvPr>
            <p:cNvSpPr/>
            <p:nvPr/>
          </p:nvSpPr>
          <p:spPr>
            <a:xfrm>
              <a:off x="6376086"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F5E146C3-C3B9-34BD-B03D-7BF38E767321}"/>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3979548-205F-5080-E92C-514CE0B9BA5C}"/>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3298EEC6-24CF-F543-297A-AE89A48040CB}"/>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66D3EF97-4D87-0FC8-D1AD-E67E42C87E66}"/>
              </a:ext>
            </a:extLst>
          </p:cNvPr>
          <p:cNvGrpSpPr/>
          <p:nvPr/>
        </p:nvGrpSpPr>
        <p:grpSpPr>
          <a:xfrm>
            <a:off x="167439" y="-1"/>
            <a:ext cx="3721672" cy="6889681"/>
            <a:chOff x="3188043" y="-1"/>
            <a:chExt cx="3721672" cy="6889681"/>
          </a:xfrm>
        </p:grpSpPr>
        <p:sp>
          <p:nvSpPr>
            <p:cNvPr id="16" name="Rectangle 15">
              <a:extLst>
                <a:ext uri="{FF2B5EF4-FFF2-40B4-BE49-F238E27FC236}">
                  <a16:creationId xmlns:a16="http://schemas.microsoft.com/office/drawing/2014/main" id="{A0A84D68-19C9-0E90-54E2-1E70B4346A2F}"/>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1521C78F-AFFB-E385-CA35-25850397FC2F}"/>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7FE82E-3E43-B88E-B164-05841A8F3504}"/>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6FD4FF8F-46A1-AE79-D018-D227374D598D}"/>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3" name="Group 12">
            <a:extLst>
              <a:ext uri="{FF2B5EF4-FFF2-40B4-BE49-F238E27FC236}">
                <a16:creationId xmlns:a16="http://schemas.microsoft.com/office/drawing/2014/main" id="{5ACFF807-D68D-8980-4225-0ACB40F2131D}"/>
              </a:ext>
            </a:extLst>
          </p:cNvPr>
          <p:cNvGrpSpPr/>
          <p:nvPr/>
        </p:nvGrpSpPr>
        <p:grpSpPr>
          <a:xfrm>
            <a:off x="0" y="-1"/>
            <a:ext cx="3746164" cy="6858002"/>
            <a:chOff x="0" y="-1"/>
            <a:chExt cx="3746164" cy="6858002"/>
          </a:xfrm>
        </p:grpSpPr>
        <p:sp>
          <p:nvSpPr>
            <p:cNvPr id="2" name="Rectangle 1">
              <a:extLst>
                <a:ext uri="{FF2B5EF4-FFF2-40B4-BE49-F238E27FC236}">
                  <a16:creationId xmlns:a16="http://schemas.microsoft.com/office/drawing/2014/main" id="{A433F63E-4D7B-EBD6-F2C3-753D45410589}"/>
                </a:ext>
              </a:extLst>
            </p:cNvPr>
            <p:cNvSpPr/>
            <p:nvPr/>
          </p:nvSpPr>
          <p:spPr>
            <a:xfrm>
              <a:off x="0" y="-1"/>
              <a:ext cx="3188043" cy="6858002"/>
            </a:xfrm>
            <a:prstGeom prst="rect">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0" dirty="0">
                <a:latin typeface=""/>
              </a:endParaRPr>
            </a:p>
          </p:txBody>
        </p:sp>
        <p:sp>
          <p:nvSpPr>
            <p:cNvPr id="19" name="Triangle 18">
              <a:extLst>
                <a:ext uri="{FF2B5EF4-FFF2-40B4-BE49-F238E27FC236}">
                  <a16:creationId xmlns:a16="http://schemas.microsoft.com/office/drawing/2014/main" id="{566A798A-13C6-CF74-BC72-DEE95919FDFE}"/>
                </a:ext>
              </a:extLst>
            </p:cNvPr>
            <p:cNvSpPr/>
            <p:nvPr/>
          </p:nvSpPr>
          <p:spPr>
            <a:xfrm rot="5400000">
              <a:off x="2896637" y="1134837"/>
              <a:ext cx="1105930" cy="593125"/>
            </a:xfrm>
            <a:prstGeom prst="triangle">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18B635B-0CA0-B4A6-9770-A3BEB0EBA792}"/>
                </a:ext>
              </a:extLst>
            </p:cNvPr>
            <p:cNvSpPr txBox="1"/>
            <p:nvPr/>
          </p:nvSpPr>
          <p:spPr>
            <a:xfrm>
              <a:off x="115612"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A</a:t>
              </a:r>
              <a:endParaRPr lang="en-US" sz="8000" b="1" dirty="0">
                <a:solidFill>
                  <a:schemeClr val="bg1"/>
                </a:solidFill>
                <a:latin typeface="Montserrat Black" pitchFamily="2" charset="77"/>
              </a:endParaRPr>
            </a:p>
          </p:txBody>
        </p:sp>
        <p:sp>
          <p:nvSpPr>
            <p:cNvPr id="3" name="TextBox 2">
              <a:extLst>
                <a:ext uri="{FF2B5EF4-FFF2-40B4-BE49-F238E27FC236}">
                  <a16:creationId xmlns:a16="http://schemas.microsoft.com/office/drawing/2014/main" id="{D81560AE-202E-85B4-024F-A57809BD5709}"/>
                </a:ext>
              </a:extLst>
            </p:cNvPr>
            <p:cNvSpPr txBox="1"/>
            <p:nvPr/>
          </p:nvSpPr>
          <p:spPr>
            <a:xfrm>
              <a:off x="179910" y="2206072"/>
              <a:ext cx="2823530" cy="3785652"/>
            </a:xfrm>
            <a:prstGeom prst="rect">
              <a:avLst/>
            </a:prstGeom>
            <a:noFill/>
          </p:spPr>
          <p:txBody>
            <a:bodyPr wrap="square" rtlCol="0">
              <a:spAutoFit/>
            </a:bodyPr>
            <a:lstStyle/>
            <a:p>
              <a:pPr algn="ctr"/>
              <a:r>
                <a:rPr lang="en-US" sz="2400" b="1">
                  <a:solidFill>
                    <a:schemeClr val="bg1"/>
                  </a:solidFill>
                  <a:latin typeface="Montserrat" pitchFamily="2" charset="77"/>
                </a:rPr>
                <a:t>Current Method</a:t>
              </a:r>
            </a:p>
            <a:p>
              <a:pPr algn="ctr"/>
              <a:endParaRPr lang="en-US" sz="1600">
                <a:solidFill>
                  <a:schemeClr val="bg1"/>
                </a:solidFill>
                <a:latin typeface="Montserrat" pitchFamily="2" charset="77"/>
              </a:endParaRPr>
            </a:p>
            <a:p>
              <a:pPr algn="ctr"/>
              <a:endParaRPr lang="en-US" sz="1600">
                <a:solidFill>
                  <a:schemeClr val="bg1"/>
                </a:solidFill>
                <a:latin typeface="Montserrat" pitchFamily="2" charset="77"/>
              </a:endParaRPr>
            </a:p>
            <a:p>
              <a:pPr algn="ctr"/>
              <a:r>
                <a:rPr lang="en-US" sz="1200">
                  <a:solidFill>
                    <a:schemeClr val="bg1"/>
                  </a:solidFill>
                  <a:latin typeface="Montserrat" pitchFamily="2" charset="77"/>
                </a:rPr>
                <a:t>ABS team currently observes their buying patterns through two observations including store size and store performance. For my project I have included two variables named “storesizecat” which includes their ranking of store sizes and “storetiercat” which includes their financial performance rankings based on ABS preset parameters. </a:t>
              </a:r>
            </a:p>
            <a:p>
              <a:pPr algn="ctr"/>
              <a:endParaRPr lang="en-US" b="1">
                <a:solidFill>
                  <a:schemeClr val="bg1"/>
                </a:solidFill>
                <a:latin typeface="Montserrat" pitchFamily="2" charset="77"/>
              </a:endParaRPr>
            </a:p>
            <a:p>
              <a:pPr algn="ctr"/>
              <a:endParaRPr lang="en-US" b="1">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10" name="TextBox 9">
            <a:extLst>
              <a:ext uri="{FF2B5EF4-FFF2-40B4-BE49-F238E27FC236}">
                <a16:creationId xmlns:a16="http://schemas.microsoft.com/office/drawing/2014/main" id="{2D134EB9-B62F-DC89-0DC4-3CB8BA90EE15}"/>
              </a:ext>
            </a:extLst>
          </p:cNvPr>
          <p:cNvSpPr txBox="1"/>
          <p:nvPr/>
        </p:nvSpPr>
        <p:spPr>
          <a:xfrm>
            <a:off x="3723203" y="1984365"/>
            <a:ext cx="7963347" cy="1477328"/>
          </a:xfrm>
          <a:prstGeom prst="rect">
            <a:avLst/>
          </a:prstGeom>
          <a:noFill/>
        </p:spPr>
        <p:txBody>
          <a:bodyPr wrap="square" rtlCol="0">
            <a:spAutoFit/>
          </a:bodyPr>
          <a:lstStyle/>
          <a:p>
            <a:r>
              <a:rPr lang="en-US" dirty="0">
                <a:solidFill>
                  <a:schemeClr val="bg1"/>
                </a:solidFill>
                <a:latin typeface="Montserrat" pitchFamily="2" charset="77"/>
              </a:rPr>
              <a:t>Based on ABS’ current method, I chose to observe their classification categories in the provided data set:</a:t>
            </a:r>
          </a:p>
          <a:p>
            <a:endParaRPr lang="en-US" dirty="0">
              <a:solidFill>
                <a:schemeClr val="bg1"/>
              </a:solidFill>
              <a:latin typeface="Montserrat" pitchFamily="2" charset="77"/>
            </a:endParaRPr>
          </a:p>
          <a:p>
            <a:r>
              <a:rPr lang="en-US" dirty="0">
                <a:solidFill>
                  <a:schemeClr val="bg1"/>
                </a:solidFill>
                <a:latin typeface="Montserrat" pitchFamily="2" charset="77"/>
              </a:rPr>
              <a:t>Classification Dept -&gt; Classification Type -&gt; Classification Category</a:t>
            </a:r>
          </a:p>
          <a:p>
            <a:endParaRPr lang="en-US" dirty="0">
              <a:solidFill>
                <a:schemeClr val="bg1"/>
              </a:solidFill>
              <a:latin typeface="Montserrat" pitchFamily="2" charset="77"/>
            </a:endParaRPr>
          </a:p>
        </p:txBody>
      </p:sp>
      <p:sp>
        <p:nvSpPr>
          <p:cNvPr id="24" name="TextBox 23">
            <a:extLst>
              <a:ext uri="{FF2B5EF4-FFF2-40B4-BE49-F238E27FC236}">
                <a16:creationId xmlns:a16="http://schemas.microsoft.com/office/drawing/2014/main" id="{FBF16782-EE3A-6976-D894-46CA3040374A}"/>
              </a:ext>
            </a:extLst>
          </p:cNvPr>
          <p:cNvSpPr txBox="1"/>
          <p:nvPr/>
        </p:nvSpPr>
        <p:spPr>
          <a:xfrm>
            <a:off x="3746165" y="3827303"/>
            <a:ext cx="7963347" cy="646331"/>
          </a:xfrm>
          <a:prstGeom prst="rect">
            <a:avLst/>
          </a:prstGeom>
          <a:noFill/>
        </p:spPr>
        <p:txBody>
          <a:bodyPr wrap="square" rtlCol="0">
            <a:spAutoFit/>
          </a:bodyPr>
          <a:lstStyle/>
          <a:p>
            <a:r>
              <a:rPr lang="en-US" dirty="0">
                <a:solidFill>
                  <a:schemeClr val="bg1"/>
                </a:solidFill>
                <a:latin typeface="Montserrat" pitchFamily="2" charset="77"/>
              </a:rPr>
              <a:t>Based on my observations I noticed that there were little to no variation in inventory performance between all 27 locations </a:t>
            </a:r>
          </a:p>
        </p:txBody>
      </p:sp>
    </p:spTree>
    <p:extLst>
      <p:ext uri="{BB962C8B-B14F-4D97-AF65-F5344CB8AC3E}">
        <p14:creationId xmlns:p14="http://schemas.microsoft.com/office/powerpoint/2010/main" val="4000001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001B"/>
        </a:solidFill>
        <a:effectLst/>
      </p:bgPr>
    </p:bg>
    <p:spTree>
      <p:nvGrpSpPr>
        <p:cNvPr id="1" name="">
          <a:extLst>
            <a:ext uri="{FF2B5EF4-FFF2-40B4-BE49-F238E27FC236}">
              <a16:creationId xmlns:a16="http://schemas.microsoft.com/office/drawing/2014/main" id="{3CE1EC8D-79C3-B368-F793-CF1EA170252F}"/>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2E82894E-EA98-330E-789A-1D1AF9D381DF}"/>
              </a:ext>
            </a:extLst>
          </p:cNvPr>
          <p:cNvGrpSpPr/>
          <p:nvPr/>
        </p:nvGrpSpPr>
        <p:grpSpPr>
          <a:xfrm>
            <a:off x="-2233459" y="0"/>
            <a:ext cx="2823530" cy="6858000"/>
            <a:chOff x="9481484" y="0"/>
            <a:chExt cx="2823530" cy="6858000"/>
          </a:xfrm>
        </p:grpSpPr>
        <p:sp>
          <p:nvSpPr>
            <p:cNvPr id="18" name="Rectangle 17">
              <a:extLst>
                <a:ext uri="{FF2B5EF4-FFF2-40B4-BE49-F238E27FC236}">
                  <a16:creationId xmlns:a16="http://schemas.microsoft.com/office/drawing/2014/main" id="{39155DAD-EECC-E786-E7C6-BC432A849937}"/>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57349AA-FEEF-0904-2E8C-80619A06AFB4}"/>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6862CD85-70D5-DFC0-816E-C35C185528A4}"/>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26A2E528-48FD-67C2-E9B6-905719267EDF}"/>
              </a:ext>
            </a:extLst>
          </p:cNvPr>
          <p:cNvGrpSpPr/>
          <p:nvPr/>
        </p:nvGrpSpPr>
        <p:grpSpPr>
          <a:xfrm>
            <a:off x="-2749757" y="0"/>
            <a:ext cx="3699525" cy="6858000"/>
            <a:chOff x="6376086" y="0"/>
            <a:chExt cx="3699525" cy="6858000"/>
          </a:xfrm>
        </p:grpSpPr>
        <p:sp>
          <p:nvSpPr>
            <p:cNvPr id="17" name="Rectangle 16">
              <a:extLst>
                <a:ext uri="{FF2B5EF4-FFF2-40B4-BE49-F238E27FC236}">
                  <a16:creationId xmlns:a16="http://schemas.microsoft.com/office/drawing/2014/main" id="{69E284FE-636D-BDCA-9FF7-7D5FD941A54B}"/>
                </a:ext>
              </a:extLst>
            </p:cNvPr>
            <p:cNvSpPr/>
            <p:nvPr/>
          </p:nvSpPr>
          <p:spPr>
            <a:xfrm>
              <a:off x="6376086"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4ABF2934-9FC9-D566-E392-E8F59D92EEB1}"/>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B5E96CC-6F28-62D4-5226-A7515CEA2A13}"/>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8DAAF0D8-2441-2F19-8A06-FEB1BF2D4F1E}"/>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C5B0256D-6D19-589B-AB21-C945067BD074}"/>
              </a:ext>
            </a:extLst>
          </p:cNvPr>
          <p:cNvGrpSpPr/>
          <p:nvPr/>
        </p:nvGrpSpPr>
        <p:grpSpPr>
          <a:xfrm>
            <a:off x="-2927462" y="-1"/>
            <a:ext cx="3721672" cy="6889681"/>
            <a:chOff x="3188043" y="-1"/>
            <a:chExt cx="3721672" cy="6889681"/>
          </a:xfrm>
        </p:grpSpPr>
        <p:sp>
          <p:nvSpPr>
            <p:cNvPr id="16" name="Rectangle 15">
              <a:extLst>
                <a:ext uri="{FF2B5EF4-FFF2-40B4-BE49-F238E27FC236}">
                  <a16:creationId xmlns:a16="http://schemas.microsoft.com/office/drawing/2014/main" id="{1B71AB49-C690-E672-17C5-76B728C8E30D}"/>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397BC924-431E-1D8C-1264-CABC93557382}"/>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873A535-F69B-B16F-F688-3DAEE3223300}"/>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67068DD3-800B-F514-5C93-9A2A298ED180}"/>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3" name="Group 12">
            <a:extLst>
              <a:ext uri="{FF2B5EF4-FFF2-40B4-BE49-F238E27FC236}">
                <a16:creationId xmlns:a16="http://schemas.microsoft.com/office/drawing/2014/main" id="{D5158E6B-6063-11C2-4884-613C06F38F17}"/>
              </a:ext>
            </a:extLst>
          </p:cNvPr>
          <p:cNvGrpSpPr/>
          <p:nvPr/>
        </p:nvGrpSpPr>
        <p:grpSpPr>
          <a:xfrm>
            <a:off x="-3137107" y="-1"/>
            <a:ext cx="3746164" cy="6858002"/>
            <a:chOff x="0" y="-1"/>
            <a:chExt cx="3746164" cy="6858002"/>
          </a:xfrm>
        </p:grpSpPr>
        <p:sp>
          <p:nvSpPr>
            <p:cNvPr id="2" name="Rectangle 1">
              <a:extLst>
                <a:ext uri="{FF2B5EF4-FFF2-40B4-BE49-F238E27FC236}">
                  <a16:creationId xmlns:a16="http://schemas.microsoft.com/office/drawing/2014/main" id="{2E11BD39-4400-02F0-3970-6400E8E70252}"/>
                </a:ext>
              </a:extLst>
            </p:cNvPr>
            <p:cNvSpPr/>
            <p:nvPr/>
          </p:nvSpPr>
          <p:spPr>
            <a:xfrm>
              <a:off x="0" y="-1"/>
              <a:ext cx="3188043" cy="6858002"/>
            </a:xfrm>
            <a:prstGeom prst="rect">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0" dirty="0">
                <a:latin typeface=""/>
              </a:endParaRPr>
            </a:p>
          </p:txBody>
        </p:sp>
        <p:sp>
          <p:nvSpPr>
            <p:cNvPr id="19" name="Triangle 18">
              <a:extLst>
                <a:ext uri="{FF2B5EF4-FFF2-40B4-BE49-F238E27FC236}">
                  <a16:creationId xmlns:a16="http://schemas.microsoft.com/office/drawing/2014/main" id="{189811AE-5544-DF73-0E56-B0DE184EAA23}"/>
                </a:ext>
              </a:extLst>
            </p:cNvPr>
            <p:cNvSpPr/>
            <p:nvPr/>
          </p:nvSpPr>
          <p:spPr>
            <a:xfrm rot="5400000">
              <a:off x="2896637" y="1134837"/>
              <a:ext cx="1105930" cy="593125"/>
            </a:xfrm>
            <a:prstGeom prst="triangle">
              <a:avLst/>
            </a:prstGeom>
            <a:solidFill>
              <a:srgbClr val="FE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74AFF32-3EEB-B87E-45E8-0A98C095B892}"/>
                </a:ext>
              </a:extLst>
            </p:cNvPr>
            <p:cNvSpPr txBox="1"/>
            <p:nvPr/>
          </p:nvSpPr>
          <p:spPr>
            <a:xfrm>
              <a:off x="115612"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A</a:t>
              </a:r>
              <a:endParaRPr lang="en-US" sz="8000" b="1" dirty="0">
                <a:solidFill>
                  <a:schemeClr val="bg1"/>
                </a:solidFill>
                <a:latin typeface="Montserrat Black" pitchFamily="2" charset="77"/>
              </a:endParaRPr>
            </a:p>
          </p:txBody>
        </p:sp>
        <p:sp>
          <p:nvSpPr>
            <p:cNvPr id="3" name="TextBox 2">
              <a:extLst>
                <a:ext uri="{FF2B5EF4-FFF2-40B4-BE49-F238E27FC236}">
                  <a16:creationId xmlns:a16="http://schemas.microsoft.com/office/drawing/2014/main" id="{D3D09FE4-874F-D751-BF44-F298123395BA}"/>
                </a:ext>
              </a:extLst>
            </p:cNvPr>
            <p:cNvSpPr txBox="1"/>
            <p:nvPr/>
          </p:nvSpPr>
          <p:spPr>
            <a:xfrm>
              <a:off x="179910" y="2206072"/>
              <a:ext cx="2823530" cy="3785652"/>
            </a:xfrm>
            <a:prstGeom prst="rect">
              <a:avLst/>
            </a:prstGeom>
            <a:noFill/>
          </p:spPr>
          <p:txBody>
            <a:bodyPr wrap="square" rtlCol="0">
              <a:spAutoFit/>
            </a:bodyPr>
            <a:lstStyle/>
            <a:p>
              <a:pPr algn="ctr"/>
              <a:r>
                <a:rPr lang="en-US" sz="2400" b="1">
                  <a:solidFill>
                    <a:schemeClr val="bg1"/>
                  </a:solidFill>
                  <a:latin typeface="Montserrat" pitchFamily="2" charset="77"/>
                </a:rPr>
                <a:t>Current Method</a:t>
              </a:r>
            </a:p>
            <a:p>
              <a:pPr algn="ctr"/>
              <a:endParaRPr lang="en-US" sz="1600">
                <a:solidFill>
                  <a:schemeClr val="bg1"/>
                </a:solidFill>
                <a:latin typeface="Montserrat" pitchFamily="2" charset="77"/>
              </a:endParaRPr>
            </a:p>
            <a:p>
              <a:pPr algn="ctr"/>
              <a:endParaRPr lang="en-US" sz="1600">
                <a:solidFill>
                  <a:schemeClr val="bg1"/>
                </a:solidFill>
                <a:latin typeface="Montserrat" pitchFamily="2" charset="77"/>
              </a:endParaRPr>
            </a:p>
            <a:p>
              <a:pPr algn="ctr"/>
              <a:r>
                <a:rPr lang="en-US" sz="1200">
                  <a:solidFill>
                    <a:schemeClr val="bg1"/>
                  </a:solidFill>
                  <a:latin typeface="Montserrat" pitchFamily="2" charset="77"/>
                </a:rPr>
                <a:t>ABS team currently observes their buying patterns through two observations including store size and store performance. For my project I have included two variables named “storesizecat” which includes their ranking of store sizes and “storetiercat” which includes their financial performance rankings based on ABS preset parameters. </a:t>
              </a:r>
            </a:p>
            <a:p>
              <a:pPr algn="ctr"/>
              <a:endParaRPr lang="en-US" b="1">
                <a:solidFill>
                  <a:schemeClr val="bg1"/>
                </a:solidFill>
                <a:latin typeface="Montserrat" pitchFamily="2" charset="77"/>
              </a:endParaRPr>
            </a:p>
            <a:p>
              <a:pPr algn="ctr"/>
              <a:endParaRPr lang="en-US" b="1">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pic>
        <p:nvPicPr>
          <p:cNvPr id="12" name="Picture 11" descr="A bar chart with different colored bars&#10;&#10;AI-generated content may be incorrect.">
            <a:extLst>
              <a:ext uri="{FF2B5EF4-FFF2-40B4-BE49-F238E27FC236}">
                <a16:creationId xmlns:a16="http://schemas.microsoft.com/office/drawing/2014/main" id="{00279AE7-43C8-510F-DB55-2D09C5EC9528}"/>
              </a:ext>
            </a:extLst>
          </p:cNvPr>
          <p:cNvPicPr>
            <a:picLocks noChangeAspect="1"/>
          </p:cNvPicPr>
          <p:nvPr/>
        </p:nvPicPr>
        <p:blipFill>
          <a:blip r:embed="rId3"/>
          <a:stretch>
            <a:fillRect/>
          </a:stretch>
        </p:blipFill>
        <p:spPr>
          <a:xfrm>
            <a:off x="1049384" y="146136"/>
            <a:ext cx="5228912" cy="3136900"/>
          </a:xfrm>
          <a:prstGeom prst="rect">
            <a:avLst/>
          </a:prstGeom>
        </p:spPr>
      </p:pic>
      <p:pic>
        <p:nvPicPr>
          <p:cNvPr id="26" name="Picture 25" descr="A graph of liquor purchase frequency&#10;&#10;AI-generated content may be incorrect.">
            <a:extLst>
              <a:ext uri="{FF2B5EF4-FFF2-40B4-BE49-F238E27FC236}">
                <a16:creationId xmlns:a16="http://schemas.microsoft.com/office/drawing/2014/main" id="{37CD9E54-DA54-39A2-59AC-1DBA0E6A60BC}"/>
              </a:ext>
            </a:extLst>
          </p:cNvPr>
          <p:cNvPicPr>
            <a:picLocks noChangeAspect="1"/>
          </p:cNvPicPr>
          <p:nvPr/>
        </p:nvPicPr>
        <p:blipFill>
          <a:blip r:embed="rId4"/>
          <a:stretch>
            <a:fillRect/>
          </a:stretch>
        </p:blipFill>
        <p:spPr>
          <a:xfrm>
            <a:off x="6755357" y="157648"/>
            <a:ext cx="5080000" cy="3136900"/>
          </a:xfrm>
          <a:prstGeom prst="rect">
            <a:avLst/>
          </a:prstGeom>
        </p:spPr>
      </p:pic>
      <p:pic>
        <p:nvPicPr>
          <p:cNvPr id="28" name="Picture 27" descr="A screenshot of a black menu&#10;&#10;AI-generated content may be incorrect.">
            <a:extLst>
              <a:ext uri="{FF2B5EF4-FFF2-40B4-BE49-F238E27FC236}">
                <a16:creationId xmlns:a16="http://schemas.microsoft.com/office/drawing/2014/main" id="{D532185A-097B-DCB6-4DD2-788D5EA98B6F}"/>
              </a:ext>
            </a:extLst>
          </p:cNvPr>
          <p:cNvPicPr>
            <a:picLocks noChangeAspect="1"/>
          </p:cNvPicPr>
          <p:nvPr/>
        </p:nvPicPr>
        <p:blipFill>
          <a:blip r:embed="rId5"/>
          <a:stretch>
            <a:fillRect/>
          </a:stretch>
        </p:blipFill>
        <p:spPr>
          <a:xfrm>
            <a:off x="672717" y="4171392"/>
            <a:ext cx="3671214" cy="2497156"/>
          </a:xfrm>
          <a:prstGeom prst="rect">
            <a:avLst/>
          </a:prstGeom>
        </p:spPr>
      </p:pic>
      <p:pic>
        <p:nvPicPr>
          <p:cNvPr id="30" name="Picture 29" descr="A screenshot of a black and white bar&#10;&#10;AI-generated content may be incorrect.">
            <a:extLst>
              <a:ext uri="{FF2B5EF4-FFF2-40B4-BE49-F238E27FC236}">
                <a16:creationId xmlns:a16="http://schemas.microsoft.com/office/drawing/2014/main" id="{1C0A646A-30CC-1BF9-23BB-80882F6109AF}"/>
              </a:ext>
            </a:extLst>
          </p:cNvPr>
          <p:cNvPicPr>
            <a:picLocks noChangeAspect="1"/>
          </p:cNvPicPr>
          <p:nvPr/>
        </p:nvPicPr>
        <p:blipFill>
          <a:blip r:embed="rId6"/>
          <a:stretch>
            <a:fillRect/>
          </a:stretch>
        </p:blipFill>
        <p:spPr>
          <a:xfrm>
            <a:off x="4539591" y="4171392"/>
            <a:ext cx="3769038" cy="2497156"/>
          </a:xfrm>
          <a:prstGeom prst="rect">
            <a:avLst/>
          </a:prstGeom>
        </p:spPr>
      </p:pic>
      <p:pic>
        <p:nvPicPr>
          <p:cNvPr id="32" name="Picture 31" descr="A screenshot of a black and white bar menu&#10;&#10;AI-generated content may be incorrect.">
            <a:extLst>
              <a:ext uri="{FF2B5EF4-FFF2-40B4-BE49-F238E27FC236}">
                <a16:creationId xmlns:a16="http://schemas.microsoft.com/office/drawing/2014/main" id="{6C8E5121-1F72-88D3-A1A2-20B629600196}"/>
              </a:ext>
            </a:extLst>
          </p:cNvPr>
          <p:cNvPicPr>
            <a:picLocks noChangeAspect="1"/>
          </p:cNvPicPr>
          <p:nvPr/>
        </p:nvPicPr>
        <p:blipFill>
          <a:blip r:embed="rId7"/>
          <a:stretch>
            <a:fillRect/>
          </a:stretch>
        </p:blipFill>
        <p:spPr>
          <a:xfrm>
            <a:off x="8504289" y="4171392"/>
            <a:ext cx="3553554" cy="2466865"/>
          </a:xfrm>
          <a:prstGeom prst="rect">
            <a:avLst/>
          </a:prstGeom>
        </p:spPr>
      </p:pic>
      <p:sp>
        <p:nvSpPr>
          <p:cNvPr id="33" name="TextBox 32">
            <a:extLst>
              <a:ext uri="{FF2B5EF4-FFF2-40B4-BE49-F238E27FC236}">
                <a16:creationId xmlns:a16="http://schemas.microsoft.com/office/drawing/2014/main" id="{991093C3-A3E2-94EF-FCE0-5AA03611786D}"/>
              </a:ext>
            </a:extLst>
          </p:cNvPr>
          <p:cNvSpPr txBox="1"/>
          <p:nvPr/>
        </p:nvSpPr>
        <p:spPr>
          <a:xfrm>
            <a:off x="794211" y="3581082"/>
            <a:ext cx="3232480" cy="369332"/>
          </a:xfrm>
          <a:prstGeom prst="rect">
            <a:avLst/>
          </a:prstGeom>
          <a:noFill/>
        </p:spPr>
        <p:txBody>
          <a:bodyPr wrap="square" rtlCol="0">
            <a:spAutoFit/>
          </a:bodyPr>
          <a:lstStyle/>
          <a:p>
            <a:pPr algn="ctr"/>
            <a:r>
              <a:rPr lang="en-US" dirty="0">
                <a:solidFill>
                  <a:schemeClr val="bg1"/>
                </a:solidFill>
                <a:latin typeface="Montserrat" pitchFamily="2" charset="77"/>
              </a:rPr>
              <a:t>Tier 1 Stores</a:t>
            </a:r>
          </a:p>
        </p:txBody>
      </p:sp>
      <p:sp>
        <p:nvSpPr>
          <p:cNvPr id="34" name="TextBox 33">
            <a:extLst>
              <a:ext uri="{FF2B5EF4-FFF2-40B4-BE49-F238E27FC236}">
                <a16:creationId xmlns:a16="http://schemas.microsoft.com/office/drawing/2014/main" id="{E2538D2B-B97D-58E2-AB16-852EF1A712A1}"/>
              </a:ext>
            </a:extLst>
          </p:cNvPr>
          <p:cNvSpPr txBox="1"/>
          <p:nvPr/>
        </p:nvSpPr>
        <p:spPr>
          <a:xfrm>
            <a:off x="4662056" y="3615330"/>
            <a:ext cx="3232480" cy="369332"/>
          </a:xfrm>
          <a:prstGeom prst="rect">
            <a:avLst/>
          </a:prstGeom>
          <a:noFill/>
        </p:spPr>
        <p:txBody>
          <a:bodyPr wrap="square" rtlCol="0">
            <a:spAutoFit/>
          </a:bodyPr>
          <a:lstStyle/>
          <a:p>
            <a:pPr algn="ctr"/>
            <a:r>
              <a:rPr lang="en-US" dirty="0">
                <a:solidFill>
                  <a:schemeClr val="bg1"/>
                </a:solidFill>
                <a:latin typeface="Montserrat" pitchFamily="2" charset="77"/>
              </a:rPr>
              <a:t>Tier 2 Stores</a:t>
            </a:r>
          </a:p>
        </p:txBody>
      </p:sp>
      <p:sp>
        <p:nvSpPr>
          <p:cNvPr id="35" name="TextBox 34">
            <a:extLst>
              <a:ext uri="{FF2B5EF4-FFF2-40B4-BE49-F238E27FC236}">
                <a16:creationId xmlns:a16="http://schemas.microsoft.com/office/drawing/2014/main" id="{2EA8A98C-3C9F-8130-6EEE-530529CD97E4}"/>
              </a:ext>
            </a:extLst>
          </p:cNvPr>
          <p:cNvSpPr txBox="1"/>
          <p:nvPr/>
        </p:nvSpPr>
        <p:spPr>
          <a:xfrm>
            <a:off x="8602877" y="3615330"/>
            <a:ext cx="3232480" cy="369332"/>
          </a:xfrm>
          <a:prstGeom prst="rect">
            <a:avLst/>
          </a:prstGeom>
          <a:noFill/>
        </p:spPr>
        <p:txBody>
          <a:bodyPr wrap="square" rtlCol="0">
            <a:spAutoFit/>
          </a:bodyPr>
          <a:lstStyle/>
          <a:p>
            <a:pPr algn="ctr"/>
            <a:r>
              <a:rPr lang="en-US" dirty="0">
                <a:solidFill>
                  <a:schemeClr val="bg1"/>
                </a:solidFill>
                <a:latin typeface="Montserrat" pitchFamily="2" charset="77"/>
              </a:rPr>
              <a:t>Tier 3 Stores</a:t>
            </a:r>
          </a:p>
        </p:txBody>
      </p:sp>
    </p:spTree>
    <p:extLst>
      <p:ext uri="{BB962C8B-B14F-4D97-AF65-F5344CB8AC3E}">
        <p14:creationId xmlns:p14="http://schemas.microsoft.com/office/powerpoint/2010/main" val="282569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00000"/>
        </a:solidFill>
        <a:effectLst/>
      </p:bgPr>
    </p:bg>
    <p:spTree>
      <p:nvGrpSpPr>
        <p:cNvPr id="1" name="">
          <a:extLst>
            <a:ext uri="{FF2B5EF4-FFF2-40B4-BE49-F238E27FC236}">
              <a16:creationId xmlns:a16="http://schemas.microsoft.com/office/drawing/2014/main" id="{AC906A80-041A-F81F-253B-A4CBF443D494}"/>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546F4BBB-5260-EAE1-A4DE-2AE6D02B730C}"/>
              </a:ext>
            </a:extLst>
          </p:cNvPr>
          <p:cNvGrpSpPr/>
          <p:nvPr/>
        </p:nvGrpSpPr>
        <p:grpSpPr>
          <a:xfrm>
            <a:off x="973968" y="0"/>
            <a:ext cx="2823530" cy="6858000"/>
            <a:chOff x="9481484" y="0"/>
            <a:chExt cx="2823530" cy="6858000"/>
          </a:xfrm>
        </p:grpSpPr>
        <p:sp>
          <p:nvSpPr>
            <p:cNvPr id="18" name="Rectangle 17">
              <a:extLst>
                <a:ext uri="{FF2B5EF4-FFF2-40B4-BE49-F238E27FC236}">
                  <a16:creationId xmlns:a16="http://schemas.microsoft.com/office/drawing/2014/main" id="{9D592ABA-29F2-5051-9368-C7BFE4DF777A}"/>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B5D6116-9931-8F91-000E-CA3D0769D7CA}"/>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2151A19B-9596-0005-6CEF-91C3DCD7E8F8}"/>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55BF2A9D-ADF2-631B-B7E8-81085708F14D}"/>
              </a:ext>
            </a:extLst>
          </p:cNvPr>
          <p:cNvGrpSpPr/>
          <p:nvPr/>
        </p:nvGrpSpPr>
        <p:grpSpPr>
          <a:xfrm>
            <a:off x="457664" y="0"/>
            <a:ext cx="3713593" cy="6858000"/>
            <a:chOff x="6362018" y="0"/>
            <a:chExt cx="3713593" cy="6858000"/>
          </a:xfrm>
        </p:grpSpPr>
        <p:sp>
          <p:nvSpPr>
            <p:cNvPr id="17" name="Rectangle 16">
              <a:extLst>
                <a:ext uri="{FF2B5EF4-FFF2-40B4-BE49-F238E27FC236}">
                  <a16:creationId xmlns:a16="http://schemas.microsoft.com/office/drawing/2014/main" id="{C2103B24-3023-7F1A-4F8E-B4A1856FC614}"/>
                </a:ext>
              </a:extLst>
            </p:cNvPr>
            <p:cNvSpPr/>
            <p:nvPr/>
          </p:nvSpPr>
          <p:spPr>
            <a:xfrm>
              <a:off x="6362018"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A9E7B975-2165-3F16-BA06-8BF755AE2AE3}"/>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6C25664-3C9A-63EC-2ACB-2E465EC151C5}"/>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51B3125A-8726-A8E2-ECE9-A1D05961CE3E}"/>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209D2E4E-2D9F-1CF2-97AA-3F22B3B7039B}"/>
              </a:ext>
            </a:extLst>
          </p:cNvPr>
          <p:cNvGrpSpPr/>
          <p:nvPr/>
        </p:nvGrpSpPr>
        <p:grpSpPr>
          <a:xfrm>
            <a:off x="265902" y="0"/>
            <a:ext cx="3721672" cy="6889681"/>
            <a:chOff x="3188043" y="-1"/>
            <a:chExt cx="3721672" cy="6889681"/>
          </a:xfrm>
        </p:grpSpPr>
        <p:sp>
          <p:nvSpPr>
            <p:cNvPr id="16" name="Rectangle 15">
              <a:extLst>
                <a:ext uri="{FF2B5EF4-FFF2-40B4-BE49-F238E27FC236}">
                  <a16:creationId xmlns:a16="http://schemas.microsoft.com/office/drawing/2014/main" id="{3F113A53-9161-B699-9913-CD57A09C28F5}"/>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1E62F215-9A90-7322-1477-BB4B68105253}"/>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D411740-9689-E99A-DD5D-4A761D96708D}"/>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87C4B986-0590-F30F-021E-09E4D210853B}"/>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10" name="TextBox 9">
            <a:extLst>
              <a:ext uri="{FF2B5EF4-FFF2-40B4-BE49-F238E27FC236}">
                <a16:creationId xmlns:a16="http://schemas.microsoft.com/office/drawing/2014/main" id="{1BAB7FB3-EF65-F8B9-56EA-3F01777F65B6}"/>
              </a:ext>
            </a:extLst>
          </p:cNvPr>
          <p:cNvSpPr txBox="1"/>
          <p:nvPr/>
        </p:nvSpPr>
        <p:spPr>
          <a:xfrm>
            <a:off x="4642338" y="902267"/>
            <a:ext cx="5317588" cy="923330"/>
          </a:xfrm>
          <a:prstGeom prst="rect">
            <a:avLst/>
          </a:prstGeom>
          <a:noFill/>
        </p:spPr>
        <p:txBody>
          <a:bodyPr wrap="square" rtlCol="0">
            <a:spAutoFit/>
          </a:bodyPr>
          <a:lstStyle/>
          <a:p>
            <a:r>
              <a:rPr lang="en-US" dirty="0">
                <a:solidFill>
                  <a:schemeClr val="bg1"/>
                </a:solidFill>
                <a:latin typeface="Montserrat" pitchFamily="2" charset="77"/>
              </a:rPr>
              <a:t>Goal: Use machine learning models to help with predicting the priority of an item for the following year</a:t>
            </a:r>
          </a:p>
        </p:txBody>
      </p:sp>
      <p:sp>
        <p:nvSpPr>
          <p:cNvPr id="11" name="TextBox 10">
            <a:extLst>
              <a:ext uri="{FF2B5EF4-FFF2-40B4-BE49-F238E27FC236}">
                <a16:creationId xmlns:a16="http://schemas.microsoft.com/office/drawing/2014/main" id="{E70ABE47-C139-E0DC-5637-ED55BA3301C3}"/>
              </a:ext>
            </a:extLst>
          </p:cNvPr>
          <p:cNvSpPr txBox="1"/>
          <p:nvPr/>
        </p:nvSpPr>
        <p:spPr>
          <a:xfrm>
            <a:off x="4541518" y="2210090"/>
            <a:ext cx="6178063" cy="1200329"/>
          </a:xfrm>
          <a:prstGeom prst="rect">
            <a:avLst/>
          </a:prstGeom>
          <a:noFill/>
        </p:spPr>
        <p:txBody>
          <a:bodyPr wrap="square" rtlCol="0">
            <a:spAutoFit/>
          </a:bodyPr>
          <a:lstStyle/>
          <a:p>
            <a:pPr algn="ctr"/>
            <a:r>
              <a:rPr lang="en-US" dirty="0">
                <a:solidFill>
                  <a:schemeClr val="bg1"/>
                </a:solidFill>
                <a:latin typeface="Montserrat" pitchFamily="2" charset="77"/>
              </a:rPr>
              <a:t>Formula Used: </a:t>
            </a:r>
          </a:p>
          <a:p>
            <a:r>
              <a:rPr lang="en-US" dirty="0" err="1">
                <a:solidFill>
                  <a:schemeClr val="bg1"/>
                </a:solidFill>
                <a:latin typeface="Montserrat" pitchFamily="2" charset="77"/>
              </a:rPr>
              <a:t>next_priority</a:t>
            </a:r>
            <a:r>
              <a:rPr lang="en-US" dirty="0">
                <a:solidFill>
                  <a:schemeClr val="bg1"/>
                </a:solidFill>
                <a:latin typeface="Montserrat" pitchFamily="2" charset="77"/>
              </a:rPr>
              <a:t> ~ </a:t>
            </a:r>
            <a:r>
              <a:rPr lang="en-US" dirty="0" err="1">
                <a:solidFill>
                  <a:schemeClr val="bg1"/>
                </a:solidFill>
                <a:latin typeface="Montserrat" pitchFamily="2" charset="77"/>
              </a:rPr>
              <a:t>total_netamount</a:t>
            </a:r>
            <a:r>
              <a:rPr lang="en-US" dirty="0">
                <a:solidFill>
                  <a:schemeClr val="bg1"/>
                </a:solidFill>
                <a:latin typeface="Montserrat" pitchFamily="2" charset="77"/>
              </a:rPr>
              <a:t> + </a:t>
            </a:r>
            <a:r>
              <a:rPr lang="en-US" dirty="0" err="1">
                <a:solidFill>
                  <a:schemeClr val="bg1"/>
                </a:solidFill>
                <a:latin typeface="Montserrat" pitchFamily="2" charset="77"/>
              </a:rPr>
              <a:t>total_lineqty</a:t>
            </a:r>
            <a:r>
              <a:rPr lang="en-US" dirty="0">
                <a:solidFill>
                  <a:schemeClr val="bg1"/>
                </a:solidFill>
                <a:latin typeface="Montserrat" pitchFamily="2" charset="77"/>
              </a:rPr>
              <a:t> + </a:t>
            </a:r>
            <a:r>
              <a:rPr lang="en-US" dirty="0" err="1">
                <a:solidFill>
                  <a:schemeClr val="bg1"/>
                </a:solidFill>
                <a:latin typeface="Montserrat" pitchFamily="2" charset="77"/>
              </a:rPr>
              <a:t>avg_cost</a:t>
            </a:r>
            <a:r>
              <a:rPr lang="en-US" dirty="0">
                <a:solidFill>
                  <a:schemeClr val="bg1"/>
                </a:solidFill>
                <a:latin typeface="Montserrat" pitchFamily="2" charset="77"/>
              </a:rPr>
              <a:t> + </a:t>
            </a:r>
            <a:r>
              <a:rPr lang="en-US" dirty="0" err="1">
                <a:solidFill>
                  <a:schemeClr val="bg1"/>
                </a:solidFill>
                <a:latin typeface="Montserrat" pitchFamily="2" charset="77"/>
              </a:rPr>
              <a:t>n_transactions</a:t>
            </a:r>
            <a:r>
              <a:rPr lang="en-US" dirty="0">
                <a:solidFill>
                  <a:schemeClr val="bg1"/>
                </a:solidFill>
                <a:latin typeface="Montserrat" pitchFamily="2" charset="77"/>
              </a:rPr>
              <a:t> + </a:t>
            </a:r>
            <a:r>
              <a:rPr lang="en-US" dirty="0" err="1">
                <a:solidFill>
                  <a:schemeClr val="bg1"/>
                </a:solidFill>
                <a:latin typeface="Montserrat" pitchFamily="2" charset="77"/>
              </a:rPr>
              <a:t>storetiercat</a:t>
            </a:r>
            <a:r>
              <a:rPr lang="en-US" dirty="0">
                <a:solidFill>
                  <a:schemeClr val="bg1"/>
                </a:solidFill>
                <a:latin typeface="Montserrat" pitchFamily="2" charset="77"/>
              </a:rPr>
              <a:t> + </a:t>
            </a:r>
            <a:r>
              <a:rPr lang="en-US" dirty="0" err="1">
                <a:solidFill>
                  <a:schemeClr val="bg1"/>
                </a:solidFill>
                <a:latin typeface="Montserrat" pitchFamily="2" charset="77"/>
              </a:rPr>
              <a:t>storesizecat</a:t>
            </a:r>
            <a:r>
              <a:rPr lang="en-US" dirty="0">
                <a:solidFill>
                  <a:schemeClr val="bg1"/>
                </a:solidFill>
                <a:latin typeface="Montserrat" pitchFamily="2" charset="77"/>
              </a:rPr>
              <a:t> + year</a:t>
            </a:r>
          </a:p>
        </p:txBody>
      </p:sp>
      <p:sp>
        <p:nvSpPr>
          <p:cNvPr id="22" name="TextBox 21">
            <a:extLst>
              <a:ext uri="{FF2B5EF4-FFF2-40B4-BE49-F238E27FC236}">
                <a16:creationId xmlns:a16="http://schemas.microsoft.com/office/drawing/2014/main" id="{63038342-AAAA-CD51-B79E-239AA45317DF}"/>
              </a:ext>
            </a:extLst>
          </p:cNvPr>
          <p:cNvSpPr txBox="1"/>
          <p:nvPr/>
        </p:nvSpPr>
        <p:spPr>
          <a:xfrm>
            <a:off x="4642338" y="3794912"/>
            <a:ext cx="6178063" cy="2031325"/>
          </a:xfrm>
          <a:prstGeom prst="rect">
            <a:avLst/>
          </a:prstGeom>
          <a:noFill/>
        </p:spPr>
        <p:txBody>
          <a:bodyPr wrap="square" rtlCol="0">
            <a:spAutoFit/>
          </a:bodyPr>
          <a:lstStyle/>
          <a:p>
            <a:pPr algn="ctr"/>
            <a:r>
              <a:rPr lang="en-US" dirty="0">
                <a:solidFill>
                  <a:schemeClr val="bg1"/>
                </a:solidFill>
                <a:latin typeface="Montserrat" pitchFamily="2" charset="77"/>
              </a:rPr>
              <a:t>Models Used: </a:t>
            </a:r>
          </a:p>
          <a:p>
            <a:pPr marL="285750" indent="-285750">
              <a:buFont typeface="Arial" panose="020B0604020202020204" pitchFamily="34" charset="0"/>
              <a:buChar char="•"/>
            </a:pPr>
            <a:r>
              <a:rPr lang="en-US" dirty="0">
                <a:solidFill>
                  <a:schemeClr val="bg1"/>
                </a:solidFill>
                <a:latin typeface="Montserrat" pitchFamily="2" charset="77"/>
              </a:rPr>
              <a:t>Multinomial</a:t>
            </a:r>
          </a:p>
          <a:p>
            <a:pPr marL="285750" indent="-285750">
              <a:buFont typeface="Arial" panose="020B0604020202020204" pitchFamily="34" charset="0"/>
              <a:buChar char="•"/>
            </a:pPr>
            <a:r>
              <a:rPr lang="en-US" dirty="0">
                <a:solidFill>
                  <a:schemeClr val="bg1"/>
                </a:solidFill>
                <a:latin typeface="Montserrat" pitchFamily="2" charset="77"/>
              </a:rPr>
              <a:t>Linear Discriminate Analysis</a:t>
            </a:r>
          </a:p>
          <a:p>
            <a:pPr marL="285750" indent="-285750">
              <a:buFont typeface="Arial" panose="020B0604020202020204" pitchFamily="34" charset="0"/>
              <a:buChar char="•"/>
            </a:pPr>
            <a:r>
              <a:rPr lang="en-US" dirty="0">
                <a:solidFill>
                  <a:schemeClr val="bg1"/>
                </a:solidFill>
                <a:latin typeface="Montserrat" pitchFamily="2" charset="77"/>
              </a:rPr>
              <a:t>Decision Tree</a:t>
            </a:r>
          </a:p>
          <a:p>
            <a:pPr marL="285750" indent="-285750">
              <a:buFont typeface="Arial" panose="020B0604020202020204" pitchFamily="34" charset="0"/>
              <a:buChar char="•"/>
            </a:pPr>
            <a:r>
              <a:rPr lang="en-US" dirty="0">
                <a:solidFill>
                  <a:schemeClr val="bg1"/>
                </a:solidFill>
                <a:latin typeface="Montserrat" pitchFamily="2" charset="77"/>
              </a:rPr>
              <a:t>Random Forest</a:t>
            </a:r>
          </a:p>
          <a:p>
            <a:pPr marL="285750" indent="-285750">
              <a:buFont typeface="Arial" panose="020B0604020202020204" pitchFamily="34" charset="0"/>
              <a:buChar char="•"/>
            </a:pPr>
            <a:r>
              <a:rPr lang="en-US" dirty="0">
                <a:solidFill>
                  <a:schemeClr val="bg1"/>
                </a:solidFill>
                <a:latin typeface="Montserrat" pitchFamily="2" charset="77"/>
              </a:rPr>
              <a:t>K Nearest Neighbors</a:t>
            </a:r>
          </a:p>
          <a:p>
            <a:pPr marL="285750" indent="-285750">
              <a:buFont typeface="Arial" panose="020B0604020202020204" pitchFamily="34" charset="0"/>
              <a:buChar char="•"/>
            </a:pPr>
            <a:r>
              <a:rPr lang="en-US" dirty="0">
                <a:solidFill>
                  <a:schemeClr val="bg1"/>
                </a:solidFill>
                <a:latin typeface="Montserrat" pitchFamily="2" charset="77"/>
              </a:rPr>
              <a:t>Artificial Neural Networks</a:t>
            </a:r>
          </a:p>
        </p:txBody>
      </p:sp>
    </p:spTree>
    <p:extLst>
      <p:ext uri="{BB962C8B-B14F-4D97-AF65-F5344CB8AC3E}">
        <p14:creationId xmlns:p14="http://schemas.microsoft.com/office/powerpoint/2010/main" val="3626576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00000"/>
        </a:solidFill>
        <a:effectLst/>
      </p:bgPr>
    </p:bg>
    <p:spTree>
      <p:nvGrpSpPr>
        <p:cNvPr id="1" name="">
          <a:extLst>
            <a:ext uri="{FF2B5EF4-FFF2-40B4-BE49-F238E27FC236}">
              <a16:creationId xmlns:a16="http://schemas.microsoft.com/office/drawing/2014/main" id="{46998647-26B2-50FD-E436-7A1D67F871B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C29A72BA-05C6-7691-361C-15095A03A7DE}"/>
              </a:ext>
            </a:extLst>
          </p:cNvPr>
          <p:cNvGrpSpPr/>
          <p:nvPr/>
        </p:nvGrpSpPr>
        <p:grpSpPr>
          <a:xfrm>
            <a:off x="-2219401" y="0"/>
            <a:ext cx="2823530" cy="6858000"/>
            <a:chOff x="9481484" y="0"/>
            <a:chExt cx="2823530" cy="6858000"/>
          </a:xfrm>
        </p:grpSpPr>
        <p:sp>
          <p:nvSpPr>
            <p:cNvPr id="18" name="Rectangle 17">
              <a:extLst>
                <a:ext uri="{FF2B5EF4-FFF2-40B4-BE49-F238E27FC236}">
                  <a16:creationId xmlns:a16="http://schemas.microsoft.com/office/drawing/2014/main" id="{BA6AF394-C301-1651-F96C-2FB57D92A458}"/>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486AE7-EDF4-481A-FA44-37E373F9693B}"/>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BE31B34C-F837-8090-585D-0741E58F73DB}"/>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5" name="Group 14">
            <a:extLst>
              <a:ext uri="{FF2B5EF4-FFF2-40B4-BE49-F238E27FC236}">
                <a16:creationId xmlns:a16="http://schemas.microsoft.com/office/drawing/2014/main" id="{58644E2E-F4D8-6C5C-311C-3FFE8725F951}"/>
              </a:ext>
            </a:extLst>
          </p:cNvPr>
          <p:cNvGrpSpPr/>
          <p:nvPr/>
        </p:nvGrpSpPr>
        <p:grpSpPr>
          <a:xfrm>
            <a:off x="-2738915" y="0"/>
            <a:ext cx="3713593" cy="6858000"/>
            <a:chOff x="6362018" y="0"/>
            <a:chExt cx="3713593" cy="6858000"/>
          </a:xfrm>
        </p:grpSpPr>
        <p:sp>
          <p:nvSpPr>
            <p:cNvPr id="17" name="Rectangle 16">
              <a:extLst>
                <a:ext uri="{FF2B5EF4-FFF2-40B4-BE49-F238E27FC236}">
                  <a16:creationId xmlns:a16="http://schemas.microsoft.com/office/drawing/2014/main" id="{E8084CC6-2C5B-19CE-F496-6FC3DAF38B7C}"/>
                </a:ext>
              </a:extLst>
            </p:cNvPr>
            <p:cNvSpPr/>
            <p:nvPr/>
          </p:nvSpPr>
          <p:spPr>
            <a:xfrm>
              <a:off x="6362018"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931B59E6-D18A-944C-030B-0C2295FED230}"/>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E653F2-8BC3-2F27-BEDB-2E69C7AFF0A0}"/>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E6DBD126-1D0E-74B1-2298-1B37C6710199}"/>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grpSp>
        <p:nvGrpSpPr>
          <p:cNvPr id="14" name="Group 13">
            <a:extLst>
              <a:ext uri="{FF2B5EF4-FFF2-40B4-BE49-F238E27FC236}">
                <a16:creationId xmlns:a16="http://schemas.microsoft.com/office/drawing/2014/main" id="{D9908C38-0A32-977C-DF82-7022DFD42547}"/>
              </a:ext>
            </a:extLst>
          </p:cNvPr>
          <p:cNvGrpSpPr/>
          <p:nvPr/>
        </p:nvGrpSpPr>
        <p:grpSpPr>
          <a:xfrm>
            <a:off x="-2983737" y="0"/>
            <a:ext cx="3721672" cy="6889681"/>
            <a:chOff x="3188043" y="-1"/>
            <a:chExt cx="3721672" cy="6889681"/>
          </a:xfrm>
        </p:grpSpPr>
        <p:sp>
          <p:nvSpPr>
            <p:cNvPr id="16" name="Rectangle 15">
              <a:extLst>
                <a:ext uri="{FF2B5EF4-FFF2-40B4-BE49-F238E27FC236}">
                  <a16:creationId xmlns:a16="http://schemas.microsoft.com/office/drawing/2014/main" id="{DEC0224B-3230-4A31-CFB1-6B67662CDBB1}"/>
                </a:ext>
              </a:extLst>
            </p:cNvPr>
            <p:cNvSpPr/>
            <p:nvPr/>
          </p:nvSpPr>
          <p:spPr>
            <a:xfrm>
              <a:off x="3188043" y="-1"/>
              <a:ext cx="3188043" cy="6858000"/>
            </a:xfrm>
            <a:prstGeom prst="rect">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BC0FD7B9-607C-EC89-4E4A-A343718BABB9}"/>
                </a:ext>
              </a:extLst>
            </p:cNvPr>
            <p:cNvSpPr/>
            <p:nvPr/>
          </p:nvSpPr>
          <p:spPr>
            <a:xfrm rot="5400000">
              <a:off x="6060188" y="1142339"/>
              <a:ext cx="1105930" cy="593125"/>
            </a:xfrm>
            <a:prstGeom prst="triangle">
              <a:avLst/>
            </a:prstGeom>
            <a:solidFill>
              <a:srgbClr val="D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CB6259F-ABD2-9B93-C818-D89E4ABA35BB}"/>
                </a:ext>
              </a:extLst>
            </p:cNvPr>
            <p:cNvSpPr txBox="1"/>
            <p:nvPr/>
          </p:nvSpPr>
          <p:spPr>
            <a:xfrm>
              <a:off x="3303655"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B</a:t>
              </a:r>
              <a:endParaRPr lang="en-US" sz="8000" b="1" dirty="0">
                <a:solidFill>
                  <a:schemeClr val="bg1"/>
                </a:solidFill>
                <a:latin typeface="Montserrat Black" pitchFamily="2" charset="77"/>
              </a:endParaRPr>
            </a:p>
          </p:txBody>
        </p:sp>
        <p:sp>
          <p:nvSpPr>
            <p:cNvPr id="5" name="TextBox 4">
              <a:extLst>
                <a:ext uri="{FF2B5EF4-FFF2-40B4-BE49-F238E27FC236}">
                  <a16:creationId xmlns:a16="http://schemas.microsoft.com/office/drawing/2014/main" id="{789680AC-3405-5DF9-1D85-628A9D6DC24C}"/>
                </a:ext>
              </a:extLst>
            </p:cNvPr>
            <p:cNvSpPr txBox="1"/>
            <p:nvPr/>
          </p:nvSpPr>
          <p:spPr>
            <a:xfrm>
              <a:off x="3370298" y="2242254"/>
              <a:ext cx="2823530" cy="4647426"/>
            </a:xfrm>
            <a:prstGeom prst="rect">
              <a:avLst/>
            </a:prstGeom>
            <a:noFill/>
          </p:spPr>
          <p:txBody>
            <a:bodyPr wrap="square" rtlCol="0">
              <a:spAutoFit/>
            </a:bodyPr>
            <a:lstStyle/>
            <a:p>
              <a:pPr algn="ctr"/>
              <a:r>
                <a:rPr lang="en-US" b="1" dirty="0">
                  <a:solidFill>
                    <a:schemeClr val="bg1"/>
                  </a:solidFill>
                  <a:latin typeface="Montserrat" pitchFamily="2" charset="77"/>
                </a:rPr>
                <a:t>Variable Engineering and Modeling</a:t>
              </a: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I created a new variable named “priority” by observing items in their dataset and separated items by three different tiers. High Priority items are the top 25% performing items globally, Medium priority the middle 50%, and low priority the lowest 25% performing items globally. The items are observed on a yearly basis. I then used priority as the main variable to create a formula for a machine learning model to help with predicting how items would perform in future years based on current performance. </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pic>
        <p:nvPicPr>
          <p:cNvPr id="3" name="Picture 2">
            <a:extLst>
              <a:ext uri="{FF2B5EF4-FFF2-40B4-BE49-F238E27FC236}">
                <a16:creationId xmlns:a16="http://schemas.microsoft.com/office/drawing/2014/main" id="{11892A80-D18B-69F4-E2E1-D0FAF5996C25}"/>
              </a:ext>
            </a:extLst>
          </p:cNvPr>
          <p:cNvPicPr>
            <a:picLocks noChangeAspect="1"/>
          </p:cNvPicPr>
          <p:nvPr/>
        </p:nvPicPr>
        <p:blipFill>
          <a:blip r:embed="rId3"/>
          <a:stretch>
            <a:fillRect/>
          </a:stretch>
        </p:blipFill>
        <p:spPr>
          <a:xfrm>
            <a:off x="1051287" y="604912"/>
            <a:ext cx="6631430" cy="2407100"/>
          </a:xfrm>
          <a:prstGeom prst="rect">
            <a:avLst/>
          </a:prstGeom>
        </p:spPr>
      </p:pic>
      <p:sp>
        <p:nvSpPr>
          <p:cNvPr id="12" name="TextBox 11">
            <a:extLst>
              <a:ext uri="{FF2B5EF4-FFF2-40B4-BE49-F238E27FC236}">
                <a16:creationId xmlns:a16="http://schemas.microsoft.com/office/drawing/2014/main" id="{7B008550-8E8F-B60C-0E53-3815EED8CE5C}"/>
              </a:ext>
            </a:extLst>
          </p:cNvPr>
          <p:cNvSpPr txBox="1"/>
          <p:nvPr/>
        </p:nvSpPr>
        <p:spPr>
          <a:xfrm>
            <a:off x="7759325" y="1208297"/>
            <a:ext cx="4642339" cy="1200329"/>
          </a:xfrm>
          <a:prstGeom prst="rect">
            <a:avLst/>
          </a:prstGeom>
          <a:noFill/>
        </p:spPr>
        <p:txBody>
          <a:bodyPr wrap="square" rtlCol="0">
            <a:spAutoFit/>
          </a:bodyPr>
          <a:lstStyle/>
          <a:p>
            <a:r>
              <a:rPr lang="en-US" dirty="0">
                <a:solidFill>
                  <a:schemeClr val="bg1"/>
                </a:solidFill>
                <a:latin typeface="Montserrat" pitchFamily="2" charset="77"/>
              </a:rPr>
              <a:t>Random Forest Model was the best choice for the data set by a landslide with a high accuracy score of 99.86% and F1 Score of 0.998 (out of 1)</a:t>
            </a:r>
          </a:p>
        </p:txBody>
      </p:sp>
      <p:sp>
        <p:nvSpPr>
          <p:cNvPr id="13" name="TextBox 12">
            <a:extLst>
              <a:ext uri="{FF2B5EF4-FFF2-40B4-BE49-F238E27FC236}">
                <a16:creationId xmlns:a16="http://schemas.microsoft.com/office/drawing/2014/main" id="{B9E29051-0DA1-8041-BEFB-5C65CECECD88}"/>
              </a:ext>
            </a:extLst>
          </p:cNvPr>
          <p:cNvSpPr txBox="1"/>
          <p:nvPr/>
        </p:nvSpPr>
        <p:spPr>
          <a:xfrm>
            <a:off x="1163507" y="3550305"/>
            <a:ext cx="9864986" cy="2031325"/>
          </a:xfrm>
          <a:prstGeom prst="rect">
            <a:avLst/>
          </a:prstGeom>
          <a:noFill/>
        </p:spPr>
        <p:txBody>
          <a:bodyPr wrap="square" rtlCol="0">
            <a:spAutoFit/>
          </a:bodyPr>
          <a:lstStyle/>
          <a:p>
            <a:pPr algn="ctr"/>
            <a:r>
              <a:rPr lang="en-US" dirty="0">
                <a:solidFill>
                  <a:schemeClr val="bg1"/>
                </a:solidFill>
                <a:latin typeface="Montserrat" pitchFamily="2" charset="77"/>
              </a:rPr>
              <a:t>To give a basic explanation on what a Random Forest Model does:</a:t>
            </a:r>
          </a:p>
          <a:p>
            <a:pPr algn="ctr"/>
            <a:endParaRPr lang="en-US" dirty="0">
              <a:solidFill>
                <a:schemeClr val="bg1"/>
              </a:solidFill>
              <a:latin typeface="Montserrat" pitchFamily="2" charset="77"/>
            </a:endParaRPr>
          </a:p>
          <a:p>
            <a:r>
              <a:rPr lang="en-US" dirty="0">
                <a:solidFill>
                  <a:schemeClr val="bg1"/>
                </a:solidFill>
                <a:latin typeface="Montserrat" pitchFamily="2" charset="77"/>
              </a:rPr>
              <a:t>A random forest is a method that makes predictions by combining many simple decision trees. Each tree looks at different pieces of the data and makes its own guess. The model then puts all the guesses together and chooses the answer that most trees agree on. By using many trees instead of just one, the random forest gives more stable and accurate results, even when the data is messy or unclear.</a:t>
            </a:r>
          </a:p>
        </p:txBody>
      </p:sp>
    </p:spTree>
    <p:extLst>
      <p:ext uri="{BB962C8B-B14F-4D97-AF65-F5344CB8AC3E}">
        <p14:creationId xmlns:p14="http://schemas.microsoft.com/office/powerpoint/2010/main" val="1988405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30004"/>
        </a:solidFill>
        <a:effectLst/>
      </p:bgPr>
    </p:bg>
    <p:spTree>
      <p:nvGrpSpPr>
        <p:cNvPr id="1" name="">
          <a:extLst>
            <a:ext uri="{FF2B5EF4-FFF2-40B4-BE49-F238E27FC236}">
              <a16:creationId xmlns:a16="http://schemas.microsoft.com/office/drawing/2014/main" id="{0E4D78DD-BA0A-B2AF-5B88-90016F887F7E}"/>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D2F0DC8D-5743-869D-2714-5A834DFEF925}"/>
              </a:ext>
            </a:extLst>
          </p:cNvPr>
          <p:cNvGrpSpPr/>
          <p:nvPr/>
        </p:nvGrpSpPr>
        <p:grpSpPr>
          <a:xfrm>
            <a:off x="509719" y="0"/>
            <a:ext cx="3306512" cy="6858000"/>
            <a:chOff x="509727" y="0"/>
            <a:chExt cx="3306512" cy="6858000"/>
          </a:xfrm>
        </p:grpSpPr>
        <p:grpSp>
          <p:nvGrpSpPr>
            <p:cNvPr id="23" name="Group 22">
              <a:extLst>
                <a:ext uri="{FF2B5EF4-FFF2-40B4-BE49-F238E27FC236}">
                  <a16:creationId xmlns:a16="http://schemas.microsoft.com/office/drawing/2014/main" id="{07BBACDB-320A-4975-3C27-253B2E378F8A}"/>
                </a:ext>
              </a:extLst>
            </p:cNvPr>
            <p:cNvGrpSpPr/>
            <p:nvPr/>
          </p:nvGrpSpPr>
          <p:grpSpPr>
            <a:xfrm>
              <a:off x="509727" y="0"/>
              <a:ext cx="2823530" cy="6858000"/>
              <a:chOff x="9481484" y="0"/>
              <a:chExt cx="2823530" cy="6858000"/>
            </a:xfrm>
          </p:grpSpPr>
          <p:sp>
            <p:nvSpPr>
              <p:cNvPr id="18" name="Rectangle 17">
                <a:extLst>
                  <a:ext uri="{FF2B5EF4-FFF2-40B4-BE49-F238E27FC236}">
                    <a16:creationId xmlns:a16="http://schemas.microsoft.com/office/drawing/2014/main" id="{EF7848E5-D224-8A53-CAA7-C77D5BC1CA04}"/>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214A599-DE44-CDB3-2805-A7B0CF57B691}"/>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9E276AC6-6FE7-2BB5-9CB5-5259CF2D669A}"/>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10" name="Triangle 9">
              <a:extLst>
                <a:ext uri="{FF2B5EF4-FFF2-40B4-BE49-F238E27FC236}">
                  <a16:creationId xmlns:a16="http://schemas.microsoft.com/office/drawing/2014/main" id="{7824DBF2-BFDB-C498-B92D-6D48D296AE4E}"/>
                </a:ext>
              </a:extLst>
            </p:cNvPr>
            <p:cNvSpPr/>
            <p:nvPr/>
          </p:nvSpPr>
          <p:spPr>
            <a:xfrm rot="5400000">
              <a:off x="2932110" y="1124069"/>
              <a:ext cx="1105931" cy="662327"/>
            </a:xfrm>
            <a:prstGeom prst="triangle">
              <a:avLst>
                <a:gd name="adj" fmla="val 49675"/>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97DBFC62-26B6-C478-CA2C-98F6EF5E057E}"/>
              </a:ext>
            </a:extLst>
          </p:cNvPr>
          <p:cNvGrpSpPr/>
          <p:nvPr/>
        </p:nvGrpSpPr>
        <p:grpSpPr>
          <a:xfrm>
            <a:off x="-9786" y="0"/>
            <a:ext cx="3713593" cy="6858000"/>
            <a:chOff x="6362018" y="0"/>
            <a:chExt cx="3713593" cy="6858000"/>
          </a:xfrm>
        </p:grpSpPr>
        <p:sp>
          <p:nvSpPr>
            <p:cNvPr id="17" name="Rectangle 16">
              <a:extLst>
                <a:ext uri="{FF2B5EF4-FFF2-40B4-BE49-F238E27FC236}">
                  <a16:creationId xmlns:a16="http://schemas.microsoft.com/office/drawing/2014/main" id="{6AB84285-8FC4-F8CF-A044-F43BEDA7AD51}"/>
                </a:ext>
              </a:extLst>
            </p:cNvPr>
            <p:cNvSpPr/>
            <p:nvPr/>
          </p:nvSpPr>
          <p:spPr>
            <a:xfrm>
              <a:off x="6362018"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4BA831D2-7A9B-2B1A-8F88-1AABE0F2EB9C}"/>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2636ECE-B070-6554-1A61-AFCF3306EE9F}"/>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C2009DB7-AEE4-D520-226C-B4B3851DCF99}"/>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2" name="TextBox 1">
            <a:extLst>
              <a:ext uri="{FF2B5EF4-FFF2-40B4-BE49-F238E27FC236}">
                <a16:creationId xmlns:a16="http://schemas.microsoft.com/office/drawing/2014/main" id="{FB2B7C15-7028-D382-101A-4A0F451056BD}"/>
              </a:ext>
            </a:extLst>
          </p:cNvPr>
          <p:cNvSpPr txBox="1"/>
          <p:nvPr/>
        </p:nvSpPr>
        <p:spPr>
          <a:xfrm>
            <a:off x="3737779" y="289679"/>
            <a:ext cx="5177384" cy="3139321"/>
          </a:xfrm>
          <a:prstGeom prst="rect">
            <a:avLst/>
          </a:prstGeom>
          <a:noFill/>
        </p:spPr>
        <p:txBody>
          <a:bodyPr wrap="square" rtlCol="0">
            <a:spAutoFit/>
          </a:bodyPr>
          <a:lstStyle/>
          <a:p>
            <a:pPr algn="ctr"/>
            <a:r>
              <a:rPr lang="en-US" b="1" dirty="0">
                <a:solidFill>
                  <a:schemeClr val="bg1"/>
                </a:solidFill>
                <a:latin typeface="Montserrat" pitchFamily="2" charset="77"/>
              </a:rPr>
              <a:t>Inventory Parameters</a:t>
            </a:r>
          </a:p>
          <a:p>
            <a:pPr algn="ctr"/>
            <a:endParaRPr lang="en-US" dirty="0">
              <a:solidFill>
                <a:schemeClr val="bg1"/>
              </a:solidFill>
              <a:latin typeface="Montserrat" pitchFamily="2" charset="77"/>
            </a:endParaRPr>
          </a:p>
          <a:p>
            <a:pPr marL="285750" indent="-285750">
              <a:buFont typeface="Arial" panose="020B0604020202020204" pitchFamily="34" charset="0"/>
              <a:buChar char="•"/>
            </a:pPr>
            <a:r>
              <a:rPr lang="en-US" dirty="0">
                <a:solidFill>
                  <a:schemeClr val="bg1"/>
                </a:solidFill>
                <a:latin typeface="Montserrat" pitchFamily="2" charset="77"/>
              </a:rPr>
              <a:t>Tier 1 stores should be at minimum 55% high priority items, 30% medium priority items, and 15% low priority items</a:t>
            </a:r>
          </a:p>
          <a:p>
            <a:pPr marL="285750" indent="-285750">
              <a:buFont typeface="Arial" panose="020B0604020202020204" pitchFamily="34" charset="0"/>
              <a:buChar char="•"/>
            </a:pPr>
            <a:r>
              <a:rPr lang="en-US" dirty="0">
                <a:solidFill>
                  <a:schemeClr val="bg1"/>
                </a:solidFill>
                <a:latin typeface="Montserrat" pitchFamily="2" charset="77"/>
              </a:rPr>
              <a:t>Tier 2 stores should be at minimum 75% high priority items, 20% medium priority items, and 5% low priority items</a:t>
            </a:r>
          </a:p>
          <a:p>
            <a:pPr marL="285750" indent="-285750">
              <a:buFont typeface="Arial" panose="020B0604020202020204" pitchFamily="34" charset="0"/>
              <a:buChar char="•"/>
            </a:pPr>
            <a:r>
              <a:rPr lang="en-US" dirty="0">
                <a:solidFill>
                  <a:schemeClr val="bg1"/>
                </a:solidFill>
                <a:latin typeface="Montserrat" pitchFamily="2" charset="77"/>
              </a:rPr>
              <a:t>Tier 3 stores should be at minimum 85% high priority items, 15% medium priority items, and 0% low priority items</a:t>
            </a:r>
          </a:p>
        </p:txBody>
      </p:sp>
      <p:sp>
        <p:nvSpPr>
          <p:cNvPr id="19" name="TextBox 18">
            <a:extLst>
              <a:ext uri="{FF2B5EF4-FFF2-40B4-BE49-F238E27FC236}">
                <a16:creationId xmlns:a16="http://schemas.microsoft.com/office/drawing/2014/main" id="{999FD84F-99EE-2F69-8C30-B914F4C8388B}"/>
              </a:ext>
            </a:extLst>
          </p:cNvPr>
          <p:cNvSpPr txBox="1"/>
          <p:nvPr/>
        </p:nvSpPr>
        <p:spPr>
          <a:xfrm>
            <a:off x="3935399" y="3429000"/>
            <a:ext cx="5739619" cy="3139321"/>
          </a:xfrm>
          <a:prstGeom prst="rect">
            <a:avLst/>
          </a:prstGeom>
          <a:noFill/>
        </p:spPr>
        <p:txBody>
          <a:bodyPr wrap="square" rtlCol="0">
            <a:spAutoFit/>
          </a:bodyPr>
          <a:lstStyle/>
          <a:p>
            <a:pPr algn="ctr"/>
            <a:endParaRPr lang="en-US" dirty="0">
              <a:solidFill>
                <a:schemeClr val="bg1"/>
              </a:solidFill>
              <a:latin typeface="Montserrat" pitchFamily="2" charset="77"/>
            </a:endParaRPr>
          </a:p>
          <a:p>
            <a:r>
              <a:rPr lang="en-US" dirty="0">
                <a:solidFill>
                  <a:schemeClr val="bg1"/>
                </a:solidFill>
                <a:latin typeface="Montserrat" pitchFamily="2" charset="77"/>
              </a:rPr>
              <a:t>Final CSV file provided the following:</a:t>
            </a:r>
          </a:p>
          <a:p>
            <a:pPr marL="285750" indent="-285750">
              <a:buFont typeface="Arial" panose="020B0604020202020204" pitchFamily="34" charset="0"/>
              <a:buChar char="•"/>
            </a:pPr>
            <a:endParaRPr lang="en-US" dirty="0">
              <a:solidFill>
                <a:schemeClr val="bg1"/>
              </a:solidFill>
              <a:latin typeface="Montserrat" pitchFamily="2" charset="77"/>
            </a:endParaRPr>
          </a:p>
          <a:p>
            <a:pPr marL="285750" indent="-285750">
              <a:buFont typeface="Arial" panose="020B0604020202020204" pitchFamily="34" charset="0"/>
              <a:buChar char="•"/>
            </a:pPr>
            <a:r>
              <a:rPr lang="en-US" dirty="0">
                <a:solidFill>
                  <a:schemeClr val="bg1"/>
                </a:solidFill>
                <a:latin typeface="Montserrat" pitchFamily="2" charset="77"/>
              </a:rPr>
              <a:t>Store Information (Store, Store tier, SKU count)</a:t>
            </a:r>
          </a:p>
          <a:p>
            <a:pPr marL="285750" indent="-285750">
              <a:buFont typeface="Arial" panose="020B0604020202020204" pitchFamily="34" charset="0"/>
              <a:buChar char="•"/>
            </a:pPr>
            <a:r>
              <a:rPr lang="en-US" dirty="0">
                <a:solidFill>
                  <a:schemeClr val="bg1"/>
                </a:solidFill>
                <a:latin typeface="Montserrat" pitchFamily="2" charset="77"/>
              </a:rPr>
              <a:t>Item Information (Item ID, Priority)</a:t>
            </a:r>
          </a:p>
          <a:p>
            <a:pPr marL="285750" indent="-285750">
              <a:buFont typeface="Arial" panose="020B0604020202020204" pitchFamily="34" charset="0"/>
              <a:buChar char="•"/>
            </a:pPr>
            <a:r>
              <a:rPr lang="en-US" dirty="0">
                <a:solidFill>
                  <a:schemeClr val="bg1"/>
                </a:solidFill>
                <a:latin typeface="Montserrat" pitchFamily="2" charset="77"/>
              </a:rPr>
              <a:t>Predictive Information (Recommended number of priority per store, fill rates and percentages per priority)</a:t>
            </a:r>
          </a:p>
          <a:p>
            <a:pPr marL="285750" indent="-285750">
              <a:buFont typeface="Arial" panose="020B0604020202020204" pitchFamily="34" charset="0"/>
              <a:buChar char="•"/>
            </a:pPr>
            <a:r>
              <a:rPr lang="en-US" dirty="0">
                <a:solidFill>
                  <a:schemeClr val="bg1"/>
                </a:solidFill>
                <a:latin typeface="Montserrat" pitchFamily="2" charset="77"/>
              </a:rPr>
              <a:t>Quotas (pass/fail for low, medium, and high and if store passes quota overall)</a:t>
            </a:r>
          </a:p>
        </p:txBody>
      </p:sp>
    </p:spTree>
    <p:extLst>
      <p:ext uri="{BB962C8B-B14F-4D97-AF65-F5344CB8AC3E}">
        <p14:creationId xmlns:p14="http://schemas.microsoft.com/office/powerpoint/2010/main" val="2442007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30004"/>
        </a:solidFill>
        <a:effectLst/>
      </p:bgPr>
    </p:bg>
    <p:spTree>
      <p:nvGrpSpPr>
        <p:cNvPr id="1" name="">
          <a:extLst>
            <a:ext uri="{FF2B5EF4-FFF2-40B4-BE49-F238E27FC236}">
              <a16:creationId xmlns:a16="http://schemas.microsoft.com/office/drawing/2014/main" id="{3C811BFA-5FF7-57B9-51BC-5425A5168F3E}"/>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12522370-C55E-07DA-754C-3BBA555BAE2E}"/>
              </a:ext>
            </a:extLst>
          </p:cNvPr>
          <p:cNvGrpSpPr/>
          <p:nvPr/>
        </p:nvGrpSpPr>
        <p:grpSpPr>
          <a:xfrm>
            <a:off x="-2585177" y="0"/>
            <a:ext cx="3306512" cy="6858000"/>
            <a:chOff x="509727" y="0"/>
            <a:chExt cx="3306512" cy="6858000"/>
          </a:xfrm>
        </p:grpSpPr>
        <p:grpSp>
          <p:nvGrpSpPr>
            <p:cNvPr id="23" name="Group 22">
              <a:extLst>
                <a:ext uri="{FF2B5EF4-FFF2-40B4-BE49-F238E27FC236}">
                  <a16:creationId xmlns:a16="http://schemas.microsoft.com/office/drawing/2014/main" id="{D06A907A-8122-BF4E-E49E-3002DD08B79B}"/>
                </a:ext>
              </a:extLst>
            </p:cNvPr>
            <p:cNvGrpSpPr/>
            <p:nvPr/>
          </p:nvGrpSpPr>
          <p:grpSpPr>
            <a:xfrm>
              <a:off x="509727" y="0"/>
              <a:ext cx="2823530" cy="6858000"/>
              <a:chOff x="9481484" y="0"/>
              <a:chExt cx="2823530" cy="6858000"/>
            </a:xfrm>
          </p:grpSpPr>
          <p:sp>
            <p:nvSpPr>
              <p:cNvPr id="18" name="Rectangle 17">
                <a:extLst>
                  <a:ext uri="{FF2B5EF4-FFF2-40B4-BE49-F238E27FC236}">
                    <a16:creationId xmlns:a16="http://schemas.microsoft.com/office/drawing/2014/main" id="{88C9A56D-852A-9BB9-5598-B677101452E8}"/>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DA81C5-7FA9-B27E-3779-B584CCA9DADD}"/>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6A4F084D-C92B-4435-CF4C-9D233A75F103}"/>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10" name="Triangle 9">
              <a:extLst>
                <a:ext uri="{FF2B5EF4-FFF2-40B4-BE49-F238E27FC236}">
                  <a16:creationId xmlns:a16="http://schemas.microsoft.com/office/drawing/2014/main" id="{1CAAB527-9E61-16D8-12B1-91A7C7BD8749}"/>
                </a:ext>
              </a:extLst>
            </p:cNvPr>
            <p:cNvSpPr/>
            <p:nvPr/>
          </p:nvSpPr>
          <p:spPr>
            <a:xfrm rot="5400000">
              <a:off x="2932110" y="1124069"/>
              <a:ext cx="1105931" cy="662327"/>
            </a:xfrm>
            <a:prstGeom prst="triangle">
              <a:avLst>
                <a:gd name="adj" fmla="val 49675"/>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D4DAD234-BB8E-5924-6355-C7AC4FAD448A}"/>
              </a:ext>
            </a:extLst>
          </p:cNvPr>
          <p:cNvGrpSpPr/>
          <p:nvPr/>
        </p:nvGrpSpPr>
        <p:grpSpPr>
          <a:xfrm>
            <a:off x="-3104681" y="0"/>
            <a:ext cx="3713593" cy="6858000"/>
            <a:chOff x="6362018" y="0"/>
            <a:chExt cx="3713593" cy="6858000"/>
          </a:xfrm>
        </p:grpSpPr>
        <p:sp>
          <p:nvSpPr>
            <p:cNvPr id="17" name="Rectangle 16">
              <a:extLst>
                <a:ext uri="{FF2B5EF4-FFF2-40B4-BE49-F238E27FC236}">
                  <a16:creationId xmlns:a16="http://schemas.microsoft.com/office/drawing/2014/main" id="{E7CBD3AE-20F5-A140-F073-2710104FE843}"/>
                </a:ext>
              </a:extLst>
            </p:cNvPr>
            <p:cNvSpPr/>
            <p:nvPr/>
          </p:nvSpPr>
          <p:spPr>
            <a:xfrm>
              <a:off x="6362018" y="0"/>
              <a:ext cx="3188043" cy="6858000"/>
            </a:xfrm>
            <a:prstGeom prst="rect">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44980304-98F7-0167-8BAC-842DD9E0ED6B}"/>
                </a:ext>
              </a:extLst>
            </p:cNvPr>
            <p:cNvSpPr/>
            <p:nvPr/>
          </p:nvSpPr>
          <p:spPr>
            <a:xfrm rot="5400000">
              <a:off x="9226084" y="1158670"/>
              <a:ext cx="1105930" cy="593125"/>
            </a:xfrm>
            <a:prstGeom prst="triangle">
              <a:avLst/>
            </a:prstGeom>
            <a:solidFill>
              <a:srgbClr val="A30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C9B4500-0335-B798-6DE5-AC467ACB9726}"/>
                </a:ext>
              </a:extLst>
            </p:cNvPr>
            <p:cNvSpPr txBox="1"/>
            <p:nvPr/>
          </p:nvSpPr>
          <p:spPr>
            <a:xfrm>
              <a:off x="6491698" y="477198"/>
              <a:ext cx="2956817"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C</a:t>
              </a:r>
              <a:endParaRPr lang="en-US" sz="8000" b="1" dirty="0">
                <a:solidFill>
                  <a:schemeClr val="bg1"/>
                </a:solidFill>
                <a:latin typeface="Montserrat Black" pitchFamily="2" charset="77"/>
              </a:endParaRPr>
            </a:p>
          </p:txBody>
        </p:sp>
        <p:sp>
          <p:nvSpPr>
            <p:cNvPr id="7" name="TextBox 6">
              <a:extLst>
                <a:ext uri="{FF2B5EF4-FFF2-40B4-BE49-F238E27FC236}">
                  <a16:creationId xmlns:a16="http://schemas.microsoft.com/office/drawing/2014/main" id="{D6C60C20-409E-DA38-F76C-99CFC8F4FA0D}"/>
                </a:ext>
              </a:extLst>
            </p:cNvPr>
            <p:cNvSpPr txBox="1"/>
            <p:nvPr/>
          </p:nvSpPr>
          <p:spPr>
            <a:xfrm>
              <a:off x="6558341" y="2227640"/>
              <a:ext cx="2823530" cy="4278094"/>
            </a:xfrm>
            <a:prstGeom prst="rect">
              <a:avLst/>
            </a:prstGeom>
            <a:noFill/>
          </p:spPr>
          <p:txBody>
            <a:bodyPr wrap="square" rtlCol="0">
              <a:spAutoFit/>
            </a:bodyPr>
            <a:lstStyle/>
            <a:p>
              <a:pPr algn="ctr"/>
              <a:r>
                <a:rPr lang="en-US" sz="2000" b="1" dirty="0">
                  <a:solidFill>
                    <a:schemeClr val="bg1"/>
                  </a:solidFill>
                  <a:latin typeface="Montserrat" pitchFamily="2" charset="77"/>
                </a:rPr>
                <a:t>Inventory Manager</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Used machine learning models to help with creating an inventory manager tool. The tool is provided in an R Studio quarto document, where the customer only needs to upload the most recent csv file and update chunks in areas that are noted then run every chunk to receive a new csv file which provides a list of items each store should hold based on available SKU counts for each individual store, priority and parameters I have set for each tier of store.</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pic>
        <p:nvPicPr>
          <p:cNvPr id="4" name="Picture 3" descr="A screenshot of a computer&#10;&#10;AI-generated content may be incorrect.">
            <a:extLst>
              <a:ext uri="{FF2B5EF4-FFF2-40B4-BE49-F238E27FC236}">
                <a16:creationId xmlns:a16="http://schemas.microsoft.com/office/drawing/2014/main" id="{0E5B415B-37AC-5FBD-0E93-BA41D1B999B8}"/>
              </a:ext>
            </a:extLst>
          </p:cNvPr>
          <p:cNvPicPr>
            <a:picLocks noChangeAspect="1"/>
          </p:cNvPicPr>
          <p:nvPr/>
        </p:nvPicPr>
        <p:blipFill>
          <a:blip r:embed="rId3"/>
          <a:stretch>
            <a:fillRect/>
          </a:stretch>
        </p:blipFill>
        <p:spPr>
          <a:xfrm>
            <a:off x="840502" y="1816218"/>
            <a:ext cx="10795719" cy="4542379"/>
          </a:xfrm>
          <a:prstGeom prst="rect">
            <a:avLst/>
          </a:prstGeom>
        </p:spPr>
      </p:pic>
      <p:sp>
        <p:nvSpPr>
          <p:cNvPr id="5" name="TextBox 4">
            <a:extLst>
              <a:ext uri="{FF2B5EF4-FFF2-40B4-BE49-F238E27FC236}">
                <a16:creationId xmlns:a16="http://schemas.microsoft.com/office/drawing/2014/main" id="{A1E449F6-8E96-7AE7-C036-474A5883469F}"/>
              </a:ext>
            </a:extLst>
          </p:cNvPr>
          <p:cNvSpPr txBox="1"/>
          <p:nvPr/>
        </p:nvSpPr>
        <p:spPr>
          <a:xfrm>
            <a:off x="2487636" y="1006234"/>
            <a:ext cx="7216727" cy="461665"/>
          </a:xfrm>
          <a:prstGeom prst="rect">
            <a:avLst/>
          </a:prstGeom>
          <a:noFill/>
        </p:spPr>
        <p:txBody>
          <a:bodyPr wrap="square" rtlCol="0">
            <a:spAutoFit/>
          </a:bodyPr>
          <a:lstStyle/>
          <a:p>
            <a:pPr algn="ctr"/>
            <a:r>
              <a:rPr lang="en-US" sz="2400" b="1" dirty="0">
                <a:solidFill>
                  <a:schemeClr val="bg1"/>
                </a:solidFill>
                <a:latin typeface="Montserrat" pitchFamily="2" charset="77"/>
              </a:rPr>
              <a:t>Sample of Final Output</a:t>
            </a:r>
          </a:p>
        </p:txBody>
      </p:sp>
    </p:spTree>
    <p:extLst>
      <p:ext uri="{BB962C8B-B14F-4D97-AF65-F5344CB8AC3E}">
        <p14:creationId xmlns:p14="http://schemas.microsoft.com/office/powerpoint/2010/main" val="2389303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0F00"/>
        </a:solidFill>
        <a:effectLst/>
      </p:bgPr>
    </p:bg>
    <p:spTree>
      <p:nvGrpSpPr>
        <p:cNvPr id="1" name="">
          <a:extLst>
            <a:ext uri="{FF2B5EF4-FFF2-40B4-BE49-F238E27FC236}">
              <a16:creationId xmlns:a16="http://schemas.microsoft.com/office/drawing/2014/main" id="{0AA49100-2DB0-7C7A-B396-DFC1D1098489}"/>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6F404902-E443-3932-2F33-23D5D6054C4E}"/>
              </a:ext>
            </a:extLst>
          </p:cNvPr>
          <p:cNvGrpSpPr/>
          <p:nvPr/>
        </p:nvGrpSpPr>
        <p:grpSpPr>
          <a:xfrm>
            <a:off x="-67059" y="0"/>
            <a:ext cx="3306512" cy="6858000"/>
            <a:chOff x="509727" y="0"/>
            <a:chExt cx="3306512" cy="6858000"/>
          </a:xfrm>
        </p:grpSpPr>
        <p:grpSp>
          <p:nvGrpSpPr>
            <p:cNvPr id="23" name="Group 22">
              <a:extLst>
                <a:ext uri="{FF2B5EF4-FFF2-40B4-BE49-F238E27FC236}">
                  <a16:creationId xmlns:a16="http://schemas.microsoft.com/office/drawing/2014/main" id="{9FF7CE8E-5E7C-C682-7BC3-712ED21F3C7F}"/>
                </a:ext>
              </a:extLst>
            </p:cNvPr>
            <p:cNvGrpSpPr/>
            <p:nvPr/>
          </p:nvGrpSpPr>
          <p:grpSpPr>
            <a:xfrm>
              <a:off x="509727" y="0"/>
              <a:ext cx="2823530" cy="6858000"/>
              <a:chOff x="9481484" y="0"/>
              <a:chExt cx="2823530" cy="6858000"/>
            </a:xfrm>
          </p:grpSpPr>
          <p:sp>
            <p:nvSpPr>
              <p:cNvPr id="18" name="Rectangle 17">
                <a:extLst>
                  <a:ext uri="{FF2B5EF4-FFF2-40B4-BE49-F238E27FC236}">
                    <a16:creationId xmlns:a16="http://schemas.microsoft.com/office/drawing/2014/main" id="{33C07CB5-AAD8-5624-B387-A04B7534A2B5}"/>
                  </a:ext>
                </a:extLst>
              </p:cNvPr>
              <p:cNvSpPr/>
              <p:nvPr/>
            </p:nvSpPr>
            <p:spPr>
              <a:xfrm>
                <a:off x="9564129" y="0"/>
                <a:ext cx="2627871" cy="6858000"/>
              </a:xfrm>
              <a:prstGeom prst="rect">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D4E9AC1-974E-B47C-39CD-4FED008DA48E}"/>
                  </a:ext>
                </a:extLst>
              </p:cNvPr>
              <p:cNvSpPr txBox="1"/>
              <p:nvPr/>
            </p:nvSpPr>
            <p:spPr>
              <a:xfrm>
                <a:off x="9681072" y="444542"/>
                <a:ext cx="2610089" cy="1862048"/>
              </a:xfrm>
              <a:prstGeom prst="rect">
                <a:avLst/>
              </a:prstGeom>
              <a:noFill/>
            </p:spPr>
            <p:txBody>
              <a:bodyPr wrap="square" rtlCol="0">
                <a:spAutoFit/>
              </a:bodyPr>
              <a:lstStyle/>
              <a:p>
                <a:pPr algn="ctr"/>
                <a:r>
                  <a:rPr lang="en-US" sz="11500" b="1" dirty="0">
                    <a:solidFill>
                      <a:schemeClr val="bg1"/>
                    </a:solidFill>
                    <a:latin typeface="Montserrat Black" pitchFamily="2" charset="77"/>
                  </a:rPr>
                  <a:t>D</a:t>
                </a:r>
                <a:endParaRPr lang="en-US" sz="8000" b="1" dirty="0">
                  <a:solidFill>
                    <a:schemeClr val="bg1"/>
                  </a:solidFill>
                  <a:latin typeface="Montserrat Black" pitchFamily="2" charset="77"/>
                </a:endParaRPr>
              </a:p>
            </p:txBody>
          </p:sp>
          <p:sp>
            <p:nvSpPr>
              <p:cNvPr id="9" name="TextBox 8">
                <a:extLst>
                  <a:ext uri="{FF2B5EF4-FFF2-40B4-BE49-F238E27FC236}">
                    <a16:creationId xmlns:a16="http://schemas.microsoft.com/office/drawing/2014/main" id="{9FC6F3D0-5894-9401-AE9C-7D2738599F7B}"/>
                  </a:ext>
                </a:extLst>
              </p:cNvPr>
              <p:cNvSpPr txBox="1"/>
              <p:nvPr/>
            </p:nvSpPr>
            <p:spPr>
              <a:xfrm>
                <a:off x="9481484" y="2242254"/>
                <a:ext cx="2823530" cy="2677656"/>
              </a:xfrm>
              <a:prstGeom prst="rect">
                <a:avLst/>
              </a:prstGeom>
              <a:noFill/>
            </p:spPr>
            <p:txBody>
              <a:bodyPr wrap="square" rtlCol="0">
                <a:spAutoFit/>
              </a:bodyPr>
              <a:lstStyle/>
              <a:p>
                <a:pPr algn="ctr"/>
                <a:r>
                  <a:rPr lang="en-US" sz="2400" b="1" dirty="0">
                    <a:solidFill>
                      <a:schemeClr val="bg1"/>
                    </a:solidFill>
                    <a:latin typeface="Montserrat" pitchFamily="2" charset="77"/>
                  </a:rPr>
                  <a:t>Final Remarks</a:t>
                </a:r>
              </a:p>
              <a:p>
                <a:pPr algn="ctr"/>
                <a:endParaRPr lang="en-US" sz="1600" dirty="0">
                  <a:solidFill>
                    <a:schemeClr val="bg1"/>
                  </a:solidFill>
                  <a:latin typeface="Montserrat" pitchFamily="2" charset="77"/>
                </a:endParaRPr>
              </a:p>
              <a:p>
                <a:pPr algn="ctr"/>
                <a:endParaRPr lang="en-US" sz="1600" dirty="0">
                  <a:solidFill>
                    <a:schemeClr val="bg1"/>
                  </a:solidFill>
                  <a:latin typeface="Montserrat" pitchFamily="2" charset="77"/>
                </a:endParaRPr>
              </a:p>
              <a:p>
                <a:pPr algn="ctr"/>
                <a:r>
                  <a:rPr lang="en-US" sz="1200" dirty="0">
                    <a:solidFill>
                      <a:schemeClr val="bg1"/>
                    </a:solidFill>
                    <a:latin typeface="Montserrat" pitchFamily="2" charset="77"/>
                  </a:rPr>
                  <a:t>As I have reached the end of this project there are some things I noticed I could have done to improve the final product if given more time to refine it.</a:t>
                </a:r>
              </a:p>
              <a:p>
                <a:pPr algn="ctr"/>
                <a:endParaRPr lang="en-US" b="1" dirty="0">
                  <a:solidFill>
                    <a:schemeClr val="bg1"/>
                  </a:solidFill>
                  <a:latin typeface="Montserrat" pitchFamily="2" charset="77"/>
                </a:endParaRPr>
              </a:p>
              <a:p>
                <a:pPr algn="ctr"/>
                <a:endParaRPr lang="en-US" b="1" dirty="0">
                  <a:solidFill>
                    <a:schemeClr val="bg1"/>
                  </a:solidFill>
                  <a:latin typeface="Montserrat" pitchFamily="2" charset="77"/>
                </a:endParaRPr>
              </a:p>
              <a:p>
                <a:pPr algn="ctr"/>
                <a:endParaRPr lang="en-US" sz="1600" b="1" dirty="0">
                  <a:solidFill>
                    <a:schemeClr val="bg1"/>
                  </a:solidFill>
                  <a:latin typeface="Montserrat" pitchFamily="2" charset="77"/>
                </a:endParaRPr>
              </a:p>
            </p:txBody>
          </p:sp>
        </p:grpSp>
        <p:sp>
          <p:nvSpPr>
            <p:cNvPr id="10" name="Triangle 9">
              <a:extLst>
                <a:ext uri="{FF2B5EF4-FFF2-40B4-BE49-F238E27FC236}">
                  <a16:creationId xmlns:a16="http://schemas.microsoft.com/office/drawing/2014/main" id="{A898233F-8C5E-DBDF-E42E-B074BD9A22C3}"/>
                </a:ext>
              </a:extLst>
            </p:cNvPr>
            <p:cNvSpPr/>
            <p:nvPr/>
          </p:nvSpPr>
          <p:spPr>
            <a:xfrm rot="5400000">
              <a:off x="2932110" y="1124069"/>
              <a:ext cx="1105931" cy="662327"/>
            </a:xfrm>
            <a:prstGeom prst="triangle">
              <a:avLst>
                <a:gd name="adj" fmla="val 49675"/>
              </a:avLst>
            </a:prstGeom>
            <a:solidFill>
              <a:srgbClr val="920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339E25F9-25B8-D10C-3BB7-3664A9C7C2B6}"/>
              </a:ext>
            </a:extLst>
          </p:cNvPr>
          <p:cNvSpPr txBox="1"/>
          <p:nvPr/>
        </p:nvSpPr>
        <p:spPr>
          <a:xfrm>
            <a:off x="3075305" y="258901"/>
            <a:ext cx="4600135" cy="6063198"/>
          </a:xfrm>
          <a:prstGeom prst="rect">
            <a:avLst/>
          </a:prstGeom>
          <a:noFill/>
        </p:spPr>
        <p:txBody>
          <a:bodyPr wrap="square" rtlCol="0">
            <a:spAutoFit/>
          </a:bodyPr>
          <a:lstStyle/>
          <a:p>
            <a:r>
              <a:rPr lang="en-US" dirty="0">
                <a:solidFill>
                  <a:schemeClr val="bg1"/>
                </a:solidFill>
                <a:latin typeface="Montserrat" pitchFamily="2" charset="77"/>
              </a:rPr>
              <a:t>I realized that my current ranking system for the priority of items is flawed. This becomes more apparent when creating a quota that the high priority items will never be able to fulfill for any store due to the limitations of the quantity. To resolve this, I would:</a:t>
            </a:r>
          </a:p>
          <a:p>
            <a:endParaRPr lang="en-US" dirty="0">
              <a:solidFill>
                <a:schemeClr val="bg1"/>
              </a:solidFill>
              <a:latin typeface="Montserrat" pitchFamily="2" charset="77"/>
            </a:endParaRPr>
          </a:p>
          <a:p>
            <a:pPr marL="285750" indent="-285750">
              <a:buFont typeface="Arial" panose="020B0604020202020204" pitchFamily="34" charset="0"/>
              <a:buChar char="•"/>
            </a:pPr>
            <a:r>
              <a:rPr lang="en-US" sz="1600" dirty="0">
                <a:solidFill>
                  <a:schemeClr val="bg1"/>
                </a:solidFill>
                <a:latin typeface="Montserrat" pitchFamily="2" charset="77"/>
              </a:rPr>
              <a:t>Change the definition of high priority items by changing it from the top 25% performing items organization wide to either top 33%, top 40%, or even consider letting a random forest model help with predicting the priority of items based on performance (which personally I'd recommend the most).</a:t>
            </a:r>
          </a:p>
          <a:p>
            <a:pPr marL="285750" indent="-285750">
              <a:buFont typeface="Arial" panose="020B0604020202020204" pitchFamily="34" charset="0"/>
              <a:buChar char="•"/>
            </a:pPr>
            <a:r>
              <a:rPr lang="en-US" sz="1600" dirty="0">
                <a:solidFill>
                  <a:schemeClr val="bg1"/>
                </a:solidFill>
                <a:latin typeface="Montserrat" pitchFamily="2" charset="77"/>
              </a:rPr>
              <a:t>Re calibrate the quotas I have created for all store tiers so that the amount of high priority items offer a more realistic percentage for each, making it more possible to fulfill.</a:t>
            </a:r>
          </a:p>
          <a:p>
            <a:endParaRPr lang="en-US" dirty="0">
              <a:solidFill>
                <a:schemeClr val="bg1"/>
              </a:solidFill>
              <a:latin typeface="Montserrat" pitchFamily="2" charset="77"/>
            </a:endParaRPr>
          </a:p>
        </p:txBody>
      </p:sp>
      <p:sp>
        <p:nvSpPr>
          <p:cNvPr id="3" name="TextBox 2">
            <a:extLst>
              <a:ext uri="{FF2B5EF4-FFF2-40B4-BE49-F238E27FC236}">
                <a16:creationId xmlns:a16="http://schemas.microsoft.com/office/drawing/2014/main" id="{049785EA-EF07-F491-A0B5-6421B7BF8D22}"/>
              </a:ext>
            </a:extLst>
          </p:cNvPr>
          <p:cNvSpPr txBox="1"/>
          <p:nvPr/>
        </p:nvSpPr>
        <p:spPr>
          <a:xfrm>
            <a:off x="7591865" y="412789"/>
            <a:ext cx="4600135" cy="5386090"/>
          </a:xfrm>
          <a:prstGeom prst="rect">
            <a:avLst/>
          </a:prstGeom>
          <a:noFill/>
        </p:spPr>
        <p:txBody>
          <a:bodyPr wrap="square" rtlCol="0">
            <a:spAutoFit/>
          </a:bodyPr>
          <a:lstStyle/>
          <a:p>
            <a:r>
              <a:rPr lang="en-US" dirty="0">
                <a:solidFill>
                  <a:schemeClr val="bg1"/>
                </a:solidFill>
                <a:latin typeface="Montserrat" pitchFamily="2" charset="77"/>
              </a:rPr>
              <a:t>Additional adjustments I would make include:</a:t>
            </a:r>
          </a:p>
          <a:p>
            <a:pPr marL="285750" indent="-285750">
              <a:buFont typeface="Arial" panose="020B0604020202020204" pitchFamily="34" charset="0"/>
              <a:buChar char="•"/>
            </a:pPr>
            <a:endParaRPr lang="en-US" dirty="0">
              <a:solidFill>
                <a:schemeClr val="bg1"/>
              </a:solidFill>
              <a:latin typeface="Montserrat" pitchFamily="2" charset="77"/>
            </a:endParaRPr>
          </a:p>
          <a:p>
            <a:endParaRPr lang="en-US" dirty="0">
              <a:solidFill>
                <a:schemeClr val="bg1"/>
              </a:solidFill>
              <a:latin typeface="Montserrat" pitchFamily="2" charset="77"/>
            </a:endParaRPr>
          </a:p>
          <a:p>
            <a:pPr marL="285750" indent="-285750">
              <a:buFont typeface="Arial" panose="020B0604020202020204" pitchFamily="34" charset="0"/>
              <a:buChar char="•"/>
            </a:pPr>
            <a:r>
              <a:rPr lang="en-US" sz="1600" dirty="0">
                <a:solidFill>
                  <a:schemeClr val="bg1"/>
                </a:solidFill>
                <a:latin typeface="Montserrat" pitchFamily="2" charset="77"/>
              </a:rPr>
              <a:t>Include the quantity of an item I would recommend to each individual store, using the random forest model to assist with predicting the best amount based on SKU limitations</a:t>
            </a:r>
          </a:p>
          <a:p>
            <a:pPr marL="285750" indent="-285750">
              <a:buFont typeface="Arial" panose="020B0604020202020204" pitchFamily="34" charset="0"/>
              <a:buChar char="•"/>
            </a:pPr>
            <a:r>
              <a:rPr lang="en-US" sz="1600" dirty="0">
                <a:solidFill>
                  <a:schemeClr val="bg1"/>
                </a:solidFill>
                <a:latin typeface="Montserrat" pitchFamily="2" charset="77"/>
              </a:rPr>
              <a:t>Adjust the method that the model observes the data from a yearly perspective to a monthly perspective to get a more accurate perspective on inventory fulfillment.</a:t>
            </a:r>
          </a:p>
          <a:p>
            <a:pPr marL="285750" indent="-285750">
              <a:buFont typeface="Arial" panose="020B0604020202020204" pitchFamily="34" charset="0"/>
              <a:buChar char="•"/>
            </a:pPr>
            <a:r>
              <a:rPr lang="en-US" sz="1600" dirty="0">
                <a:solidFill>
                  <a:schemeClr val="bg1"/>
                </a:solidFill>
                <a:latin typeface="Montserrat" pitchFamily="2" charset="77"/>
              </a:rPr>
              <a:t>Possibly even make it so that the random forest model would produce a new recommended list before every inventory fulfillment cycle so that each individual store could determine what it would need in their inventory based on inventory performance.</a:t>
            </a:r>
          </a:p>
        </p:txBody>
      </p:sp>
    </p:spTree>
    <p:extLst>
      <p:ext uri="{BB962C8B-B14F-4D97-AF65-F5344CB8AC3E}">
        <p14:creationId xmlns:p14="http://schemas.microsoft.com/office/powerpoint/2010/main" val="1976319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0F00"/>
        </a:solidFill>
        <a:effectLst/>
      </p:bgPr>
    </p:bg>
    <p:spTree>
      <p:nvGrpSpPr>
        <p:cNvPr id="1" name="">
          <a:extLst>
            <a:ext uri="{FF2B5EF4-FFF2-40B4-BE49-F238E27FC236}">
              <a16:creationId xmlns:a16="http://schemas.microsoft.com/office/drawing/2014/main" id="{226CB30D-1716-1CA4-23DC-9CFB91930D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805E58-D322-4A6C-44BB-F2943A6B71E4}"/>
              </a:ext>
            </a:extLst>
          </p:cNvPr>
          <p:cNvSpPr txBox="1"/>
          <p:nvPr/>
        </p:nvSpPr>
        <p:spPr>
          <a:xfrm>
            <a:off x="3446585" y="633046"/>
            <a:ext cx="5430129" cy="584775"/>
          </a:xfrm>
          <a:prstGeom prst="rect">
            <a:avLst/>
          </a:prstGeom>
          <a:noFill/>
        </p:spPr>
        <p:txBody>
          <a:bodyPr wrap="square" rtlCol="0">
            <a:spAutoFit/>
          </a:bodyPr>
          <a:lstStyle/>
          <a:p>
            <a:pPr algn="ctr"/>
            <a:r>
              <a:rPr lang="en-US" sz="3200" b="1" dirty="0">
                <a:solidFill>
                  <a:schemeClr val="bg1"/>
                </a:solidFill>
                <a:latin typeface="Montserrat Black" pitchFamily="2" charset="77"/>
              </a:rPr>
              <a:t>Acknowledgments</a:t>
            </a:r>
          </a:p>
        </p:txBody>
      </p:sp>
      <p:sp>
        <p:nvSpPr>
          <p:cNvPr id="5" name="TextBox 4">
            <a:extLst>
              <a:ext uri="{FF2B5EF4-FFF2-40B4-BE49-F238E27FC236}">
                <a16:creationId xmlns:a16="http://schemas.microsoft.com/office/drawing/2014/main" id="{FCBE2F3D-74BB-111B-00F2-187397CFF725}"/>
              </a:ext>
            </a:extLst>
          </p:cNvPr>
          <p:cNvSpPr txBox="1"/>
          <p:nvPr/>
        </p:nvSpPr>
        <p:spPr>
          <a:xfrm>
            <a:off x="665871" y="2037470"/>
            <a:ext cx="10911840" cy="286232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Montserrat" pitchFamily="2" charset="77"/>
              </a:rPr>
              <a:t>ABS team for keeping me on track and assisting me every week with understanding the data set they have provided and stopping me from going the wrong direction with my research whenever it was needed</a:t>
            </a:r>
          </a:p>
          <a:p>
            <a:pPr marL="342900" indent="-342900">
              <a:buFont typeface="Arial" panose="020B0604020202020204" pitchFamily="34" charset="0"/>
              <a:buChar char="•"/>
            </a:pPr>
            <a:r>
              <a:rPr lang="en-US" sz="2000" dirty="0">
                <a:solidFill>
                  <a:schemeClr val="bg1"/>
                </a:solidFill>
                <a:latin typeface="Montserrat" pitchFamily="2" charset="77"/>
              </a:rPr>
              <a:t>Data Montgomery team for helping with organizing meetings, and all communication and also helping with finding supplementary data even if we never ended up using it</a:t>
            </a:r>
          </a:p>
          <a:p>
            <a:pPr marL="342900" indent="-342900">
              <a:buFont typeface="Arial" panose="020B0604020202020204" pitchFamily="34" charset="0"/>
              <a:buChar char="•"/>
            </a:pPr>
            <a:r>
              <a:rPr lang="en-US" sz="2000" dirty="0">
                <a:solidFill>
                  <a:schemeClr val="bg1"/>
                </a:solidFill>
                <a:latin typeface="Montserrat" pitchFamily="2" charset="77"/>
              </a:rPr>
              <a:t>Prof. Lori Perine for advising me on how to move forward with my machine learning models </a:t>
            </a:r>
          </a:p>
          <a:p>
            <a:pPr marL="342900" indent="-342900">
              <a:buFont typeface="Arial" panose="020B0604020202020204" pitchFamily="34" charset="0"/>
              <a:buChar char="•"/>
            </a:pPr>
            <a:r>
              <a:rPr lang="en-US" sz="2000" dirty="0">
                <a:solidFill>
                  <a:schemeClr val="bg1"/>
                </a:solidFill>
                <a:latin typeface="Montserrat" pitchFamily="2" charset="77"/>
              </a:rPr>
              <a:t>My fellow teammate Arash as his research also helped sharpen my approach </a:t>
            </a:r>
          </a:p>
        </p:txBody>
      </p:sp>
    </p:spTree>
    <p:extLst>
      <p:ext uri="{BB962C8B-B14F-4D97-AF65-F5344CB8AC3E}">
        <p14:creationId xmlns:p14="http://schemas.microsoft.com/office/powerpoint/2010/main" val="3857028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20F00"/>
        </a:solidFill>
        <a:effectLst/>
      </p:bgPr>
    </p:bg>
    <p:spTree>
      <p:nvGrpSpPr>
        <p:cNvPr id="1" name="">
          <a:extLst>
            <a:ext uri="{FF2B5EF4-FFF2-40B4-BE49-F238E27FC236}">
              <a16:creationId xmlns:a16="http://schemas.microsoft.com/office/drawing/2014/main" id="{64F43A98-D604-20F2-CA7B-E897567CDB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BDF725-4E88-EAEA-7FDD-D52E39811D81}"/>
              </a:ext>
            </a:extLst>
          </p:cNvPr>
          <p:cNvSpPr txBox="1"/>
          <p:nvPr/>
        </p:nvSpPr>
        <p:spPr>
          <a:xfrm>
            <a:off x="3446585" y="633046"/>
            <a:ext cx="5430129" cy="584775"/>
          </a:xfrm>
          <a:prstGeom prst="rect">
            <a:avLst/>
          </a:prstGeom>
          <a:noFill/>
        </p:spPr>
        <p:txBody>
          <a:bodyPr wrap="square" rtlCol="0">
            <a:spAutoFit/>
          </a:bodyPr>
          <a:lstStyle/>
          <a:p>
            <a:pPr algn="ctr"/>
            <a:r>
              <a:rPr lang="en-US" sz="3200" b="1" dirty="0">
                <a:solidFill>
                  <a:schemeClr val="bg1"/>
                </a:solidFill>
                <a:latin typeface="Montserrat Black" pitchFamily="2" charset="77"/>
              </a:rPr>
              <a:t>Link to Research</a:t>
            </a:r>
          </a:p>
        </p:txBody>
      </p:sp>
      <p:sp>
        <p:nvSpPr>
          <p:cNvPr id="5" name="TextBox 4">
            <a:extLst>
              <a:ext uri="{FF2B5EF4-FFF2-40B4-BE49-F238E27FC236}">
                <a16:creationId xmlns:a16="http://schemas.microsoft.com/office/drawing/2014/main" id="{916E3E96-F15E-CB38-9EC4-AA79D406029B}"/>
              </a:ext>
            </a:extLst>
          </p:cNvPr>
          <p:cNvSpPr txBox="1"/>
          <p:nvPr/>
        </p:nvSpPr>
        <p:spPr>
          <a:xfrm>
            <a:off x="640080" y="2065605"/>
            <a:ext cx="10911840" cy="400110"/>
          </a:xfrm>
          <a:prstGeom prst="rect">
            <a:avLst/>
          </a:prstGeom>
          <a:noFill/>
        </p:spPr>
        <p:txBody>
          <a:bodyPr wrap="square" rtlCol="0">
            <a:spAutoFit/>
          </a:bodyPr>
          <a:lstStyle/>
          <a:p>
            <a:pPr algn="ctr"/>
            <a:r>
              <a:rPr lang="en-US" sz="2000" dirty="0">
                <a:solidFill>
                  <a:schemeClr val="bg1"/>
                </a:solidFill>
                <a:latin typeface="Montserrat" pitchFamily="2" charset="77"/>
              </a:rPr>
              <a:t>https://</a:t>
            </a:r>
            <a:r>
              <a:rPr lang="en-US" sz="2000" dirty="0" err="1">
                <a:solidFill>
                  <a:schemeClr val="bg1"/>
                </a:solidFill>
                <a:latin typeface="Montserrat" pitchFamily="2" charset="77"/>
              </a:rPr>
              <a:t>github.com</a:t>
            </a:r>
            <a:r>
              <a:rPr lang="en-US" sz="2000" dirty="0">
                <a:solidFill>
                  <a:schemeClr val="bg1"/>
                </a:solidFill>
                <a:latin typeface="Montserrat" pitchFamily="2" charset="77"/>
              </a:rPr>
              <a:t>/</a:t>
            </a:r>
            <a:r>
              <a:rPr lang="en-US" sz="2000" dirty="0" err="1">
                <a:solidFill>
                  <a:schemeClr val="bg1"/>
                </a:solidFill>
                <a:latin typeface="Montserrat" pitchFamily="2" charset="77"/>
              </a:rPr>
              <a:t>wasraw</a:t>
            </a:r>
            <a:r>
              <a:rPr lang="en-US" sz="2000" dirty="0">
                <a:solidFill>
                  <a:schemeClr val="bg1"/>
                </a:solidFill>
                <a:latin typeface="Montserrat" pitchFamily="2" charset="77"/>
              </a:rPr>
              <a:t>/DATA-205</a:t>
            </a:r>
          </a:p>
        </p:txBody>
      </p:sp>
    </p:spTree>
    <p:extLst>
      <p:ext uri="{BB962C8B-B14F-4D97-AF65-F5344CB8AC3E}">
        <p14:creationId xmlns:p14="http://schemas.microsoft.com/office/powerpoint/2010/main" val="4209210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1223</TotalTime>
  <Words>2633</Words>
  <Application>Microsoft Macintosh PowerPoint</Application>
  <PresentationFormat>Widescreen</PresentationFormat>
  <Paragraphs>221</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Montserrat</vt:lpstr>
      <vt:lpstr>Montserrat Black</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Warsaw, Andre</dc:creator>
  <cp:lastModifiedBy>Warsaw, Andre</cp:lastModifiedBy>
  <cp:revision>3</cp:revision>
  <dcterms:created xsi:type="dcterms:W3CDTF">2025-12-10T01:04:12Z</dcterms:created>
  <dcterms:modified xsi:type="dcterms:W3CDTF">2025-12-10T23:38:12Z</dcterms:modified>
</cp:coreProperties>
</file>